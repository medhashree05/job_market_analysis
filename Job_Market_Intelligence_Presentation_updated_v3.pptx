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3.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81" r:id="rId23"/>
    <p:sldId id="277" r:id="rId24"/>
    <p:sldId id="278" r:id="rId25"/>
    <p:sldId id="279" r:id="rId26"/>
    <p:sldId id="280"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and Task 1" id="{2DD01C28-7D89-77A5-EDD7-187783A5CA13}">
          <p14:sldIdLst>
            <p14:sldId id="256"/>
            <p14:sldId id="257"/>
            <p14:sldId id="258"/>
            <p14:sldId id="259"/>
            <p14:sldId id="260"/>
            <p14:sldId id="261"/>
            <p14:sldId id="262"/>
          </p14:sldIdLst>
        </p14:section>
        <p14:section name="Task 2: Apache Pig" id="{28208B45-ED61-0D22-C1B4-5DD91F0E7E1E}">
          <p14:sldIdLst>
            <p14:sldId id="263"/>
            <p14:sldId id="264"/>
            <p14:sldId id="265"/>
            <p14:sldId id="266"/>
            <p14:sldId id="267"/>
            <p14:sldId id="268"/>
            <p14:sldId id="269"/>
            <p14:sldId id="270"/>
          </p14:sldIdLst>
        </p14:section>
        <p14:section name="Task 3: Hive and Dashboard" id="{D6C5980E-6349-06F5-B1D3-3E62689EA59E}">
          <p14:sldIdLst>
            <p14:sldId id="271"/>
            <p14:sldId id="272"/>
            <p14:sldId id="273"/>
            <p14:sldId id="274"/>
            <p14:sldId id="275"/>
            <p14:sldId id="276"/>
            <p14:sldId id="281"/>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1F3A"/>
                </a:solidFill>
                <a:latin typeface="+mn-lt"/>
              </a:defRPr>
            </a:pPr>
            <a:r>
              <a:rPr lang="sv-SE" sz="1400" b="0" i="0" u="none" strike="noStrike">
                <a:solidFill>
                  <a:srgbClr val="0B1F3A"/>
                </a:solidFill>
                <a:latin typeface="+mn-lt"/>
              </a:rPr>
              <a:t>Skill demand (postings mentioning skill)</a:t>
            </a:r>
          </a:p>
        </c:rich>
      </c:tx>
      <c:overlay val="0"/>
    </c:title>
    <c:autoTitleDeleted val="0"/>
    <c:plotArea>
      <c:layout/>
      <c:barChart>
        <c:barDir val="bar"/>
        <c:grouping val="clustered"/>
        <c:varyColors val="0"/>
        <c:ser>
          <c:idx val="0"/>
          <c:order val="0"/>
          <c:tx>
            <c:strRef>
              <c:f>Sheet1!$B$1</c:f>
              <c:strCache>
                <c:ptCount val="1"/>
                <c:pt idx="0">
                  <c:v>Postings</c:v>
                </c:pt>
              </c:strCache>
            </c:strRef>
          </c:tx>
          <c:spPr>
            <a:solidFill>
              <a:srgbClr val="2F6FDE"/>
            </a:solidFill>
            <a:effectLst/>
          </c:spPr>
          <c:invertIfNegative val="0"/>
          <c:dLbls>
            <c:numFmt formatCode="#,##0" sourceLinked="0"/>
            <c:spPr>
              <a:noFill/>
              <a:ln>
                <a:noFill/>
              </a:ln>
              <a:effectLst/>
            </c:spPr>
            <c:txPr>
              <a:bodyPr/>
              <a:lstStyle/>
              <a:p>
                <a:pPr>
                  <a:defRPr sz="1200" b="0" i="0" u="none" strike="noStrike">
                    <a:solidFill>
                      <a:srgbClr val="1B253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customer service</c:v>
                </c:pt>
                <c:pt idx="1">
                  <c:v>project management</c:v>
                </c:pt>
                <c:pt idx="2">
                  <c:v>python</c:v>
                </c:pt>
                <c:pt idx="3">
                  <c:v>sales</c:v>
                </c:pt>
              </c:strCache>
            </c:strRef>
          </c:cat>
          <c:val>
            <c:numRef>
              <c:f>Sheet1!$B$2:$B$5</c:f>
              <c:numCache>
                <c:formatCode>General</c:formatCode>
                <c:ptCount val="4"/>
                <c:pt idx="0">
                  <c:v>5118</c:v>
                </c:pt>
                <c:pt idx="1">
                  <c:v>5541</c:v>
                </c:pt>
                <c:pt idx="2">
                  <c:v>5841</c:v>
                </c:pt>
                <c:pt idx="3">
                  <c:v>9175</c:v>
                </c:pt>
              </c:numCache>
            </c:numRef>
          </c:val>
          <c:extLst>
            <c:ext xmlns:c16="http://schemas.microsoft.com/office/drawing/2014/chart" uri="{C3380CC4-5D6E-409C-BE32-E72D297353CC}">
              <c16:uniqueId val="{00000000-A061-4568-96F9-5551FA86A5F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title>
          <c:tx>
            <c:rich>
              <a:bodyPr/>
              <a:lstStyle/>
              <a:p>
                <a:pPr>
                  <a:defRPr sz="1100" b="0" i="0" u="none" strike="noStrike">
                    <a:solidFill>
                      <a:srgbClr val="5B6B7F"/>
                    </a:solidFill>
                    <a:latin typeface="+mn-lt"/>
                  </a:defRPr>
                </a:pPr>
                <a:r>
                  <a:rPr lang="en-IN" sz="1100" b="0" i="0" u="none" strike="noStrike">
                    <a:solidFill>
                      <a:srgbClr val="5B6B7F"/>
                    </a:solidFill>
                    <a:latin typeface="+mn-lt"/>
                  </a:rPr>
                  <a:t>Skill</a:t>
                </a:r>
              </a:p>
            </c:rich>
          </c:tx>
          <c:overlay val="0"/>
        </c:title>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535"/>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0"/>
        <c:axPos val="b"/>
        <c:majorGridlines>
          <c:spPr>
            <a:ln w="9525" cap="flat">
              <a:solidFill>
                <a:srgbClr val="D8E0E8"/>
              </a:solidFill>
              <a:prstDash val="solid"/>
              <a:round/>
            </a:ln>
          </c:spPr>
        </c:majorGridlines>
        <c:title>
          <c:tx>
            <c:rich>
              <a:bodyPr/>
              <a:lstStyle/>
              <a:p>
                <a:pPr>
                  <a:defRPr sz="1100" b="0" i="0" u="none" strike="noStrike">
                    <a:solidFill>
                      <a:srgbClr val="5B6B7F"/>
                    </a:solidFill>
                    <a:latin typeface="+mn-lt"/>
                  </a:defRPr>
                </a:pPr>
                <a:r>
                  <a:rPr lang="en-IN" sz="1100" b="0" i="0" u="none" strike="noStrike">
                    <a:solidFill>
                      <a:srgbClr val="5B6B7F"/>
                    </a:solidFill>
                    <a:latin typeface="+mn-lt"/>
                  </a:rPr>
                  <a:t>Postings (count)</a:t>
                </a:r>
              </a:p>
            </c:rich>
          </c:tx>
          <c:overlay val="0"/>
        </c:title>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7F"/>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1F3A"/>
                </a:solidFill>
                <a:latin typeface="+mn-lt"/>
              </a:defRPr>
            </a:pPr>
            <a:r>
              <a:rPr lang="en-IN" sz="1400" b="0" i="0" u="none" strike="noStrike">
                <a:solidFill>
                  <a:srgbClr val="0B1F3A"/>
                </a:solidFill>
                <a:latin typeface="+mn-lt"/>
              </a:rPr>
              <a:t>Location demand (postings)</a:t>
            </a:r>
          </a:p>
        </c:rich>
      </c:tx>
      <c:overlay val="0"/>
    </c:title>
    <c:autoTitleDeleted val="0"/>
    <c:plotArea>
      <c:layout/>
      <c:barChart>
        <c:barDir val="bar"/>
        <c:grouping val="clustered"/>
        <c:varyColors val="0"/>
        <c:ser>
          <c:idx val="0"/>
          <c:order val="0"/>
          <c:tx>
            <c:strRef>
              <c:f>Sheet1!$B$1</c:f>
              <c:strCache>
                <c:ptCount val="1"/>
                <c:pt idx="0">
                  <c:v>Postings</c:v>
                </c:pt>
              </c:strCache>
            </c:strRef>
          </c:tx>
          <c:spPr>
            <a:solidFill>
              <a:srgbClr val="0E9AA7"/>
            </a:solidFill>
            <a:effectLst/>
          </c:spPr>
          <c:invertIfNegative val="0"/>
          <c:dLbls>
            <c:numFmt formatCode="#,##0" sourceLinked="0"/>
            <c:spPr>
              <a:noFill/>
              <a:ln>
                <a:noFill/>
              </a:ln>
              <a:effectLst/>
            </c:spPr>
            <c:txPr>
              <a:bodyPr/>
              <a:lstStyle/>
              <a:p>
                <a:pPr>
                  <a:defRPr sz="1200" b="0" i="0" u="none" strike="noStrike">
                    <a:solidFill>
                      <a:srgbClr val="1B253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mumbai</c:v>
                </c:pt>
                <c:pt idx="1">
                  <c:v>pune</c:v>
                </c:pt>
                <c:pt idx="2">
                  <c:v>hyderabad</c:v>
                </c:pt>
                <c:pt idx="3">
                  <c:v>bengaluru</c:v>
                </c:pt>
              </c:strCache>
            </c:strRef>
          </c:cat>
          <c:val>
            <c:numRef>
              <c:f>Sheet1!$B$2:$B$5</c:f>
              <c:numCache>
                <c:formatCode>General</c:formatCode>
                <c:ptCount val="4"/>
                <c:pt idx="0">
                  <c:v>6477</c:v>
                </c:pt>
                <c:pt idx="1">
                  <c:v>8403</c:v>
                </c:pt>
                <c:pt idx="2">
                  <c:v>10898</c:v>
                </c:pt>
                <c:pt idx="3">
                  <c:v>18310</c:v>
                </c:pt>
              </c:numCache>
            </c:numRef>
          </c:val>
          <c:extLst>
            <c:ext xmlns:c16="http://schemas.microsoft.com/office/drawing/2014/chart" uri="{C3380CC4-5D6E-409C-BE32-E72D297353CC}">
              <c16:uniqueId val="{00000000-5A79-465B-8328-C9815BAE93F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title>
          <c:tx>
            <c:rich>
              <a:bodyPr/>
              <a:lstStyle/>
              <a:p>
                <a:pPr>
                  <a:defRPr sz="1100" b="0" i="0" u="none" strike="noStrike">
                    <a:solidFill>
                      <a:srgbClr val="5B6B7F"/>
                    </a:solidFill>
                    <a:latin typeface="+mn-lt"/>
                  </a:defRPr>
                </a:pPr>
                <a:r>
                  <a:rPr lang="en-IN" sz="1100" b="0" i="0" u="none" strike="noStrike">
                    <a:solidFill>
                      <a:srgbClr val="5B6B7F"/>
                    </a:solidFill>
                    <a:latin typeface="+mn-lt"/>
                  </a:rPr>
                  <a:t>Location</a:t>
                </a:r>
              </a:p>
            </c:rich>
          </c:tx>
          <c:overlay val="0"/>
        </c:title>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535"/>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0"/>
        <c:axPos val="b"/>
        <c:majorGridlines>
          <c:spPr>
            <a:ln w="9525" cap="flat">
              <a:solidFill>
                <a:srgbClr val="D8E0E8"/>
              </a:solidFill>
              <a:prstDash val="solid"/>
              <a:round/>
            </a:ln>
          </c:spPr>
        </c:majorGridlines>
        <c:title>
          <c:tx>
            <c:rich>
              <a:bodyPr/>
              <a:lstStyle/>
              <a:p>
                <a:pPr>
                  <a:defRPr sz="1100" b="0" i="0" u="none" strike="noStrike">
                    <a:solidFill>
                      <a:srgbClr val="5B6B7F"/>
                    </a:solidFill>
                    <a:latin typeface="+mn-lt"/>
                  </a:defRPr>
                </a:pPr>
                <a:r>
                  <a:rPr lang="en-IN" sz="1100" b="0" i="0" u="none" strike="noStrike">
                    <a:solidFill>
                      <a:srgbClr val="5B6B7F"/>
                    </a:solidFill>
                    <a:latin typeface="+mn-lt"/>
                  </a:rPr>
                  <a:t>Postings (count)</a:t>
                </a:r>
              </a:p>
            </c:rich>
          </c:tx>
          <c:overlay val="0"/>
        </c:title>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7F"/>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1F3A"/>
                </a:solidFill>
                <a:latin typeface="+mn-lt"/>
              </a:defRPr>
            </a:pPr>
            <a:r>
              <a:rPr lang="en-US" sz="1300" b="0" i="0" u="none" strike="noStrike">
                <a:solidFill>
                  <a:srgbClr val="0B1F3A"/>
                </a:solidFill>
                <a:latin typeface="+mn-lt"/>
              </a:rPr>
              <a:t>Share of postings by recency bucket (%)</a:t>
            </a:r>
          </a:p>
        </c:rich>
      </c:tx>
      <c:overlay val="0"/>
    </c:title>
    <c:autoTitleDeleted val="0"/>
    <c:plotArea>
      <c:layout/>
      <c:barChart>
        <c:barDir val="col"/>
        <c:grouping val="clustered"/>
        <c:varyColors val="0"/>
        <c:ser>
          <c:idx val="0"/>
          <c:order val="0"/>
          <c:tx>
            <c:strRef>
              <c:f>Sheet1!$B$1</c:f>
              <c:strCache>
                <c:ptCount val="1"/>
                <c:pt idx="0">
                  <c:v>Share of postings (%)</c:v>
                </c:pt>
              </c:strCache>
            </c:strRef>
          </c:tx>
          <c:spPr>
            <a:solidFill>
              <a:srgbClr val="0E9AA7"/>
            </a:solidFill>
            <a:effectLst/>
          </c:spPr>
          <c:invertIfNegative val="0"/>
          <c:dLbls>
            <c:numFmt formatCode="0.0&quot;%&quot;" sourceLinked="0"/>
            <c:spPr>
              <a:noFill/>
              <a:ln>
                <a:noFill/>
              </a:ln>
              <a:effectLst/>
            </c:spPr>
            <c:txPr>
              <a:bodyPr/>
              <a:lstStyle/>
              <a:p>
                <a:pPr>
                  <a:defRPr sz="1200" b="0" i="0" u="none" strike="noStrike">
                    <a:solidFill>
                      <a:srgbClr val="1B253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1-7 days</c:v>
                </c:pt>
                <c:pt idx="1">
                  <c:v>Unknown</c:v>
                </c:pt>
                <c:pt idx="2">
                  <c:v>&lt; 1 day</c:v>
                </c:pt>
                <c:pt idx="3">
                  <c:v>&gt; 30 days</c:v>
                </c:pt>
              </c:strCache>
            </c:strRef>
          </c:cat>
          <c:val>
            <c:numRef>
              <c:f>Sheet1!$B$2:$B$5</c:f>
              <c:numCache>
                <c:formatCode>General</c:formatCode>
                <c:ptCount val="4"/>
                <c:pt idx="0">
                  <c:v>88.1</c:v>
                </c:pt>
                <c:pt idx="1">
                  <c:v>8.5</c:v>
                </c:pt>
                <c:pt idx="2">
                  <c:v>2.8</c:v>
                </c:pt>
                <c:pt idx="3">
                  <c:v>0.6</c:v>
                </c:pt>
              </c:numCache>
            </c:numRef>
          </c:val>
          <c:extLst>
            <c:ext xmlns:c16="http://schemas.microsoft.com/office/drawing/2014/chart" uri="{C3380CC4-5D6E-409C-BE32-E72D297353CC}">
              <c16:uniqueId val="{00000000-4A77-4BCE-B88D-1280A6F9E80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title>
          <c:tx>
            <c:rich>
              <a:bodyPr/>
              <a:lstStyle/>
              <a:p>
                <a:pPr>
                  <a:defRPr sz="1100" b="0" i="0" u="none" strike="noStrike">
                    <a:solidFill>
                      <a:srgbClr val="5B6B7F"/>
                    </a:solidFill>
                    <a:latin typeface="+mn-lt"/>
                  </a:defRPr>
                </a:pPr>
                <a:r>
                  <a:rPr lang="en-IN" sz="1100" b="0" i="0" u="none" strike="noStrike">
                    <a:solidFill>
                      <a:srgbClr val="5B6B7F"/>
                    </a:solidFill>
                    <a:latin typeface="+mn-lt"/>
                  </a:rPr>
                  <a:t>posted_raw recency category</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535"/>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D8E0E8"/>
              </a:solidFill>
              <a:prstDash val="solid"/>
              <a:round/>
            </a:ln>
          </c:spPr>
        </c:majorGridlines>
        <c:title>
          <c:tx>
            <c:rich>
              <a:bodyPr/>
              <a:lstStyle/>
              <a:p>
                <a:pPr>
                  <a:defRPr sz="1100" b="0" i="0" u="none" strike="noStrike">
                    <a:solidFill>
                      <a:srgbClr val="5B6B7F"/>
                    </a:solidFill>
                    <a:latin typeface="+mn-lt"/>
                  </a:defRPr>
                </a:pPr>
                <a:r>
                  <a:rPr lang="en-IN" sz="1100" b="0" i="0" u="none" strike="noStrike">
                    <a:solidFill>
                      <a:srgbClr val="5B6B7F"/>
                    </a:solidFill>
                    <a:latin typeface="+mn-lt"/>
                  </a:rPr>
                  <a:t>Share of postings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F"/>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5523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[Presenter 1] Good morning. We are [Presenter 1], [Presenter 2] and [Presenter 3], and our Big Data Analytics project is called Job Market Intelligence and Emerging Skill Demand Analysis. We took about 97,900 Indian job postings from the Indian Job Market Dataset 2025 and built a four-stage pipeline: HDFS for storage, Apache Pig for transformation, Apache Hive for SQL-style analytics, and a Streamlit dashboard to present the results. I will cover the problem, the dataset, the architecture and the HDFS ingestion stage. [Presenter 2] will explain the Pig transformations, and [Presenter 3] will cover Hive, the insights, the dashboard and our conclusions.
TECHNICAL EXPLANATION
HDFS (Hadoop Distributed File System) stores large files across machines in blocks. Pig is a data-flow language for transforming data. Hive puts tables and SQL-like queries (HiveQL) over files in HDFS. Streamlit is a Python framework for interactive web dashboards; Plotly draws the charts. Fill in the college and course placeholders on this slide before presenting.
KEY TAKEAWAY
One raw spreadsheet goes in; filterable job-market insight comes out, through four clearly separated stages.
TRANSITION
Let me start with why this data is hard to use in the first place.
LIKELY FACULTY QUESTION
Q: Why not simply use Pandas for everything?
A: This dataset is small enough to fit in memory, and our dashboard does use Pandas for interactive filtering. The pipeline is designed to show the scalable pattern: storage in HDFS, transformations in Pig and queries in Hive, which keep working when the data grows beyond one machine's memory.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Raw job-posting data looks simple, but it is not analysis-ready. The same job title can be written many ways, and the same city can appear with different spacing or capitalisation. All the skills for a job are stored in one text field, separated by commas, so you cannot count skills directly. Salary is often missing, or stored in different currencies. There are duplicate and incomplete records. Because of all this, simple questions, like which skill is in the most postings or which city hires the most, give wrong answers if you just count the raw rows. Our answer is a repeatable pipeline that cleans, transforms, aggregates and then visualises the data.
TECHNICAL EXPLANATION
Each problem maps to a pipeline stage: duplicates and invalid records are handled in Task 1; case, whitespace and the skills field are handled in Pig (Task 2); salary statistics and structured queries are handled in Hive (Task 3); the dashboard exposes the results (Task 4).
KEY TAKEAWAY
The value of the project is in turning messy free-text postings into trustworthy, countable data.
TRANSITION
Next, the objectives and what we claim, and do not claim, about the data.
LIKELY FACULTY QUESTION
Q: Which of these problems is the hardest?
A: The multi-valued skills field, because one text cell has to become many clean job-skill records, and the same skill must be counted once per posting. That is why we use tokenising and DISTINCT in Pig.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Our objectives are on the left: process about 97,900 postings, clean and validate them, normalise the records, measure demand by skill, role and location, analyse salary only where it is disclosed, and present all of it interactively. On the right, we are explicit about scope. The data supports rankings of skills, roles and locations, disclosed-salary statistics and experience breakdowns. It does not support a year-over-year growth claim, because the dataset has no reliable absolute posting date. We will return to this on the trend slide.
TECHNICAL EXPLANATION
Supported analyses use total postings per skill, role and location. Unsupported: a 2024 to 2026 trend line, or calling a skill emerging from popularity alone. Popularity is how many postings mention a skill; growth needs comparable dated periods.
KEY TAKEAWAY
We answer what is in demand now in this dataset, not what grew over the years.
TRANSITION
Let us look at the dataset itself.
LIKELY FACULTY QUESTION
Q: Why not show a growth chart anyway?
A: Because posted_raw contains relative text such as 6 Days Ago, so there is no calendar timeline. A growth chart would be invented, not measured.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The dataset is the Indian Job Market Dataset 2025, about 97,900 postings with 17 raw fields. Instead of reading all 17, here are the important groups: identity fields such as job_id and job_title; company and location; compensation fields, which are currency, minimum, maximum and average salary; experience as raw text; the skills field, which holds comma-separated skills; and posted_raw. Note posted_raw carefully: it holds relative text like 6 Days Ago or Just Now, not a full date. That single fact limits what time-based analysis we can honestly do.
TECHNICAL EXPLANATION
Salary fields can be empty (undisclosed). In dashboard figures, 33,128 of 97,715 postings have a disclosed salary. The other six raw fields are listed in task1_hdfs/README.md; add their names here if the panel asks. The exact cleaned row count differs slightly between views (see the verification list).
KEY TAKEAWAY
The skills field is multi-valued and posted_raw is relative; both shape every later stage.
TRANSITION
With the data understood, here is how the whole system fits together.
LIKELY FACULTY QUESTION
Q: Why does experience stay as raw text?
A: The raw text, such as a range of years, is parsed during cleaning and grouped into experience buckets for the dashboard, so entry, mid and senior roles can be compared.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This is the whole pipeline. The raw Excel file is converted and cleaned in Python, and the cleaned CSV is loaded into HDFS at /jobmarket/cleaned/jobs_cleaned.csv. That is my part, and it is the shared input for everything else. Apache Pig reads that file and writes seven processed datasets under /jobmarket/processed. They are grouped here by purpose: record-level data, demand counts, and salary and time data. Hive builds tables over those outputs, and the Streamlit and Plotly dashboard presents the results to end users. Colours show which presenter covers which stage.
TECHNICAL EXPLANATION
Paths: /jobmarket/cleaned/jobs_cleaned.csv; processed/jobs, skills, skills_demand, location, salary, salary_location, time_based. Each stage reads the previous stage's output from HDFS, so stages can be re-run independently.
KEY TAKEAWAY
Every stage reads and writes HDFS, so each one is repeatable and independent.
TRANSITION
Let me zoom into the first stage: ingestion and cleaning.
LIKELY FACULTY QUESTION
Q: Why store intermediate results back in HDFS?
A: It decouples the stages. Pig can be re-run without redoing cleaning, and Hive can be rebuilt without re-running Pig.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Task 1 has six steps. First we convert the Excel source into CSV, because Hadoop tools read text formats easily. Second, we validate the schema and records. Third, we apply the cleaning rules: remove duplicate or invalid records, check for missing fields, and sanity-check salary and experience values. Then we load the cleaned file into HDFS and finally verify that it landed correctly. The four scripts on the right, numbered 01 to 04, map to those steps. After cleaning we have a validated file at /jobmarket/cleaned/jobs_cleaned.csv ready for Pig.
TECHNICAL EXPLANATION
Scripts: 01_convert_xlsx_to_csv.py, 02_clean_data.py, 03_hdfs_load.sh, 04_verify_hdfs.sh. HDFS must be running (start-dfs.sh, check with jps). Only describe validations that exist in 02_clean_data.py; see task1_hdfs/README.md for the exact cleaning decisions. The before/after counts are shown as raw to cleaned; confirm the exact cleaned count before presenting.
KEY TAKEAWAY
Pig receives a validated, de-duplicated CSV, not raw spreadsheet noise.
TRANSITION
That cleaned file now lives in HDFS, so let me explain what HDFS does.
LIKELY FACULTY QUESTION
Q: What happens to records you remove?
A: Duplicates and invalid rows are dropped from the cleaned output only; the original Excel file is untouched, so the process is repeatable.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HDFS is Hadoop's distributed file system. A big file is split into blocks, and the blocks are stored across several DataNodes. A single NameNode keeps the metadata: which file has which blocks and where they live. This matters because storage and processing can scale out across machines and blocks can be replicated for fault tolerance. The diagram is a conceptual architecture. Our project runs it on a local Hadoop setup under WSL. The key point for our pipeline is that HDFS stores the cleaned dataset, and Pig will read it as shared input. HDFS stores; Pig transforms. [Presenter 2] will take it from here.
TECHNICAL EXPLANATION
NameNode: namespace and block map. DataNode: stores block data and reports to the NameNode. Replication provides fault tolerance when more than one DataNode exists. We label the diagram conceptual because we did not document a multi-node cluster configuration.
KEY TAKEAWAY
HDFS gives the pipeline a shared, durable place to read and write data.
TRANSITION
[Presenter 2], over to you for the Pig transformations.
LIKELY FACULTY QUESTION
Q: Is your cluster really distributed?
A: The pipeline runs on a local WSL Hadoop installation. The code and paths work the same way on a cluster; the diagram shows the architecture concept rather than our hardware.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[Presenter 2] Thank you. Task 2 is the large-scale transformation stage. Our objective is to convert the cleaned postings into normalised, analysis-ready datasets. The input is the single cleaned CSV in HDFS. The output is seven processed directories under /jobmarket/processed. In the next slides I will walk through how the Pig script loads data, normalises text, splits skills, aggregates and writes outputs.
TECHNICAL EXPLANATION
Script: task2_pig/scripts/task2_jobmarket.pig, run by run_task2_pig.sh. Input: /jobmarket/cleaned/jobs_cleaned.csv. Outputs: jobs, skills, skills_demand, location, salary, salary_location, time_based.
KEY TAKEAWAY
One cleaned file in, seven analysis-ready datasets out.
TRANSITION
First, why we chose Pig for this.
LIKELY FACULTY QUESTION
Q: Is Pig still used in industry?
A: It is less common than Spark today, but it is still part of the Hadoop ecosystem and is a clear way to teach and express multi-step data-flow transformations.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Pig Latin is a data-flow language: you describe the pipeline as a series of steps, each producing a named relation. The main operators we use are LOAD, FILTER, FOREACH with GENERATE, GROUP, DISTINCT and STORE. Pig compiles the script into jobs that run on Hadoop's processing infrastructure. Compared to hand-writing a MapReduce program, where each step needs mapper and reducer classes, Pig expresses the same idea in a few readable lines. For a workload like ours, which is load, clean, split, group and count, that is a natural fit.
TECHNICAL EXPLANATION
FILTER keeps rows meeting a condition. FOREACH...GENERATE projects or computes new fields. GROUP collects rows by key into bags. DISTINCT removes duplicates. STORE writes a relation to HDFS. Aggregation means combining many rows into summary values such as counts.
KEY TAKEAWAY
Pig lets us write the transformation as a readable data flow rather than low-level MapReduce code.
TRANSITION
Let us see how the script begins.
LIKELY FACULTY QUESTION
Q: Why Pig and not Hive for transformations?
A: Pig is better suited to multi-step procedural cleaning flows, such as splitting and flattening skills. Hive is then used for structured tables and SQL analytics on the results.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The script starts by loading the cleaned CSV from HDFS using Piggybank's CSVExcelStorage, which handles quoted CSV fields properly. We declare the schema explicitly: all 17 fields with names and types. Then, since the CSV has a header row, we filter it out by removing the row whose job_id equals the text job_id. Explicit schema matters because every later operation, like LOWER on job_title or grouping by location, refers to fields by name and type. Without it, Pig would use positional fields and the script would be fragile.
TECHNICAL EXPLANATION
The excerpt is simplified; the full script declares all 17 fields. Verify the exact REGISTER and storage arguments against task2_pig/scripts/task2_jobmarket.pig before presenting. All fields are loaded as chararray and cast where needed.
KEY TAKEAWAY
An explicit schema and header filter make the rest of the script reliable.
TRANSITION
With clean records loaded, the next step is normalising text.
LIKELY FACULTY QUESTION
Q: What happens if the header is not removed?
A: It becomes a data row, so a posting would appear with job_id equal to job_id, and counts would include a fake record.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Normalisation makes sure equal values are treated as equal. We apply TRIM to remove leading and trailing spaces and LOWER to make everything lowercase. So " Application Developer " becomes application developer, and " BENGALURU " becomes bengaluru. Then grouping works: all three spellings of the same title fall in one group instead of three. It is important to say what this does not do. It does not map different names of the same city or role to one canonical name. That would need a lookup table, and we list it as future work.
TECHNICAL EXPLANATION
FOREACH jobs GENERATE ... LOWER(TRIM(job_title)) AS job_title, LOWER(TRIM(location)) AS location. Normalisation affects grouping keys, so the same function is used in every later group-by.
KEY TAKEAWAY
Case and whitespace are standardised; semantic aliases are not.
TRANSITION
Next, the most important transformation: the skills field.
LIKELY FACULTY QUESTION
Q: Does lowercasing lose information?
A: No analytical information is lost for counting. It only removes formatting differences that would split one group into several.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This is the core Pig transformation. A posting's skills are one comma-separated string. TOKENIZE splits it into individual skills, FLATTEN turns that bag into one row per skill, then we TRIM and LOWER each one, filter empty strings, and apply DISTINCT. The example shown is illustrative: Python, SQL, Python, Excel becomes python, sql and excel. Python was written twice, but it appears once. That is the point of DISTINCT on job and skill: repeated mentions inside one posting must not inflate that skill's count.
TECHNICAL EXPLANATION
The result is a job-skill relation with one row per (job_id, skill). Verify the delimiter handling in the actual script: multi-word skills like project management are preserved in the outputs, so the split must be on commas and not on spaces.
KEY TAKEAWAY
One posting contributes at most one count to each skill.
TRANSITION
Now that skills are individual records, we can group and count.
LIKELY FACULTY QUESTION
Q: Why DISTINCT after normalisation and not before?
A: Because Python and python are different strings before normalising. Normalise first, then deduplicate, otherwise duplicates survive.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With clean records we can aggregate. Aggregation here means GROUP BY a key and COUNT. We group the job-skill records by skill and count postings to get skill demand. We group jobs by normalised location and count postings to get location demand, and similar grouping gives role counts. The charts show examples from the project outputs: sales appears in 9,175 postings, python in 5,841, project management in 5,541 and customer service in 5,118. For locations, Bengaluru has 18,310 postings, then Hyderabad 10,898, Pune 8,403 and Mumbai 6,477. These are counts of postings in this dataset, not market-wide totals.
TECHNICAL EXPLANATION
Skill demand: GROUP job_skills BY skill; FOREACH ... GENERATE group, COUNT(job_skills). Counting distinct job-skill rows means each posting counts once per skill. Values are taken from the project's aggregate outputs and dashboard; do not mix them with figures computed under different filters.
KEY TAKEAWAY
Pig turns millions of text tokens into small, countable demand tables.
TRANSITION
Salary and recency are the two other branches of the script.
LIKELY FACULTY QUESTION
Q: Why are the skill counts larger than the posting count?
A: Because one posting lists several skills. Each posting counts once for every skill it mentions, so skill counts add up to more than the number of postings.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The Pig script has two more branches. In the salary branch we keep only postings with a disclosed, valid salary, then group by job role and currency and compute the job count, minimum, maximum and mean. A second grouping does the same by location and currency. Currency is part of the key, so INR and USD are never averaged together, and missing salary is excluded, not treated as zero. In the recency branch we process posted_raw and count postings per recency category, producing the time-based output. These are recency categories such as days ago, not calendar dates, so we never present them as a calendar trend.
TECHNICAL EXPLANATION
Outputs: /jobmarket/processed/salary/, salary_location/, time_based/. Salary metrics: COUNT, MIN, MAX, AVG over avg_salary within each group. Verify the exact salary validity filter in the script.
KEY TAKEAWAY
Salary statistics are currency-aware and exclude missing values; recency is categorical, not chronological.
TRANSITION
Let me summarise everything the script writes and how it feeds Hive.
LIKELY FACULTY QUESTION
Q: Why group salary by role and currency, not role alone?
A: An average of INR and USD values has no meaning, so currency must be part of the key.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This table summarises the seven outputs. jobs holds the normalised posting records. skills holds the job-skill pairs. skills_demand is the count of postings per skill. location is postings per location. salary and salary_location hold the salary statistics, and time_based holds recency counts. Every dataset is written to HDFS under /jobmarket/processed, and Hive in Task 3 builds structured tables over them. So the flow is: Pig script, then HDFS processed datasets, then Hive tables. [Presenter 3], over to you.
TECHNICAL EXPLANATION
STORE writes each relation as part files in a directory, which Hive tables can point at. The time_based dashboard export has period, skill and postings columns; the Hive time_based table has recency bucket and job count. Confirm which is shown.
KEY TAKEAWAY
Pig prepares data; Hive makes it queryable.
TRANSITION
[Presenter 3], please take us through Hive.
LIKELY FACULTY QUESTION
Q: How do you know the Pig output is correct?
A: We compare Pig aggregates with the dashboard and Hive counts, for example the top skill and top location counts, and check the cleaned input row count.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[Presenter 3] Thank you. Pig prepares the data, and Hive makes the processed outputs available through structured tables and SQL-style queries. Hive is a data-warehouse layer on top of Hadoop: it stores table definitions, called metadata, while the data stays in HDFS files. We ran Apache Hive 3.1.3 on Hadoop 3.3.6 under WSL 2, in a schema called jobmarket, so we can ask questions in HiveQL without writing Pig or Java code each time.
TECHNICAL EXPLANATION
Hive tables are defined over HDFS directories. Queries compile to MapReduce jobs on Hadoop. Queries are run with hive -e, hive -S -e or the interactive hive shell. Schema metadata lives in the Hive metastore.
KEY TAKEAWAY
Pig prepares; Hive asks questions.
TRANSITION
Let us look at how the tables are organised.
LIKELY FACULTY QUESTION
Q: Is Hive a database?
A: Not in the traditional sense. It is a SQL layer and metadata catalogue over files in HDFS.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The left column shows the Pig outputs as files in HDFS, and the right column shows the Hive tables built on them. jobs maps to the jobs output, job_skills to the skills output, job_locations to the location output, job_salary to salary, salary_by_location to salary_location, and skills_demand and time_based to their own outputs. skill_trends is derived in Hive; it has 44,021 rows, and every row carries period equal to unknown, which we explain on the trends slide. The important distinction: the data stays as files in HDFS, while Hive adds a table definition on top, in the jobmarket schema.
TECHNICAL EXPLANATION
Engine: Apache Hive 3.1.3 executing via MapReduce on Hadoop 3.3.6, running on WSL 2 Ubuntu (host bigdata-lab). Queries are issued with hive -e, hive -S -e or the interactive hive shell.
KEY TAKEAWAY
Hive tables are structured views over the Pig outputs.
TRANSITION
With the tables in place, we can run the analytical queries.
LIKELY FACULTY QUESTION
Q: Does dropping an external table delete the data?
A: No. For an external table, only the metadata is dropped and the HDFS files remain.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This table lists the seven analyses we ran in Hive, with the query logic and the headline result for each. Top roles: GROUP BY job title, ordered by count. Skill demand: lower-case and trim each skill, then COUNT DISTINCT job_id so a skill counts once per posting. Locations: ordered by the job count cast to an integer. Salary by role: cast salary to double, keep positive values with a currency, and require at least five postings per group. We also looked at skill-role pairs, posting recency, and the skill_trends table. On the right are two of the actual queries: skill demand and the top ten locations.
TECHNICAL EXPLANATION
The salary query is shown on the next-but-one slide. HAVING COUNT(*) &gt;= 5 removes groups with very few postings. All queries are issued through hive -e or the interactive shell, and run as MapReduce jobs on Hadoop. Results are exported as files for the dashboard.
KEY TAKEAWAY
Plain SQL-style queries turn the processed data into ranked, comparable results.
TRANSITION
Let us look at the strongest findings.
LIKELY FACULTY QUESTION
Q: Why use COUNT DISTINCT for skills?
A: So that a skill repeated within one posting is counted once.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These are the Hive results. Sales is the most requested skill, in 9,178 postings, followed by python with 5,846 and project management with 5,544. Each skill is counted once per posting, so this is how many postings ask for a skill, not how often it is repeated. Application developer is the most advertised role with 2,033 postings, then application lead with 1,346. Bengaluru leads hiring with 18,320 postings, about 1.7 times Hyderabad, which has 10,899. The top three cities together hold 37,624 postings. These describe this dataset and our processing, not the whole Indian job market, and we do not claim causes.
TECHNICAL EXPLANATION
Source tables: job_skills (COUNT DISTINCT job_id), jobs (GROUP BY job_title), job_locations (ordered by CAST job_count AS INT). Counts come from the Hive query results in the report. They can differ by a few postings from the Pig-stage aggregates and the dashboard, because those views apply their own filters.
KEY TAKEAWAY
Sales, application development and Bengaluru lead this dataset.
TRANSITION
Next, salary benchmarks.
LIKELY FACULTY QUESTION
Q: Why is sales both a top skill and a job role?
A: Sales appears as a skill across many postings and roles, whereas role counts group by job title, so they are different measures.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For salary we only use postings with a disclosed, valid salary: the average must be positive and a currency must be present. We group by job title and currency and require at least five postings per group, so averages are not based on one or two jobs. For each role we show the mean and the median. Medical specialisations lead on pay, for example medical oncologist consultant at about 7.85 million rupees on average, and among technology roles lead data engineer, data architect and solution architect lead, with solution architect backed by 59 postings. Pairing the mean with the median flags distortion straight away. Deputy manager has a mean of 9.75 million, but that comes from a single 82.5 million posting against an 85,000 minimum; the median shows the typical benchmark is only 700,000. By contrast, radiologist consultant has a mean of 5.29 million and a median of 5.31 million, and solution architect 2.47 million against 2.37 million, so their pay is evenly spread and the mean is trustworthy.
TECHNICAL EXPLANATION
Query: CAST avg_salary to DOUBLE, keep values above zero with a currency present, GROUP BY job_title and currency, HAVING COUNT(*) &gt;= 5, ORDER BY average salary descending, LIMIT 20. The mean is ROUND(AVG(...), 2) and the median is ROUND(percentile_approx(..., 0.5), 2); percentile_approx is an approximate percentile in Hive, so medians can differ slightly from an exact calculation. The query also returns minimum and maximum salary per role. Currency is part of the key, so INR and USD are never averaged together; the roles shown are all in INR.
KEY TAKEAWAY
Salary benchmarks are currency-aware, exclude missing values, and are read as mean plus median because a single outlier can distort the mean.
TRANSITION
Finally, what Hive can and cannot tell us about time.
LIKELY FACULTY QUESTION
Q: Why report the median as well as the mean?
A: Salary data has outliers, so the mean is pulled upward. For deputy manager one 82.5 million posting lifts the mean to 9.75 million while the median is 700,000.</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This slide is where we are honest about the data. On the left, the Hive time_based table shows that 88.1 percent of postings are 1 to 7 days old, 8.5 percent have no age string, 2.8 percent are under a day old and only 0.6 percent are older than 30 days. So the scrape is a snapshot of the active market, not an archive. In the middle: growth needs an absolute posting date, several periods, and a previous-period count, and Phase I has none of them, so the skill_trends table, with 44,021 rows, has period equal to unknown on every row. That is a data problem, not a query problem. On the right is how Phase II removes it: 10,000 LinkedIn postings from January to June 2024 across 100 skills. HiveQL uses LAG over each skill ordered by month to get the previous month, then computes growth and the volume-aware SDVI, giving 567 skill-month records. For June 2024 the quadrants hold 26 emerging, 9 established growth, 26 stable core and 32 declining skills.
TECHNICAL EXPLANATION
growth_rate = (Mentions[t] - Mentions[t-1]) / Mentions[t-1]; SDVI = growth_rate x ln(1 + Mentions[t]). The log term dampens low-volume noise: 2 to 4 mentions is +100 percent but gives SDVI 1.61, while 100 to 150 mentions is +50 percent and gives SDVI 2.51. Phase II used external partitioned Hive tables over six monthly HDFS directories, recovered with MSCK REPAIR TABLE (1,666 to 1,667 jobs per partition). The remedy for the Indian data is to stamp every scrape with a scrape_date, collect weekly into dated HDFS directories and partition the Hive warehouse by month.
KEY TAKEAWAY
Popular is not the same as growing: the Indian dataset proves popularity, and dated data is needed to prove growth.
TRANSITION
The Phase II results are served through a web dashboard, so let me show that.
LIKELY FACULTY QUESTION
Q: Could you estimate growth from the recency buckets?
A: No. Almost all postings are in one recent bucket, so there are no comparable periods to compute a change.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The last Hive step exports the SDVI results as JSON, and this web dashboard, index.html, reads them. The header shows the formula, SDVI equals growth rate times the natural log of one plus mentions, and a timeline selector for January to June 2024. The four KPI cards count skills per quadrant for the chosen month: for June 2024, 26 emerging, 9 established growth, 26 stable core and 32 declining. The quadrant matrix plots log mentions against SDVI for all 93 skills active that month, coloured by quadrant. The leaderboard ranks the top skills by SDVI: Visual Basic, AngularJS, Hadoop, Bash and Oracle. There is also a radar view where each skill is a pulsing node sized by SDVI, and a trend analyzer where you type a skill such as Hadoop, Python or Snowflake and see its six-month trajectory. One caution: Visual Basic and AngularJS lead on only 6 and 3 mentions, so they are early, low-confidence signals, not proven trends.
TECHNICAL EXPLANATION
The page embeds the 567 SDVI records exported by sdvi_query.hql (skill, month, mentions, growth_rate, sdvi, quadrant) and draws the charts in the browser with Chart.js, so it needs no server. The pipeline shown in its footer is HDFS, Pig Latin, Hive data warehouse, HiveQL window SDVI, JSON export. The slide is a native drawing of the layout using the real June data, not a screenshot; replace it with a screenshot of the running page if you prefer.
KEY TAKEAWAY
Hive's windowed query output becomes an interactive view of which skills are emerging, established, stable or declining.
TRANSITION
That was the Phase II view of the Hive output. Next, the Streamlit dashboard for the Phase I pipeline results.
LIKELY FACULTY QUESTION
Q: Where do the dashboard numbers come from?
A: From the Hive SDVI query. LAG over each skill gives last month's mentions, growth and SDVI are computed from that, and the 567 results are exported to JSON and embedded in the page.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The dashboard is the presentation layer. Data comes either from Hive and Pig exports in dashboard/data, or from the raw dataset through an adapter that applies the same cleaning rules. data_loader.py loads and caches the data, analytics.py computes the metrics, charts.py builds the Plotly figures, and app.py is the Streamlit interface where the user applies filters and sees results. An important point: the dashboard can run without Hadoop, Pig or Hive running, as long as the input files exist locally. And not every metric is computed by Hive, because interactive filtering and some aggregations run in Python with Pandas. The active data source is always shown in the interface.
TECHNICAL EXPLANATION
The data source caption on the page reads: Hive/Pig exports from dashboard/data, with interactive filtering and some aggregations computed in Python. Run with: streamlit run app.py, open http://localhost:8501.
KEY TAKEAWAY
The dashboard is a standalone presentation layer over the pipeline's results.
TRANSITION
Let us see the dashboard pages.
LIKELY FACULTY QUESTION
Q: If it runs without Hadoop, how is it part of the pipeline?
A: It consumes the pipeline's exported outputs. The pipeline produces the data, and the dashboard lets stakeholders explore it without touching Hadoop.</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There are seven pages: Executive Overview, Skill Demand Intelligence, Salary Analytics, Location and Hiring, Experience and Job Roles, Emerging Skill Trends and Data Explorer. This is the Executive Overview, with KPI cards for total postings, companies, locations and distinct skills, plus salary statistics, top roles and top skills charts. Global filters in the sidebar for location, job role, experience and salary range apply across pages. Charts are Plotly, so they are interactive, and the Data Explorer lets you search and export filtered data as CSV. [Insert additional screenshots in the placeholder panel before presenting.]
TECHNICAL EXPLANATION
The left screenshot is a real capture of the running dashboard. The placeholder is for another page, such as Skill Demand Intelligence. Replace it with a real screenshot; do not use mock-ups.
KEY TAKEAWAY
Seven pages, one set of filters, interactive charts and CSV export.
TRANSITION
Finally, how we kept the data honest and where we would go next.
LIKELY FACULTY QUESTION
Q: How are the filters implemented?
A: Streamlit widgets in the sidebar filter the Pandas DataFrame, and each page recomputes its metrics and charts from the filtered data.</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Our integrity principles are implemented. No statistic is hard-coded: every figure traces to a Hive query result or terminal output. Salaries are used only when disclosed and valid, and INR and USD are never mixed. A skill is counted once per posting, and salary averages need at least five postings per role. We call out outlier-driven averages such as deputy manager, and we flag thin SDVI signals, like Visual Basic with 6 mentions and AngularJS with 3, as low-confidence. The whole workflow can be re-run with run_full_pipeline.sh. The limitations are these. Phase I recency is relative, so the skill_trends table has period equal to unknown on all 44,021 rows and we cannot show growth for the Indian data. Trend analysis comes from a separate LinkedIn dataset of 10,000 postings over six months. SDVI on very small counts is noisy. The setup is a local WSL installation, not a live distributed cluster, and normalisation is case and whitespace only. The third column is future work and is not implemented: acquire a dated corpus of at least twelve months, stamp each scrape with a scrape date and derive posting dates in Pig, collect weekly into dated HDFS directories, partition the Hive warehouse by month, rebuild skill_trends with LAG and apply SDVI, add a minimum-mention gate and report the median beside the mean, and canonicalise locations and titles.
TECHNICAL EXPLANATION
Posting date would be scrape_date minus the age in days, keeping postings with no age string as null rather than guessing. The minimum-mention gate means a skill's growth or SDVI is reported only when its monthly mentions meet a threshold. Partitioning uses an external Hive table partitioned by period, with partitions recovered by MSCK REPAIR TABLE, as in the Phase II design.
KEY TAKEAWAY
We state what the data can prove and have a concrete plan to improve it.
TRANSITION
To conclude, here is the project in one slide.
LIKELY FACULTY QUESTION
Q: What is the biggest limitation?
A: The relative recency text in the Indian dataset. With dated postings across several months, skill_trends could hold real growth values, as the LinkedIn data already does.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To summarise: HDFS stores the cleaned dataset, Pig produces normalised and aggregated datasets, Hive provides structured analytical queries, and Streamlit communicates the findings through an interactive interface. From raw job postings to actionable job-market intelligence. Thank you for listening. We are happy to take questions.
TECHNICAL EXPLANATION
Be ready to point back to: architecture (slide 5), skill DISTINCT (slide 12), salary method (slide 20), trend limitation (slide 21).
KEY TAKEAWAY
A repeatable pipeline that turns messy postings into trustworthy insight.
TRANSITION
Open the floor to questions.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1F3A"/>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_DARK">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9FB3C8"/>
                </a:solidFill>
              </a:rPr>
              <a:t>Job Market Intelligence &amp; Emerging Skill Demand Analysis</a:t>
            </a:r>
            <a:endParaRPr lang="en-US" sz="10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3C8"/>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9418320" cy="68580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3" name="Text 0"/>
          <p:cNvSpPr/>
          <p:nvPr/>
        </p:nvSpPr>
        <p:spPr>
          <a:xfrm>
            <a:off x="548640" y="6446520"/>
            <a:ext cx="8229600" cy="256032"/>
          </a:xfrm>
          <a:prstGeom prst="rect">
            <a:avLst/>
          </a:prstGeom>
          <a:noFill/>
          <a:ln/>
        </p:spPr>
        <p:txBody>
          <a:bodyPr wrap="square" lIns="0" tIns="0" rIns="0" bIns="0" rtlCol="0" anchor="ctr"/>
          <a:lstStyle/>
          <a:p>
            <a:pPr marL="0" indent="0">
              <a:buNone/>
            </a:pPr>
            <a:r>
              <a:rPr lang="en-US" sz="1000" dirty="0">
                <a:solidFill>
                  <a:schemeClr val="accent4"/>
                </a:solidFill>
              </a:rPr>
              <a:t>Job Market Intelligence &amp; Emerging Skill Demand Analysis</a:t>
            </a:r>
            <a:endParaRPr lang="en-US" sz="1000" dirty="0"/>
          </a:p>
        </p:txBody>
      </p:sp>
      <p:sp>
        <p:nvSpPr>
          <p:cNvPr id="25" name="Slide Number Placeholder 0"/>
          <p:cNvSpPr>
            <a:spLocks noGrp="1"/>
          </p:cNvSpPr>
          <p:nvPr>
            <p:ph type="sldNum" sz="quarter" idx="4294967295"/>
          </p:nvPr>
        </p:nvSpPr>
        <p:spPr>
          <a:xfrm>
            <a:off x="10972800" y="6446520"/>
            <a:ext cx="64008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3C8"/>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chart" Target="../charts/char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731520"/>
            <a:ext cx="6858000" cy="274320"/>
          </a:xfrm>
          <a:prstGeom prst="rect">
            <a:avLst/>
          </a:prstGeom>
          <a:noFill/>
          <a:ln/>
        </p:spPr>
        <p:txBody>
          <a:bodyPr wrap="square" lIns="0" tIns="0" rIns="0" bIns="0" rtlCol="0" anchor="t"/>
          <a:lstStyle/>
          <a:p>
            <a:pPr marL="0" indent="0">
              <a:buNone/>
            </a:pPr>
            <a:r>
              <a:rPr lang="en-US" sz="1300" b="1" kern="0" spc="300" dirty="0">
                <a:solidFill>
                  <a:srgbClr val="0E9AA7"/>
                </a:solidFill>
              </a:rPr>
              <a:t>BIG DATA ANALYTICS PROJECT</a:t>
            </a:r>
            <a:endParaRPr lang="en-US" sz="1300" dirty="0"/>
          </a:p>
        </p:txBody>
      </p:sp>
      <p:sp>
        <p:nvSpPr>
          <p:cNvPr id="3" name="Text 1"/>
          <p:cNvSpPr txBox="1"/>
          <p:nvPr/>
        </p:nvSpPr>
        <p:spPr>
          <a:xfrm>
            <a:off x="640080" y="1143000"/>
            <a:ext cx="6766560" cy="2011680"/>
          </a:xfrm>
          <a:prstGeom prst="rect">
            <a:avLst/>
          </a:prstGeom>
          <a:noFill/>
          <a:ln/>
        </p:spPr>
        <p:txBody>
          <a:bodyPr wrap="square" lIns="0" tIns="0" rIns="0" bIns="0" rtlCol="0" anchor="t"/>
          <a:lstStyle/>
          <a:p>
            <a:pPr marL="0" indent="0">
              <a:buNone/>
            </a:pPr>
            <a:r>
              <a:rPr lang="en-US" sz="4200" b="1" dirty="0">
                <a:solidFill>
                  <a:srgbClr val="FFFFFF"/>
                </a:solidFill>
                <a:latin typeface="Cambria" pitchFamily="34" charset="0"/>
                <a:ea typeface="Cambria" pitchFamily="34" charset="-122"/>
                <a:cs typeface="Cambria" pitchFamily="34" charset="-120"/>
              </a:rPr>
              <a:t>Job Market Intelligence &amp; Emerging Skill Demand Analysis</a:t>
            </a:r>
            <a:endParaRPr lang="en-US" sz="4200" dirty="0"/>
          </a:p>
        </p:txBody>
      </p:sp>
      <p:sp>
        <p:nvSpPr>
          <p:cNvPr id="4" name="Text 2"/>
          <p:cNvSpPr txBox="1"/>
          <p:nvPr/>
        </p:nvSpPr>
        <p:spPr>
          <a:xfrm>
            <a:off x="640080" y="3246120"/>
            <a:ext cx="6583680" cy="731520"/>
          </a:xfrm>
          <a:prstGeom prst="rect">
            <a:avLst/>
          </a:prstGeom>
          <a:noFill/>
          <a:ln/>
        </p:spPr>
        <p:txBody>
          <a:bodyPr wrap="square" lIns="0" tIns="0" rIns="0" bIns="0" rtlCol="0" anchor="t"/>
          <a:lstStyle/>
          <a:p>
            <a:pPr marL="0" indent="0">
              <a:buNone/>
            </a:pPr>
            <a:r>
              <a:rPr lang="en-US" sz="1800" i="1" dirty="0">
                <a:solidFill>
                  <a:srgbClr val="CADCFC"/>
                </a:solidFill>
              </a:rPr>
              <a:t>A Large-Scale Data Pipeline Using HDFS, Apache Pig, Apache Hive, and Streamlit</a:t>
            </a:r>
            <a:endParaRPr lang="en-US" sz="1800" dirty="0"/>
          </a:p>
        </p:txBody>
      </p:sp>
      <p:sp>
        <p:nvSpPr>
          <p:cNvPr id="5" name="Shape 3"/>
          <p:cNvSpPr/>
          <p:nvPr/>
        </p:nvSpPr>
        <p:spPr>
          <a:xfrm>
            <a:off x="640080" y="4114800"/>
            <a:ext cx="1051560" cy="365760"/>
          </a:xfrm>
          <a:prstGeom prst="roundRect">
            <a:avLst>
              <a:gd name="adj" fmla="val 50000"/>
            </a:avLst>
          </a:prstGeom>
          <a:solidFill>
            <a:schemeClr val="accent1">
              <a:alpha val="30000"/>
            </a:schemeClr>
          </a:solidFill>
          <a:ln w="15875">
            <a:solidFill>
              <a:schemeClr val="accent1"/>
            </a:solidFill>
            <a:prstDash val="solid"/>
          </a:ln>
        </p:spPr>
      </p:sp>
      <p:sp>
        <p:nvSpPr>
          <p:cNvPr id="6" name="Text 4"/>
          <p:cNvSpPr txBox="1"/>
          <p:nvPr/>
        </p:nvSpPr>
        <p:spPr>
          <a:xfrm>
            <a:off x="640080" y="4114800"/>
            <a:ext cx="1051560" cy="365760"/>
          </a:xfrm>
          <a:prstGeom prst="rect">
            <a:avLst/>
          </a:prstGeom>
          <a:noFill/>
          <a:ln/>
        </p:spPr>
        <p:txBody>
          <a:bodyPr wrap="square" lIns="0" tIns="0" rIns="0" bIns="0" rtlCol="0" anchor="ctr"/>
          <a:lstStyle/>
          <a:p>
            <a:pPr marL="0" indent="0" algn="ctr">
              <a:buNone/>
            </a:pPr>
            <a:r>
              <a:rPr lang="en-US" sz="1300" b="1" dirty="0">
                <a:solidFill>
                  <a:srgbClr val="FFFFFF"/>
                </a:solidFill>
              </a:rPr>
              <a:t>HDFS</a:t>
            </a:r>
            <a:endParaRPr lang="en-US" sz="1300" dirty="0"/>
          </a:p>
        </p:txBody>
      </p:sp>
      <p:sp>
        <p:nvSpPr>
          <p:cNvPr id="7" name="Shape 5"/>
          <p:cNvSpPr/>
          <p:nvPr/>
        </p:nvSpPr>
        <p:spPr>
          <a:xfrm>
            <a:off x="1783080" y="4114800"/>
            <a:ext cx="1645920" cy="365760"/>
          </a:xfrm>
          <a:prstGeom prst="roundRect">
            <a:avLst>
              <a:gd name="adj" fmla="val 50000"/>
            </a:avLst>
          </a:prstGeom>
          <a:solidFill>
            <a:schemeClr val="accent1">
              <a:alpha val="30000"/>
            </a:schemeClr>
          </a:solidFill>
          <a:ln w="15875">
            <a:solidFill>
              <a:schemeClr val="accent1"/>
            </a:solidFill>
            <a:prstDash val="solid"/>
          </a:ln>
        </p:spPr>
      </p:sp>
      <p:sp>
        <p:nvSpPr>
          <p:cNvPr id="8" name="Text 6"/>
          <p:cNvSpPr txBox="1"/>
          <p:nvPr/>
        </p:nvSpPr>
        <p:spPr>
          <a:xfrm>
            <a:off x="1783080" y="4114800"/>
            <a:ext cx="1645920" cy="365760"/>
          </a:xfrm>
          <a:prstGeom prst="rect">
            <a:avLst/>
          </a:prstGeom>
          <a:noFill/>
          <a:ln/>
        </p:spPr>
        <p:txBody>
          <a:bodyPr wrap="square" lIns="0" tIns="0" rIns="0" bIns="0" rtlCol="0" anchor="ctr"/>
          <a:lstStyle/>
          <a:p>
            <a:pPr marL="0" indent="0" algn="ctr">
              <a:buNone/>
            </a:pPr>
            <a:r>
              <a:rPr lang="en-US" sz="1300" b="1" dirty="0">
                <a:solidFill>
                  <a:srgbClr val="FFFFFF"/>
                </a:solidFill>
              </a:rPr>
              <a:t>Apache Pig</a:t>
            </a:r>
            <a:endParaRPr lang="en-US" sz="1300" dirty="0"/>
          </a:p>
        </p:txBody>
      </p:sp>
      <p:sp>
        <p:nvSpPr>
          <p:cNvPr id="9" name="Shape 7"/>
          <p:cNvSpPr/>
          <p:nvPr/>
        </p:nvSpPr>
        <p:spPr>
          <a:xfrm>
            <a:off x="3520440" y="4114800"/>
            <a:ext cx="1691640" cy="365760"/>
          </a:xfrm>
          <a:prstGeom prst="roundRect">
            <a:avLst>
              <a:gd name="adj" fmla="val 50000"/>
            </a:avLst>
          </a:prstGeom>
          <a:solidFill>
            <a:schemeClr val="accent1">
              <a:alpha val="30000"/>
            </a:schemeClr>
          </a:solidFill>
          <a:ln w="15875">
            <a:solidFill>
              <a:schemeClr val="accent1"/>
            </a:solidFill>
            <a:prstDash val="solid"/>
          </a:ln>
        </p:spPr>
      </p:sp>
      <p:sp>
        <p:nvSpPr>
          <p:cNvPr id="10" name="Text 8"/>
          <p:cNvSpPr txBox="1"/>
          <p:nvPr/>
        </p:nvSpPr>
        <p:spPr>
          <a:xfrm>
            <a:off x="3520440" y="4114800"/>
            <a:ext cx="1691640" cy="365760"/>
          </a:xfrm>
          <a:prstGeom prst="rect">
            <a:avLst/>
          </a:prstGeom>
          <a:noFill/>
          <a:ln/>
        </p:spPr>
        <p:txBody>
          <a:bodyPr wrap="square" lIns="0" tIns="0" rIns="0" bIns="0" rtlCol="0" anchor="ctr"/>
          <a:lstStyle/>
          <a:p>
            <a:pPr marL="0" indent="0" algn="ctr">
              <a:buNone/>
            </a:pPr>
            <a:r>
              <a:rPr lang="en-US" sz="1300" b="1" dirty="0">
                <a:solidFill>
                  <a:srgbClr val="FFFFFF"/>
                </a:solidFill>
              </a:rPr>
              <a:t>Apache Hive</a:t>
            </a:r>
            <a:endParaRPr lang="en-US" sz="1300" dirty="0"/>
          </a:p>
        </p:txBody>
      </p:sp>
      <p:sp>
        <p:nvSpPr>
          <p:cNvPr id="11" name="Shape 9"/>
          <p:cNvSpPr/>
          <p:nvPr/>
        </p:nvSpPr>
        <p:spPr>
          <a:xfrm>
            <a:off x="5303520" y="4114800"/>
            <a:ext cx="1371600" cy="365760"/>
          </a:xfrm>
          <a:prstGeom prst="roundRect">
            <a:avLst>
              <a:gd name="adj" fmla="val 50000"/>
            </a:avLst>
          </a:prstGeom>
          <a:solidFill>
            <a:schemeClr val="accent1">
              <a:alpha val="30000"/>
            </a:schemeClr>
          </a:solidFill>
          <a:ln w="15875">
            <a:solidFill>
              <a:schemeClr val="accent1"/>
            </a:solidFill>
            <a:prstDash val="solid"/>
          </a:ln>
        </p:spPr>
      </p:sp>
      <p:sp>
        <p:nvSpPr>
          <p:cNvPr id="12" name="Text 10"/>
          <p:cNvSpPr txBox="1"/>
          <p:nvPr/>
        </p:nvSpPr>
        <p:spPr>
          <a:xfrm>
            <a:off x="5303520" y="4114800"/>
            <a:ext cx="1371600" cy="365760"/>
          </a:xfrm>
          <a:prstGeom prst="rect">
            <a:avLst/>
          </a:prstGeom>
          <a:noFill/>
          <a:ln/>
        </p:spPr>
        <p:txBody>
          <a:bodyPr wrap="square" lIns="0" tIns="0" rIns="0" bIns="0" rtlCol="0" anchor="ctr"/>
          <a:lstStyle/>
          <a:p>
            <a:pPr marL="0" indent="0" algn="ctr">
              <a:buNone/>
            </a:pPr>
            <a:r>
              <a:rPr lang="en-US" sz="1300" b="1" dirty="0">
                <a:solidFill>
                  <a:srgbClr val="FFFFFF"/>
                </a:solidFill>
              </a:rPr>
              <a:t>Streamlit</a:t>
            </a:r>
            <a:endParaRPr lang="en-US" sz="1300" dirty="0"/>
          </a:p>
        </p:txBody>
      </p:sp>
      <p:sp>
        <p:nvSpPr>
          <p:cNvPr id="13" name="Text 11"/>
          <p:cNvSpPr txBox="1"/>
          <p:nvPr/>
        </p:nvSpPr>
        <p:spPr>
          <a:xfrm>
            <a:off x="640080" y="4663440"/>
            <a:ext cx="6766560" cy="274320"/>
          </a:xfrm>
          <a:prstGeom prst="rect">
            <a:avLst/>
          </a:prstGeom>
          <a:noFill/>
          <a:ln/>
        </p:spPr>
        <p:txBody>
          <a:bodyPr wrap="square" lIns="0" tIns="0" rIns="0" bIns="0" rtlCol="0" anchor="t"/>
          <a:lstStyle/>
          <a:p>
            <a:pPr marL="0" indent="0">
              <a:buNone/>
            </a:pPr>
            <a:r>
              <a:rPr lang="en-US" sz="1400" dirty="0">
                <a:solidFill>
                  <a:srgbClr val="9FB3C8"/>
                </a:solidFill>
              </a:rPr>
              <a:t>Dataset: Indian Job Market Dataset 2025  |  ~97,900 postings</a:t>
            </a:r>
            <a:endParaRPr lang="en-US" sz="1400" dirty="0"/>
          </a:p>
        </p:txBody>
      </p:sp>
      <p:sp>
        <p:nvSpPr>
          <p:cNvPr id="14" name="Text 12"/>
          <p:cNvSpPr txBox="1"/>
          <p:nvPr/>
        </p:nvSpPr>
        <p:spPr>
          <a:xfrm>
            <a:off x="640080" y="5257800"/>
            <a:ext cx="6949440" cy="822960"/>
          </a:xfrm>
          <a:prstGeom prst="rect">
            <a:avLst/>
          </a:prstGeom>
          <a:noFill/>
          <a:ln/>
        </p:spPr>
        <p:txBody>
          <a:bodyPr wrap="square" lIns="0" tIns="0" rIns="0" bIns="0" rtlCol="0" anchor="t"/>
          <a:lstStyle/>
          <a:p>
            <a:pPr marL="0" indent="0">
              <a:spcAft>
                <a:spcPts val="400"/>
              </a:spcAft>
              <a:buNone/>
            </a:pPr>
            <a:r>
              <a:rPr lang="en-US" sz="1500" b="1" dirty="0">
                <a:solidFill>
                  <a:srgbClr val="FFFFFF"/>
                </a:solidFill>
              </a:rPr>
              <a:t>N MEDHASHREE   ASHMI S N       DEEPANJALI TUDU</a:t>
            </a:r>
          </a:p>
          <a:p>
            <a:pPr marL="0" indent="0">
              <a:spcAft>
                <a:spcPts val="400"/>
              </a:spcAft>
              <a:buNone/>
            </a:pPr>
            <a:r>
              <a:rPr lang="en-US" sz="1500" dirty="0">
                <a:solidFill>
                  <a:srgbClr val="9FB3C8"/>
                </a:solidFill>
              </a:rPr>
              <a:t>2023BCS0042  |  2023BCS0196 | 2023BCS0066</a:t>
            </a:r>
          </a:p>
          <a:p>
            <a:pPr marL="0" indent="0">
              <a:spcAft>
                <a:spcPts val="400"/>
              </a:spcAft>
              <a:buNone/>
            </a:pPr>
            <a:r>
              <a:rPr lang="en-US" sz="1500" dirty="0">
                <a:solidFill>
                  <a:srgbClr val="9FB3C8"/>
                </a:solidFill>
              </a:rPr>
              <a:t>IIIT KOTTAYAM | CSE 412 BIG DATA </a:t>
            </a:r>
            <a:endParaRPr lang="en-US" sz="1500" dirty="0"/>
          </a:p>
        </p:txBody>
      </p:sp>
      <p:sp>
        <p:nvSpPr>
          <p:cNvPr id="15" name="Pipeline motif"/>
          <p:cNvSpPr/>
          <p:nvPr/>
        </p:nvSpPr>
        <p:spPr>
          <a:xfrm>
            <a:off x="8412480" y="822960"/>
            <a:ext cx="3108960" cy="749808"/>
          </a:xfrm>
          <a:prstGeom prst="roundRect">
            <a:avLst>
              <a:gd name="adj" fmla="val 14634"/>
            </a:avLst>
          </a:prstGeom>
          <a:solidFill>
            <a:schemeClr val="accent4">
              <a:alpha val="85000"/>
            </a:schemeClr>
          </a:solidFill>
          <a:ln/>
        </p:spPr>
      </p:sp>
      <p:sp>
        <p:nvSpPr>
          <p:cNvPr id="16" name="Text 14"/>
          <p:cNvSpPr txBox="1"/>
          <p:nvPr/>
        </p:nvSpPr>
        <p:spPr>
          <a:xfrm>
            <a:off x="8595360" y="896112"/>
            <a:ext cx="2743200" cy="640080"/>
          </a:xfrm>
          <a:prstGeom prst="rect">
            <a:avLst/>
          </a:prstGeom>
          <a:noFill/>
          <a:ln/>
        </p:spPr>
        <p:txBody>
          <a:bodyPr wrap="square" lIns="0" tIns="0" rIns="0" bIns="0" rtlCol="0" anchor="ctr"/>
          <a:lstStyle/>
          <a:p>
            <a:pPr marL="0" indent="0">
              <a:buNone/>
            </a:pPr>
            <a:r>
              <a:rPr lang="en-US" sz="1700" b="1" dirty="0">
                <a:solidFill>
                  <a:srgbClr val="FFFFFF"/>
                </a:solidFill>
              </a:rPr>
              <a:t>Job postings</a:t>
            </a:r>
            <a:endParaRPr lang="en-US" sz="1400" dirty="0"/>
          </a:p>
          <a:p>
            <a:pPr marL="0" indent="0">
              <a:buNone/>
            </a:pPr>
            <a:r>
              <a:rPr lang="en-US" sz="1200" dirty="0">
                <a:solidFill>
                  <a:srgbClr val="FFFFFF"/>
                </a:solidFill>
              </a:rPr>
              <a:t>~97.9K rows</a:t>
            </a:r>
            <a:endParaRPr lang="en-US" sz="1400" dirty="0"/>
          </a:p>
        </p:txBody>
      </p:sp>
      <p:sp>
        <p:nvSpPr>
          <p:cNvPr id="17" name="Shape 15"/>
          <p:cNvSpPr/>
          <p:nvPr/>
        </p:nvSpPr>
        <p:spPr>
          <a:xfrm>
            <a:off x="9966960" y="1572768"/>
            <a:ext cx="0" cy="365760"/>
          </a:xfrm>
          <a:prstGeom prst="line">
            <a:avLst/>
          </a:prstGeom>
          <a:noFill/>
          <a:ln w="25400">
            <a:solidFill>
              <a:srgbClr val="9FB3C8"/>
            </a:solidFill>
            <a:prstDash val="solid"/>
            <a:tailEnd type="triangle"/>
          </a:ln>
        </p:spPr>
      </p:sp>
      <p:sp>
        <p:nvSpPr>
          <p:cNvPr id="18" name="Pipeline motif"/>
          <p:cNvSpPr/>
          <p:nvPr/>
        </p:nvSpPr>
        <p:spPr>
          <a:xfrm>
            <a:off x="8412480" y="1938528"/>
            <a:ext cx="3108960" cy="749808"/>
          </a:xfrm>
          <a:prstGeom prst="roundRect">
            <a:avLst>
              <a:gd name="adj" fmla="val 14634"/>
            </a:avLst>
          </a:prstGeom>
          <a:solidFill>
            <a:schemeClr val="accent1">
              <a:alpha val="85000"/>
            </a:schemeClr>
          </a:solidFill>
          <a:ln/>
        </p:spPr>
      </p:sp>
      <p:sp>
        <p:nvSpPr>
          <p:cNvPr id="19" name="Text 17"/>
          <p:cNvSpPr txBox="1"/>
          <p:nvPr/>
        </p:nvSpPr>
        <p:spPr>
          <a:xfrm>
            <a:off x="8595360" y="2011680"/>
            <a:ext cx="2743200" cy="640080"/>
          </a:xfrm>
          <a:prstGeom prst="rect">
            <a:avLst/>
          </a:prstGeom>
          <a:noFill/>
          <a:ln/>
        </p:spPr>
        <p:txBody>
          <a:bodyPr wrap="square" lIns="0" tIns="0" rIns="0" bIns="0" rtlCol="0" anchor="ctr"/>
          <a:lstStyle/>
          <a:p>
            <a:pPr marL="0" indent="0">
              <a:buNone/>
            </a:pPr>
            <a:r>
              <a:rPr lang="en-US" sz="1700" b="1" dirty="0">
                <a:solidFill>
                  <a:srgbClr val="FFFFFF"/>
                </a:solidFill>
              </a:rPr>
              <a:t>HDFS</a:t>
            </a:r>
            <a:endParaRPr lang="en-US" sz="1400" dirty="0"/>
          </a:p>
          <a:p>
            <a:pPr marL="0" indent="0">
              <a:buNone/>
            </a:pPr>
            <a:r>
              <a:rPr lang="en-US" sz="1200" dirty="0">
                <a:solidFill>
                  <a:srgbClr val="FFFFFF"/>
                </a:solidFill>
              </a:rPr>
              <a:t>distributed storage</a:t>
            </a:r>
            <a:endParaRPr lang="en-US" sz="1400" dirty="0"/>
          </a:p>
        </p:txBody>
      </p:sp>
      <p:sp>
        <p:nvSpPr>
          <p:cNvPr id="20" name="Shape 18"/>
          <p:cNvSpPr/>
          <p:nvPr/>
        </p:nvSpPr>
        <p:spPr>
          <a:xfrm>
            <a:off x="9966960" y="2688336"/>
            <a:ext cx="0" cy="365760"/>
          </a:xfrm>
          <a:prstGeom prst="line">
            <a:avLst/>
          </a:prstGeom>
          <a:noFill/>
          <a:ln w="25400">
            <a:solidFill>
              <a:srgbClr val="9FB3C8"/>
            </a:solidFill>
            <a:prstDash val="solid"/>
            <a:tailEnd type="triangle"/>
          </a:ln>
        </p:spPr>
      </p:sp>
      <p:sp>
        <p:nvSpPr>
          <p:cNvPr id="21" name="Pipeline motif"/>
          <p:cNvSpPr/>
          <p:nvPr/>
        </p:nvSpPr>
        <p:spPr>
          <a:xfrm>
            <a:off x="8412480" y="3054096"/>
            <a:ext cx="3108960" cy="749808"/>
          </a:xfrm>
          <a:prstGeom prst="roundRect">
            <a:avLst>
              <a:gd name="adj" fmla="val 14634"/>
            </a:avLst>
          </a:prstGeom>
          <a:solidFill>
            <a:schemeClr val="accent2">
              <a:alpha val="85000"/>
            </a:schemeClr>
          </a:solidFill>
          <a:ln/>
        </p:spPr>
      </p:sp>
      <p:sp>
        <p:nvSpPr>
          <p:cNvPr id="22" name="Text 20"/>
          <p:cNvSpPr txBox="1"/>
          <p:nvPr/>
        </p:nvSpPr>
        <p:spPr>
          <a:xfrm>
            <a:off x="8595360" y="3127248"/>
            <a:ext cx="2743200" cy="640080"/>
          </a:xfrm>
          <a:prstGeom prst="rect">
            <a:avLst/>
          </a:prstGeom>
          <a:noFill/>
          <a:ln/>
        </p:spPr>
        <p:txBody>
          <a:bodyPr wrap="square" lIns="0" tIns="0" rIns="0" bIns="0" rtlCol="0" anchor="ctr"/>
          <a:lstStyle/>
          <a:p>
            <a:pPr marL="0" indent="0">
              <a:buNone/>
            </a:pPr>
            <a:r>
              <a:rPr lang="en-US" sz="1700" b="1" dirty="0">
                <a:solidFill>
                  <a:srgbClr val="FFFFFF"/>
                </a:solidFill>
              </a:rPr>
              <a:t>Apache Pig</a:t>
            </a:r>
            <a:endParaRPr lang="en-US" sz="1400" dirty="0"/>
          </a:p>
          <a:p>
            <a:pPr marL="0" indent="0">
              <a:buNone/>
            </a:pPr>
            <a:r>
              <a:rPr lang="en-US" sz="1200" dirty="0">
                <a:solidFill>
                  <a:srgbClr val="FFFFFF"/>
                </a:solidFill>
              </a:rPr>
              <a:t>transformation</a:t>
            </a:r>
            <a:endParaRPr lang="en-US" sz="1400" dirty="0"/>
          </a:p>
        </p:txBody>
      </p:sp>
      <p:sp>
        <p:nvSpPr>
          <p:cNvPr id="23" name="Shape 21"/>
          <p:cNvSpPr/>
          <p:nvPr/>
        </p:nvSpPr>
        <p:spPr>
          <a:xfrm>
            <a:off x="9966960" y="3803904"/>
            <a:ext cx="0" cy="365760"/>
          </a:xfrm>
          <a:prstGeom prst="line">
            <a:avLst/>
          </a:prstGeom>
          <a:noFill/>
          <a:ln w="25400">
            <a:solidFill>
              <a:srgbClr val="9FB3C8"/>
            </a:solidFill>
            <a:prstDash val="solid"/>
            <a:tailEnd type="triangle"/>
          </a:ln>
        </p:spPr>
      </p:sp>
      <p:sp>
        <p:nvSpPr>
          <p:cNvPr id="24" name="Pipeline motif"/>
          <p:cNvSpPr/>
          <p:nvPr/>
        </p:nvSpPr>
        <p:spPr>
          <a:xfrm>
            <a:off x="8412480" y="4169664"/>
            <a:ext cx="3108960" cy="749808"/>
          </a:xfrm>
          <a:prstGeom prst="roundRect">
            <a:avLst>
              <a:gd name="adj" fmla="val 14634"/>
            </a:avLst>
          </a:prstGeom>
          <a:solidFill>
            <a:schemeClr val="accent3">
              <a:alpha val="85000"/>
            </a:schemeClr>
          </a:solidFill>
          <a:ln/>
        </p:spPr>
      </p:sp>
      <p:sp>
        <p:nvSpPr>
          <p:cNvPr id="25" name="Text 23"/>
          <p:cNvSpPr txBox="1"/>
          <p:nvPr/>
        </p:nvSpPr>
        <p:spPr>
          <a:xfrm>
            <a:off x="8595360" y="4242816"/>
            <a:ext cx="2743200" cy="640080"/>
          </a:xfrm>
          <a:prstGeom prst="rect">
            <a:avLst/>
          </a:prstGeom>
          <a:noFill/>
          <a:ln/>
        </p:spPr>
        <p:txBody>
          <a:bodyPr wrap="square" lIns="0" tIns="0" rIns="0" bIns="0" rtlCol="0" anchor="ctr"/>
          <a:lstStyle/>
          <a:p>
            <a:pPr marL="0" indent="0">
              <a:buNone/>
            </a:pPr>
            <a:r>
              <a:rPr lang="en-US" sz="1700" b="1" dirty="0">
                <a:solidFill>
                  <a:srgbClr val="0B1F3A"/>
                </a:solidFill>
              </a:rPr>
              <a:t>Apache Hive</a:t>
            </a:r>
            <a:endParaRPr lang="en-US" sz="1400" dirty="0"/>
          </a:p>
          <a:p>
            <a:pPr marL="0" indent="0">
              <a:buNone/>
            </a:pPr>
            <a:r>
              <a:rPr lang="en-US" sz="1200" dirty="0">
                <a:solidFill>
                  <a:srgbClr val="0B1F3A"/>
                </a:solidFill>
              </a:rPr>
              <a:t>SQL analytics</a:t>
            </a:r>
            <a:endParaRPr lang="en-US" sz="1400" dirty="0"/>
          </a:p>
        </p:txBody>
      </p:sp>
      <p:sp>
        <p:nvSpPr>
          <p:cNvPr id="26" name="Shape 24"/>
          <p:cNvSpPr/>
          <p:nvPr/>
        </p:nvSpPr>
        <p:spPr>
          <a:xfrm>
            <a:off x="9966960" y="4919472"/>
            <a:ext cx="0" cy="365760"/>
          </a:xfrm>
          <a:prstGeom prst="line">
            <a:avLst/>
          </a:prstGeom>
          <a:noFill/>
          <a:ln w="25400">
            <a:solidFill>
              <a:srgbClr val="9FB3C8"/>
            </a:solidFill>
            <a:prstDash val="solid"/>
            <a:tailEnd type="triangle"/>
          </a:ln>
        </p:spPr>
      </p:sp>
      <p:sp>
        <p:nvSpPr>
          <p:cNvPr id="27" name="Pipeline motif"/>
          <p:cNvSpPr/>
          <p:nvPr/>
        </p:nvSpPr>
        <p:spPr>
          <a:xfrm>
            <a:off x="8412480" y="5285232"/>
            <a:ext cx="3108960" cy="749808"/>
          </a:xfrm>
          <a:prstGeom prst="roundRect">
            <a:avLst>
              <a:gd name="adj" fmla="val 14634"/>
            </a:avLst>
          </a:prstGeom>
          <a:solidFill>
            <a:schemeClr val="accent6">
              <a:alpha val="85000"/>
            </a:schemeClr>
          </a:solidFill>
          <a:ln/>
        </p:spPr>
      </p:sp>
      <p:sp>
        <p:nvSpPr>
          <p:cNvPr id="28" name="Text 26"/>
          <p:cNvSpPr txBox="1"/>
          <p:nvPr/>
        </p:nvSpPr>
        <p:spPr>
          <a:xfrm>
            <a:off x="8595360" y="5358384"/>
            <a:ext cx="2743200" cy="640080"/>
          </a:xfrm>
          <a:prstGeom prst="rect">
            <a:avLst/>
          </a:prstGeom>
          <a:noFill/>
          <a:ln/>
        </p:spPr>
        <p:txBody>
          <a:bodyPr wrap="square" lIns="0" tIns="0" rIns="0" bIns="0" rtlCol="0" anchor="ctr"/>
          <a:lstStyle/>
          <a:p>
            <a:pPr marL="0" indent="0">
              <a:buNone/>
            </a:pPr>
            <a:r>
              <a:rPr lang="en-US" sz="1700" b="1" dirty="0">
                <a:solidFill>
                  <a:srgbClr val="FFFFFF"/>
                </a:solidFill>
              </a:rPr>
              <a:t>Streamlit</a:t>
            </a:r>
            <a:endParaRPr lang="en-US" sz="1400" dirty="0"/>
          </a:p>
          <a:p>
            <a:pPr marL="0" indent="0">
              <a:buNone/>
            </a:pPr>
            <a:r>
              <a:rPr lang="en-US" sz="1200" dirty="0">
                <a:solidFill>
                  <a:srgbClr val="FFFFFF"/>
                </a:solidFill>
              </a:rPr>
              <a:t>dashboard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PROBLEM AND MOTIVATION</a:t>
            </a:r>
            <a:endParaRPr lang="en-US" sz="1200" dirty="0"/>
          </a:p>
        </p:txBody>
      </p:sp>
      <p:sp>
        <p:nvSpPr>
          <p:cNvPr id="3" name="Text 0"/>
          <p:cNvSpPr>
            <a:spLocks noGrp="1"/>
          </p:cNvSpPr>
          <p:nvPr>
            <p:ph type="title" idx="100" hasCustomPrompt="1"/>
          </p:nvPr>
        </p:nvSpPr>
        <p:spPr>
          <a:xfrm>
            <a:off x="548640" y="566928"/>
            <a:ext cx="9418320" cy="685800"/>
          </a:xfrm>
          <a:prstGeom prst="rect">
            <a:avLst/>
          </a:prstGeom>
          <a:noFill/>
          <a:ln/>
        </p:spPr>
        <p:txBody>
          <a:bodyPr wrap="square" lIns="0" tIns="0" rIns="0" bIns="0" rtlCol="0" anchor="ctr"/>
          <a:lstStyle/>
          <a:p>
            <a:pPr marL="0" indent="0" algn="l">
              <a:buNone/>
            </a:pPr>
            <a:r>
              <a:rPr lang="en-US" sz="3200" b="1" dirty="0">
                <a:solidFill>
                  <a:schemeClr val="tx2"/>
                </a:solidFill>
              </a:rPr>
              <a:t>Why Raw Job Data Is Hard to Analyze</a:t>
            </a:r>
            <a:endParaRPr lang="en-US" sz="3200" dirty="0"/>
          </a:p>
        </p:txBody>
      </p:sp>
      <p:sp>
        <p:nvSpPr>
          <p:cNvPr id="6" name="Problem card"/>
          <p:cNvSpPr/>
          <p:nvPr/>
        </p:nvSpPr>
        <p:spPr>
          <a:xfrm>
            <a:off x="548640" y="1463040"/>
            <a:ext cx="6583680" cy="804672"/>
          </a:xfrm>
          <a:prstGeom prst="roundRect">
            <a:avLst>
              <a:gd name="adj" fmla="val 9091"/>
            </a:avLst>
          </a:prstGeom>
          <a:solidFill>
            <a:schemeClr val="bg2"/>
          </a:solidFill>
          <a:ln/>
        </p:spPr>
      </p:sp>
      <p:sp>
        <p:nvSpPr>
          <p:cNvPr id="7" name="Shape 5"/>
          <p:cNvSpPr/>
          <p:nvPr/>
        </p:nvSpPr>
        <p:spPr>
          <a:xfrm>
            <a:off x="731520" y="1645920"/>
            <a:ext cx="438912" cy="438912"/>
          </a:xfrm>
          <a:prstGeom prst="ellipse">
            <a:avLst/>
          </a:prstGeom>
          <a:solidFill>
            <a:schemeClr val="accent5"/>
          </a:solidFill>
          <a:ln/>
        </p:spPr>
      </p:sp>
      <p:sp>
        <p:nvSpPr>
          <p:cNvPr id="8" name="Text 6"/>
          <p:cNvSpPr txBox="1"/>
          <p:nvPr/>
        </p:nvSpPr>
        <p:spPr>
          <a:xfrm>
            <a:off x="731520" y="1645920"/>
            <a:ext cx="438912" cy="438912"/>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9" name="Text 7"/>
          <p:cNvSpPr txBox="1"/>
          <p:nvPr/>
        </p:nvSpPr>
        <p:spPr>
          <a:xfrm>
            <a:off x="1371600" y="1572768"/>
            <a:ext cx="5669280" cy="320040"/>
          </a:xfrm>
          <a:prstGeom prst="rect">
            <a:avLst/>
          </a:prstGeom>
          <a:noFill/>
          <a:ln/>
        </p:spPr>
        <p:txBody>
          <a:bodyPr wrap="square" lIns="0" tIns="0" rIns="0" bIns="0" rtlCol="0" anchor="t"/>
          <a:lstStyle/>
          <a:p>
            <a:pPr marL="0" indent="0">
              <a:buNone/>
            </a:pPr>
            <a:r>
              <a:rPr lang="en-US" sz="1800" b="1" dirty="0">
                <a:solidFill>
                  <a:schemeClr val="tx2"/>
                </a:solidFill>
              </a:rPr>
              <a:t>Inconsistent titles and locations</a:t>
            </a:r>
            <a:endParaRPr lang="en-US" sz="1800" dirty="0"/>
          </a:p>
        </p:txBody>
      </p:sp>
      <p:sp>
        <p:nvSpPr>
          <p:cNvPr id="10" name="Text 8"/>
          <p:cNvSpPr txBox="1"/>
          <p:nvPr/>
        </p:nvSpPr>
        <p:spPr>
          <a:xfrm>
            <a:off x="1371600" y="1901952"/>
            <a:ext cx="5669280" cy="292608"/>
          </a:xfrm>
          <a:prstGeom prst="rect">
            <a:avLst/>
          </a:prstGeom>
          <a:noFill/>
          <a:ln/>
        </p:spPr>
        <p:txBody>
          <a:bodyPr wrap="square" lIns="0" tIns="0" rIns="0" bIns="0" rtlCol="0" anchor="t"/>
          <a:lstStyle/>
          <a:p>
            <a:pPr marL="0" indent="0">
              <a:buNone/>
            </a:pPr>
            <a:r>
              <a:rPr lang="en-US" sz="1400" dirty="0">
                <a:solidFill>
                  <a:schemeClr val="accent4"/>
                </a:solidFill>
              </a:rPr>
              <a:t>Same job or city written with different case and spacing</a:t>
            </a:r>
            <a:endParaRPr lang="en-US" sz="1400" dirty="0"/>
          </a:p>
        </p:txBody>
      </p:sp>
      <p:sp>
        <p:nvSpPr>
          <p:cNvPr id="11" name="Problem card"/>
          <p:cNvSpPr/>
          <p:nvPr/>
        </p:nvSpPr>
        <p:spPr>
          <a:xfrm>
            <a:off x="548640" y="2395728"/>
            <a:ext cx="6583680" cy="804672"/>
          </a:xfrm>
          <a:prstGeom prst="roundRect">
            <a:avLst>
              <a:gd name="adj" fmla="val 9091"/>
            </a:avLst>
          </a:prstGeom>
          <a:solidFill>
            <a:schemeClr val="bg2"/>
          </a:solidFill>
          <a:ln/>
        </p:spPr>
      </p:sp>
      <p:sp>
        <p:nvSpPr>
          <p:cNvPr id="12" name="Shape 10"/>
          <p:cNvSpPr/>
          <p:nvPr/>
        </p:nvSpPr>
        <p:spPr>
          <a:xfrm>
            <a:off x="731520" y="2578608"/>
            <a:ext cx="438912" cy="438912"/>
          </a:xfrm>
          <a:prstGeom prst="ellipse">
            <a:avLst/>
          </a:prstGeom>
          <a:solidFill>
            <a:schemeClr val="accent5"/>
          </a:solidFill>
          <a:ln/>
        </p:spPr>
      </p:sp>
      <p:sp>
        <p:nvSpPr>
          <p:cNvPr id="13" name="Text 11"/>
          <p:cNvSpPr txBox="1"/>
          <p:nvPr/>
        </p:nvSpPr>
        <p:spPr>
          <a:xfrm>
            <a:off x="731520" y="2578608"/>
            <a:ext cx="438912" cy="438912"/>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4" name="Text 12"/>
          <p:cNvSpPr txBox="1"/>
          <p:nvPr/>
        </p:nvSpPr>
        <p:spPr>
          <a:xfrm>
            <a:off x="1371600" y="2505456"/>
            <a:ext cx="5669280" cy="320040"/>
          </a:xfrm>
          <a:prstGeom prst="rect">
            <a:avLst/>
          </a:prstGeom>
          <a:noFill/>
          <a:ln/>
        </p:spPr>
        <p:txBody>
          <a:bodyPr wrap="square" lIns="0" tIns="0" rIns="0" bIns="0" rtlCol="0" anchor="t"/>
          <a:lstStyle/>
          <a:p>
            <a:pPr marL="0" indent="0">
              <a:buNone/>
            </a:pPr>
            <a:r>
              <a:rPr lang="en-US" sz="1800" b="1" dirty="0">
                <a:solidFill>
                  <a:schemeClr val="tx2"/>
                </a:solidFill>
              </a:rPr>
              <a:t>Many skills in one text field</a:t>
            </a:r>
            <a:endParaRPr lang="en-US" sz="1800" dirty="0"/>
          </a:p>
        </p:txBody>
      </p:sp>
      <p:sp>
        <p:nvSpPr>
          <p:cNvPr id="15" name="Text 13"/>
          <p:cNvSpPr txBox="1"/>
          <p:nvPr/>
        </p:nvSpPr>
        <p:spPr>
          <a:xfrm>
            <a:off x="1371600" y="2834640"/>
            <a:ext cx="5669280" cy="292608"/>
          </a:xfrm>
          <a:prstGeom prst="rect">
            <a:avLst/>
          </a:prstGeom>
          <a:noFill/>
          <a:ln/>
        </p:spPr>
        <p:txBody>
          <a:bodyPr wrap="square" lIns="0" tIns="0" rIns="0" bIns="0" rtlCol="0" anchor="t"/>
          <a:lstStyle/>
          <a:p>
            <a:pPr marL="0" indent="0">
              <a:buNone/>
            </a:pPr>
            <a:r>
              <a:rPr lang="en-US" sz="1400" dirty="0">
                <a:solidFill>
                  <a:schemeClr val="accent4"/>
                </a:solidFill>
              </a:rPr>
              <a:t>Comma-separated list, so skills cannot be counted directly</a:t>
            </a:r>
            <a:endParaRPr lang="en-US" sz="1400" dirty="0"/>
          </a:p>
        </p:txBody>
      </p:sp>
      <p:sp>
        <p:nvSpPr>
          <p:cNvPr id="16" name="Problem card"/>
          <p:cNvSpPr/>
          <p:nvPr/>
        </p:nvSpPr>
        <p:spPr>
          <a:xfrm>
            <a:off x="548640" y="3328416"/>
            <a:ext cx="6583680" cy="804672"/>
          </a:xfrm>
          <a:prstGeom prst="roundRect">
            <a:avLst>
              <a:gd name="adj" fmla="val 9091"/>
            </a:avLst>
          </a:prstGeom>
          <a:solidFill>
            <a:schemeClr val="bg2"/>
          </a:solidFill>
          <a:ln/>
        </p:spPr>
      </p:sp>
      <p:sp>
        <p:nvSpPr>
          <p:cNvPr id="17" name="Shape 15"/>
          <p:cNvSpPr/>
          <p:nvPr/>
        </p:nvSpPr>
        <p:spPr>
          <a:xfrm>
            <a:off x="731520" y="3511296"/>
            <a:ext cx="438912" cy="438912"/>
          </a:xfrm>
          <a:prstGeom prst="ellipse">
            <a:avLst/>
          </a:prstGeom>
          <a:solidFill>
            <a:schemeClr val="accent5"/>
          </a:solidFill>
          <a:ln/>
        </p:spPr>
      </p:sp>
      <p:sp>
        <p:nvSpPr>
          <p:cNvPr id="18" name="Text 16"/>
          <p:cNvSpPr txBox="1"/>
          <p:nvPr/>
        </p:nvSpPr>
        <p:spPr>
          <a:xfrm>
            <a:off x="731520" y="3511296"/>
            <a:ext cx="438912" cy="438912"/>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9" name="Text 17"/>
          <p:cNvSpPr txBox="1"/>
          <p:nvPr/>
        </p:nvSpPr>
        <p:spPr>
          <a:xfrm>
            <a:off x="1371600" y="3438144"/>
            <a:ext cx="5669280" cy="320040"/>
          </a:xfrm>
          <a:prstGeom prst="rect">
            <a:avLst/>
          </a:prstGeom>
          <a:noFill/>
          <a:ln/>
        </p:spPr>
        <p:txBody>
          <a:bodyPr wrap="square" lIns="0" tIns="0" rIns="0" bIns="0" rtlCol="0" anchor="t"/>
          <a:lstStyle/>
          <a:p>
            <a:pPr marL="0" indent="0">
              <a:buNone/>
            </a:pPr>
            <a:r>
              <a:rPr lang="en-US" sz="1800" b="1" dirty="0">
                <a:solidFill>
                  <a:schemeClr val="tx2"/>
                </a:solidFill>
              </a:rPr>
              <a:t>Missing or mixed salary data</a:t>
            </a:r>
            <a:endParaRPr lang="en-US" sz="1800" dirty="0"/>
          </a:p>
        </p:txBody>
      </p:sp>
      <p:sp>
        <p:nvSpPr>
          <p:cNvPr id="20" name="Text 18"/>
          <p:cNvSpPr txBox="1"/>
          <p:nvPr/>
        </p:nvSpPr>
        <p:spPr>
          <a:xfrm>
            <a:off x="1371600" y="3767328"/>
            <a:ext cx="5669280" cy="292608"/>
          </a:xfrm>
          <a:prstGeom prst="rect">
            <a:avLst/>
          </a:prstGeom>
          <a:noFill/>
          <a:ln/>
        </p:spPr>
        <p:txBody>
          <a:bodyPr wrap="square" lIns="0" tIns="0" rIns="0" bIns="0" rtlCol="0" anchor="t"/>
          <a:lstStyle/>
          <a:p>
            <a:pPr marL="0" indent="0">
              <a:buNone/>
            </a:pPr>
            <a:r>
              <a:rPr lang="en-US" sz="1400" dirty="0">
                <a:solidFill>
                  <a:schemeClr val="accent4"/>
                </a:solidFill>
              </a:rPr>
              <a:t>Undisclosed values and different currencies</a:t>
            </a:r>
            <a:endParaRPr lang="en-US" sz="1400" dirty="0"/>
          </a:p>
        </p:txBody>
      </p:sp>
      <p:sp>
        <p:nvSpPr>
          <p:cNvPr id="21" name="Problem card"/>
          <p:cNvSpPr/>
          <p:nvPr/>
        </p:nvSpPr>
        <p:spPr>
          <a:xfrm>
            <a:off x="548640" y="4261104"/>
            <a:ext cx="6583680" cy="804672"/>
          </a:xfrm>
          <a:prstGeom prst="roundRect">
            <a:avLst>
              <a:gd name="adj" fmla="val 9091"/>
            </a:avLst>
          </a:prstGeom>
          <a:solidFill>
            <a:schemeClr val="bg2"/>
          </a:solidFill>
          <a:ln/>
        </p:spPr>
      </p:sp>
      <p:sp>
        <p:nvSpPr>
          <p:cNvPr id="22" name="Shape 20"/>
          <p:cNvSpPr/>
          <p:nvPr/>
        </p:nvSpPr>
        <p:spPr>
          <a:xfrm>
            <a:off x="731520" y="4443984"/>
            <a:ext cx="438912" cy="438912"/>
          </a:xfrm>
          <a:prstGeom prst="ellipse">
            <a:avLst/>
          </a:prstGeom>
          <a:solidFill>
            <a:schemeClr val="accent5"/>
          </a:solidFill>
          <a:ln/>
        </p:spPr>
      </p:sp>
      <p:sp>
        <p:nvSpPr>
          <p:cNvPr id="23" name="Text 21"/>
          <p:cNvSpPr txBox="1"/>
          <p:nvPr/>
        </p:nvSpPr>
        <p:spPr>
          <a:xfrm>
            <a:off x="731520" y="4443984"/>
            <a:ext cx="438912" cy="438912"/>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4" name="Text 22"/>
          <p:cNvSpPr txBox="1"/>
          <p:nvPr/>
        </p:nvSpPr>
        <p:spPr>
          <a:xfrm>
            <a:off x="1371600" y="4370832"/>
            <a:ext cx="5669280" cy="320040"/>
          </a:xfrm>
          <a:prstGeom prst="rect">
            <a:avLst/>
          </a:prstGeom>
          <a:noFill/>
          <a:ln/>
        </p:spPr>
        <p:txBody>
          <a:bodyPr wrap="square" lIns="0" tIns="0" rIns="0" bIns="0" rtlCol="0" anchor="t"/>
          <a:lstStyle/>
          <a:p>
            <a:pPr marL="0" indent="0">
              <a:buNone/>
            </a:pPr>
            <a:r>
              <a:rPr lang="en-US" sz="1800" b="1" dirty="0">
                <a:solidFill>
                  <a:schemeClr val="tx2"/>
                </a:solidFill>
              </a:rPr>
              <a:t>Duplicates and incomplete records</a:t>
            </a:r>
            <a:endParaRPr lang="en-US" sz="1800" dirty="0"/>
          </a:p>
        </p:txBody>
      </p:sp>
      <p:sp>
        <p:nvSpPr>
          <p:cNvPr id="25" name="Text 23"/>
          <p:cNvSpPr txBox="1"/>
          <p:nvPr/>
        </p:nvSpPr>
        <p:spPr>
          <a:xfrm>
            <a:off x="1371600" y="4700016"/>
            <a:ext cx="5669280" cy="292608"/>
          </a:xfrm>
          <a:prstGeom prst="rect">
            <a:avLst/>
          </a:prstGeom>
          <a:noFill/>
          <a:ln/>
        </p:spPr>
        <p:txBody>
          <a:bodyPr wrap="square" lIns="0" tIns="0" rIns="0" bIns="0" rtlCol="0" anchor="t"/>
          <a:lstStyle/>
          <a:p>
            <a:pPr marL="0" indent="0">
              <a:buNone/>
            </a:pPr>
            <a:r>
              <a:rPr lang="en-US" sz="1400" dirty="0">
                <a:solidFill>
                  <a:schemeClr val="accent4"/>
                </a:solidFill>
              </a:rPr>
              <a:t>Inflate counts and distort rankings</a:t>
            </a:r>
            <a:endParaRPr lang="en-US" sz="1400" dirty="0"/>
          </a:p>
        </p:txBody>
      </p:sp>
      <p:sp>
        <p:nvSpPr>
          <p:cNvPr id="26" name="Problem card"/>
          <p:cNvSpPr/>
          <p:nvPr/>
        </p:nvSpPr>
        <p:spPr>
          <a:xfrm>
            <a:off x="548640" y="5193792"/>
            <a:ext cx="6583680" cy="804672"/>
          </a:xfrm>
          <a:prstGeom prst="roundRect">
            <a:avLst>
              <a:gd name="adj" fmla="val 9091"/>
            </a:avLst>
          </a:prstGeom>
          <a:solidFill>
            <a:schemeClr val="bg2"/>
          </a:solidFill>
          <a:ln/>
        </p:spPr>
      </p:sp>
      <p:sp>
        <p:nvSpPr>
          <p:cNvPr id="27" name="Shape 25"/>
          <p:cNvSpPr/>
          <p:nvPr/>
        </p:nvSpPr>
        <p:spPr>
          <a:xfrm>
            <a:off x="731520" y="5376672"/>
            <a:ext cx="438912" cy="438912"/>
          </a:xfrm>
          <a:prstGeom prst="ellipse">
            <a:avLst/>
          </a:prstGeom>
          <a:solidFill>
            <a:schemeClr val="accent5"/>
          </a:solidFill>
          <a:ln/>
        </p:spPr>
      </p:sp>
      <p:sp>
        <p:nvSpPr>
          <p:cNvPr id="28" name="Text 26"/>
          <p:cNvSpPr txBox="1"/>
          <p:nvPr/>
        </p:nvSpPr>
        <p:spPr>
          <a:xfrm>
            <a:off x="731520" y="5376672"/>
            <a:ext cx="438912" cy="438912"/>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9" name="Text 27"/>
          <p:cNvSpPr txBox="1"/>
          <p:nvPr/>
        </p:nvSpPr>
        <p:spPr>
          <a:xfrm>
            <a:off x="1371600" y="5303520"/>
            <a:ext cx="5669280" cy="320040"/>
          </a:xfrm>
          <a:prstGeom prst="rect">
            <a:avLst/>
          </a:prstGeom>
          <a:noFill/>
          <a:ln/>
        </p:spPr>
        <p:txBody>
          <a:bodyPr wrap="square" lIns="0" tIns="0" rIns="0" bIns="0" rtlCol="0" anchor="t"/>
          <a:lstStyle/>
          <a:p>
            <a:pPr marL="0" indent="0">
              <a:buNone/>
            </a:pPr>
            <a:r>
              <a:rPr lang="en-US" sz="1800" b="1" dirty="0">
                <a:solidFill>
                  <a:schemeClr val="tx2"/>
                </a:solidFill>
              </a:rPr>
              <a:t>Hard to see demand patterns</a:t>
            </a:r>
            <a:endParaRPr lang="en-US" sz="1800" dirty="0"/>
          </a:p>
        </p:txBody>
      </p:sp>
      <p:sp>
        <p:nvSpPr>
          <p:cNvPr id="30" name="Text 28"/>
          <p:cNvSpPr txBox="1"/>
          <p:nvPr/>
        </p:nvSpPr>
        <p:spPr>
          <a:xfrm>
            <a:off x="1371600" y="5632704"/>
            <a:ext cx="5669280" cy="292608"/>
          </a:xfrm>
          <a:prstGeom prst="rect">
            <a:avLst/>
          </a:prstGeom>
          <a:noFill/>
          <a:ln/>
        </p:spPr>
        <p:txBody>
          <a:bodyPr wrap="square" lIns="0" tIns="0" rIns="0" bIns="0" rtlCol="0" anchor="t"/>
          <a:lstStyle/>
          <a:p>
            <a:pPr marL="0" indent="0">
              <a:buNone/>
            </a:pPr>
            <a:r>
              <a:rPr lang="en-US" sz="1400" dirty="0">
                <a:solidFill>
                  <a:schemeClr val="accent4"/>
                </a:solidFill>
              </a:rPr>
              <a:t>Which skills, roles and regions lead is not visible in raw rows</a:t>
            </a:r>
            <a:endParaRPr lang="en-US" sz="1400" dirty="0"/>
          </a:p>
        </p:txBody>
      </p:sp>
      <p:sp>
        <p:nvSpPr>
          <p:cNvPr id="31" name="Solution panel"/>
          <p:cNvSpPr/>
          <p:nvPr/>
        </p:nvSpPr>
        <p:spPr>
          <a:xfrm>
            <a:off x="7498080" y="1463040"/>
            <a:ext cx="4160520" cy="4572000"/>
          </a:xfrm>
          <a:prstGeom prst="roundRect">
            <a:avLst>
              <a:gd name="adj" fmla="val 2637"/>
            </a:avLst>
          </a:prstGeom>
          <a:solidFill>
            <a:schemeClr val="tx2"/>
          </a:solidFill>
          <a:ln/>
        </p:spPr>
      </p:sp>
      <p:sp>
        <p:nvSpPr>
          <p:cNvPr id="32" name="Text 30"/>
          <p:cNvSpPr txBox="1"/>
          <p:nvPr/>
        </p:nvSpPr>
        <p:spPr>
          <a:xfrm>
            <a:off x="7772400" y="1645920"/>
            <a:ext cx="3657600" cy="365760"/>
          </a:xfrm>
          <a:prstGeom prst="rect">
            <a:avLst/>
          </a:prstGeom>
          <a:noFill/>
          <a:ln/>
        </p:spPr>
        <p:txBody>
          <a:bodyPr wrap="square" lIns="0" tIns="0" rIns="0" bIns="0" rtlCol="0" anchor="t"/>
          <a:lstStyle/>
          <a:p>
            <a:pPr marL="0" indent="0">
              <a:buNone/>
            </a:pPr>
            <a:r>
              <a:rPr lang="en-US" sz="1800" b="1" dirty="0">
                <a:solidFill>
                  <a:schemeClr val="bg1"/>
                </a:solidFill>
              </a:rPr>
              <a:t>Our answer: a repeatable pipeline</a:t>
            </a:r>
            <a:endParaRPr lang="en-US" sz="1800" dirty="0"/>
          </a:p>
        </p:txBody>
      </p:sp>
      <p:sp>
        <p:nvSpPr>
          <p:cNvPr id="33" name="Shape 31"/>
          <p:cNvSpPr/>
          <p:nvPr/>
        </p:nvSpPr>
        <p:spPr>
          <a:xfrm>
            <a:off x="7772400" y="2240280"/>
            <a:ext cx="3611880" cy="658368"/>
          </a:xfrm>
          <a:prstGeom prst="roundRect">
            <a:avLst>
              <a:gd name="adj" fmla="val 13889"/>
            </a:avLst>
          </a:prstGeom>
          <a:solidFill>
            <a:schemeClr val="accent1">
              <a:alpha val="25000"/>
            </a:schemeClr>
          </a:solidFill>
          <a:ln w="15875">
            <a:solidFill>
              <a:schemeClr val="accent1"/>
            </a:solidFill>
            <a:prstDash val="solid"/>
          </a:ln>
        </p:spPr>
      </p:sp>
      <p:sp>
        <p:nvSpPr>
          <p:cNvPr id="34" name="Text 32"/>
          <p:cNvSpPr txBox="1"/>
          <p:nvPr/>
        </p:nvSpPr>
        <p:spPr>
          <a:xfrm>
            <a:off x="7955280" y="2286000"/>
            <a:ext cx="3291840" cy="566928"/>
          </a:xfrm>
          <a:prstGeom prst="rect">
            <a:avLst/>
          </a:prstGeom>
          <a:noFill/>
          <a:ln/>
        </p:spPr>
        <p:txBody>
          <a:bodyPr wrap="square" lIns="0" tIns="0" rIns="0" bIns="0" rtlCol="0" anchor="ctr"/>
          <a:lstStyle/>
          <a:p>
            <a:pPr marL="0" indent="0">
              <a:buNone/>
            </a:pPr>
            <a:r>
              <a:rPr lang="en-US" sz="1500" b="1" dirty="0">
                <a:solidFill>
                  <a:schemeClr val="bg1"/>
                </a:solidFill>
              </a:rPr>
              <a:t>Ingest &amp; clean</a:t>
            </a:r>
            <a:endParaRPr lang="en-US" sz="1400" dirty="0"/>
          </a:p>
          <a:p>
            <a:pPr marL="0" indent="0">
              <a:buNone/>
            </a:pPr>
            <a:r>
              <a:rPr lang="en-US" sz="1200" dirty="0">
                <a:solidFill>
                  <a:srgbClr val="BFD3E6"/>
                </a:solidFill>
              </a:rPr>
              <a:t>HDFS</a:t>
            </a:r>
            <a:endParaRPr lang="en-US" sz="1400" dirty="0"/>
          </a:p>
        </p:txBody>
      </p:sp>
      <p:sp>
        <p:nvSpPr>
          <p:cNvPr id="35" name="Shape 33"/>
          <p:cNvSpPr/>
          <p:nvPr/>
        </p:nvSpPr>
        <p:spPr>
          <a:xfrm>
            <a:off x="9573768" y="2898648"/>
            <a:ext cx="0" cy="256032"/>
          </a:xfrm>
          <a:prstGeom prst="line">
            <a:avLst/>
          </a:prstGeom>
          <a:noFill/>
          <a:ln w="19050">
            <a:solidFill>
              <a:srgbClr val="9FB3C8"/>
            </a:solidFill>
            <a:prstDash val="solid"/>
            <a:tailEnd type="triangle"/>
          </a:ln>
        </p:spPr>
      </p:sp>
      <p:sp>
        <p:nvSpPr>
          <p:cNvPr id="36" name="Shape 34"/>
          <p:cNvSpPr/>
          <p:nvPr/>
        </p:nvSpPr>
        <p:spPr>
          <a:xfrm>
            <a:off x="7772400" y="3154680"/>
            <a:ext cx="3611880" cy="658368"/>
          </a:xfrm>
          <a:prstGeom prst="roundRect">
            <a:avLst>
              <a:gd name="adj" fmla="val 13889"/>
            </a:avLst>
          </a:prstGeom>
          <a:solidFill>
            <a:schemeClr val="accent1">
              <a:alpha val="25000"/>
            </a:schemeClr>
          </a:solidFill>
          <a:ln w="15875">
            <a:solidFill>
              <a:schemeClr val="accent1"/>
            </a:solidFill>
            <a:prstDash val="solid"/>
          </a:ln>
        </p:spPr>
      </p:sp>
      <p:sp>
        <p:nvSpPr>
          <p:cNvPr id="37" name="Text 35"/>
          <p:cNvSpPr txBox="1"/>
          <p:nvPr/>
        </p:nvSpPr>
        <p:spPr>
          <a:xfrm>
            <a:off x="7955280" y="3200400"/>
            <a:ext cx="3291840" cy="566928"/>
          </a:xfrm>
          <a:prstGeom prst="rect">
            <a:avLst/>
          </a:prstGeom>
          <a:noFill/>
          <a:ln/>
        </p:spPr>
        <p:txBody>
          <a:bodyPr wrap="square" lIns="0" tIns="0" rIns="0" bIns="0" rtlCol="0" anchor="ctr"/>
          <a:lstStyle/>
          <a:p>
            <a:pPr marL="0" indent="0">
              <a:buNone/>
            </a:pPr>
            <a:r>
              <a:rPr lang="en-US" sz="1500" b="1" dirty="0">
                <a:solidFill>
                  <a:schemeClr val="bg1"/>
                </a:solidFill>
              </a:rPr>
              <a:t>Transform &amp; normalize</a:t>
            </a:r>
            <a:endParaRPr lang="en-US" sz="1400" dirty="0"/>
          </a:p>
          <a:p>
            <a:pPr marL="0" indent="0">
              <a:buNone/>
            </a:pPr>
            <a:r>
              <a:rPr lang="en-US" sz="1200" dirty="0">
                <a:solidFill>
                  <a:srgbClr val="BFD3E6"/>
                </a:solidFill>
              </a:rPr>
              <a:t>Apache Pig</a:t>
            </a:r>
            <a:endParaRPr lang="en-US" sz="1400" dirty="0"/>
          </a:p>
        </p:txBody>
      </p:sp>
      <p:sp>
        <p:nvSpPr>
          <p:cNvPr id="38" name="Shape 36"/>
          <p:cNvSpPr/>
          <p:nvPr/>
        </p:nvSpPr>
        <p:spPr>
          <a:xfrm>
            <a:off x="9573768" y="3813048"/>
            <a:ext cx="0" cy="256032"/>
          </a:xfrm>
          <a:prstGeom prst="line">
            <a:avLst/>
          </a:prstGeom>
          <a:noFill/>
          <a:ln w="19050">
            <a:solidFill>
              <a:srgbClr val="9FB3C8"/>
            </a:solidFill>
            <a:prstDash val="solid"/>
            <a:tailEnd type="triangle"/>
          </a:ln>
        </p:spPr>
      </p:sp>
      <p:sp>
        <p:nvSpPr>
          <p:cNvPr id="39" name="Shape 37"/>
          <p:cNvSpPr/>
          <p:nvPr/>
        </p:nvSpPr>
        <p:spPr>
          <a:xfrm>
            <a:off x="7772400" y="4069080"/>
            <a:ext cx="3611880" cy="658368"/>
          </a:xfrm>
          <a:prstGeom prst="roundRect">
            <a:avLst>
              <a:gd name="adj" fmla="val 13889"/>
            </a:avLst>
          </a:prstGeom>
          <a:solidFill>
            <a:schemeClr val="accent1">
              <a:alpha val="25000"/>
            </a:schemeClr>
          </a:solidFill>
          <a:ln w="15875">
            <a:solidFill>
              <a:schemeClr val="accent1"/>
            </a:solidFill>
            <a:prstDash val="solid"/>
          </a:ln>
        </p:spPr>
      </p:sp>
      <p:sp>
        <p:nvSpPr>
          <p:cNvPr id="40" name="Text 38"/>
          <p:cNvSpPr txBox="1"/>
          <p:nvPr/>
        </p:nvSpPr>
        <p:spPr>
          <a:xfrm>
            <a:off x="7955280" y="4114800"/>
            <a:ext cx="3291840" cy="566928"/>
          </a:xfrm>
          <a:prstGeom prst="rect">
            <a:avLst/>
          </a:prstGeom>
          <a:noFill/>
          <a:ln/>
        </p:spPr>
        <p:txBody>
          <a:bodyPr wrap="square" lIns="0" tIns="0" rIns="0" bIns="0" rtlCol="0" anchor="ctr"/>
          <a:lstStyle/>
          <a:p>
            <a:pPr marL="0" indent="0">
              <a:buNone/>
            </a:pPr>
            <a:r>
              <a:rPr lang="en-US" sz="1500" b="1" dirty="0">
                <a:solidFill>
                  <a:schemeClr val="bg1"/>
                </a:solidFill>
              </a:rPr>
              <a:t>Query &amp; benchmark</a:t>
            </a:r>
            <a:endParaRPr lang="en-US" sz="1400" dirty="0"/>
          </a:p>
          <a:p>
            <a:pPr marL="0" indent="0">
              <a:buNone/>
            </a:pPr>
            <a:r>
              <a:rPr lang="en-US" sz="1200" dirty="0">
                <a:solidFill>
                  <a:srgbClr val="BFD3E6"/>
                </a:solidFill>
              </a:rPr>
              <a:t>Apache Hive</a:t>
            </a:r>
            <a:endParaRPr lang="en-US" sz="1400" dirty="0"/>
          </a:p>
        </p:txBody>
      </p:sp>
      <p:sp>
        <p:nvSpPr>
          <p:cNvPr id="41" name="Shape 39"/>
          <p:cNvSpPr/>
          <p:nvPr/>
        </p:nvSpPr>
        <p:spPr>
          <a:xfrm>
            <a:off x="9573768" y="4727448"/>
            <a:ext cx="0" cy="256032"/>
          </a:xfrm>
          <a:prstGeom prst="line">
            <a:avLst/>
          </a:prstGeom>
          <a:noFill/>
          <a:ln w="19050">
            <a:solidFill>
              <a:srgbClr val="9FB3C8"/>
            </a:solidFill>
            <a:prstDash val="solid"/>
            <a:tailEnd type="triangle"/>
          </a:ln>
        </p:spPr>
      </p:sp>
      <p:sp>
        <p:nvSpPr>
          <p:cNvPr id="42" name="Shape 40"/>
          <p:cNvSpPr/>
          <p:nvPr/>
        </p:nvSpPr>
        <p:spPr>
          <a:xfrm>
            <a:off x="7772400" y="4983480"/>
            <a:ext cx="3611880" cy="658368"/>
          </a:xfrm>
          <a:prstGeom prst="roundRect">
            <a:avLst>
              <a:gd name="adj" fmla="val 13889"/>
            </a:avLst>
          </a:prstGeom>
          <a:solidFill>
            <a:schemeClr val="accent1">
              <a:alpha val="25000"/>
            </a:schemeClr>
          </a:solidFill>
          <a:ln w="15875">
            <a:solidFill>
              <a:schemeClr val="accent1"/>
            </a:solidFill>
            <a:prstDash val="solid"/>
          </a:ln>
        </p:spPr>
      </p:sp>
      <p:sp>
        <p:nvSpPr>
          <p:cNvPr id="43" name="Text 41"/>
          <p:cNvSpPr txBox="1"/>
          <p:nvPr/>
        </p:nvSpPr>
        <p:spPr>
          <a:xfrm>
            <a:off x="7955280" y="5029200"/>
            <a:ext cx="3291840" cy="566928"/>
          </a:xfrm>
          <a:prstGeom prst="rect">
            <a:avLst/>
          </a:prstGeom>
          <a:noFill/>
          <a:ln/>
        </p:spPr>
        <p:txBody>
          <a:bodyPr wrap="square" lIns="0" tIns="0" rIns="0" bIns="0" rtlCol="0" anchor="ctr"/>
          <a:lstStyle/>
          <a:p>
            <a:pPr marL="0" indent="0">
              <a:buNone/>
            </a:pPr>
            <a:r>
              <a:rPr lang="en-US" sz="1500" b="1" dirty="0">
                <a:solidFill>
                  <a:schemeClr val="bg1"/>
                </a:solidFill>
              </a:rPr>
              <a:t>Explore &amp; present</a:t>
            </a:r>
            <a:endParaRPr lang="en-US" sz="1400" dirty="0"/>
          </a:p>
          <a:p>
            <a:pPr marL="0" indent="0">
              <a:buNone/>
            </a:pPr>
            <a:r>
              <a:rPr lang="en-US" sz="1200" dirty="0">
                <a:solidFill>
                  <a:srgbClr val="BFD3E6"/>
                </a:solidFill>
              </a:rPr>
              <a:t>Streamlit</a:t>
            </a:r>
            <a:endParaRPr lang="en-US" sz="1400" dirty="0"/>
          </a:p>
        </p:txBody>
      </p:sp>
      <p:sp>
        <p:nvSpPr>
          <p:cNvPr id="44" name="Slide Number Placeholder 0"/>
          <p:cNvSpPr>
            <a:spLocks noGrp="1"/>
          </p:cNvSpPr>
          <p:nvPr>
            <p:ph type="sldNum" sz="quarter" idx="4294967295"/>
          </p:nvPr>
        </p:nvSpPr>
        <p:spPr>
          <a:xfrm>
            <a:off x="10972800" y="6446520"/>
            <a:ext cx="64008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OBJECTIVES AND SCOPE</a:t>
            </a:r>
            <a:endParaRPr lang="en-US" sz="1200" dirty="0"/>
          </a:p>
        </p:txBody>
      </p:sp>
      <p:sp>
        <p:nvSpPr>
          <p:cNvPr id="3" name="Text 0"/>
          <p:cNvSpPr>
            <a:spLocks noGrp="1"/>
          </p:cNvSpPr>
          <p:nvPr>
            <p:ph type="title" idx="100" hasCustomPrompt="1"/>
          </p:nvPr>
        </p:nvSpPr>
        <p:spPr>
          <a:xfrm>
            <a:off x="548640" y="566928"/>
            <a:ext cx="9418320" cy="685800"/>
          </a:xfrm>
          <a:prstGeom prst="rect">
            <a:avLst/>
          </a:prstGeom>
          <a:noFill/>
          <a:ln/>
        </p:spPr>
        <p:txBody>
          <a:bodyPr wrap="square" lIns="0" tIns="0" rIns="0" bIns="0" rtlCol="0" anchor="ctr"/>
          <a:lstStyle/>
          <a:p>
            <a:pPr marL="0" indent="0" algn="l">
              <a:buNone/>
            </a:pPr>
            <a:r>
              <a:rPr lang="en-US" sz="3200" b="1" dirty="0">
                <a:solidFill>
                  <a:schemeClr val="tx2"/>
                </a:solidFill>
              </a:rPr>
              <a:t>Objectives and Scope</a:t>
            </a:r>
            <a:endParaRPr lang="en-US" sz="3200" dirty="0"/>
          </a:p>
        </p:txBody>
      </p:sp>
      <p:sp>
        <p:nvSpPr>
          <p:cNvPr id="6" name="Objective card"/>
          <p:cNvSpPr/>
          <p:nvPr/>
        </p:nvSpPr>
        <p:spPr>
          <a:xfrm>
            <a:off x="548640" y="1463040"/>
            <a:ext cx="3246120" cy="1389888"/>
          </a:xfrm>
          <a:prstGeom prst="roundRect">
            <a:avLst>
              <a:gd name="adj" fmla="val 5263"/>
            </a:avLst>
          </a:prstGeom>
          <a:solidFill>
            <a:schemeClr val="bg2"/>
          </a:solidFill>
          <a:ln/>
        </p:spPr>
      </p:sp>
      <p:sp>
        <p:nvSpPr>
          <p:cNvPr id="7" name="Shape 5"/>
          <p:cNvSpPr/>
          <p:nvPr/>
        </p:nvSpPr>
        <p:spPr>
          <a:xfrm>
            <a:off x="731520" y="1645920"/>
            <a:ext cx="457200" cy="457200"/>
          </a:xfrm>
          <a:prstGeom prst="ellipse">
            <a:avLst/>
          </a:prstGeom>
          <a:solidFill>
            <a:schemeClr val="accent1"/>
          </a:solidFill>
          <a:ln/>
        </p:spPr>
      </p:sp>
      <p:sp>
        <p:nvSpPr>
          <p:cNvPr id="8" name="Text 6"/>
          <p:cNvSpPr txBox="1"/>
          <p:nvPr/>
        </p:nvSpPr>
        <p:spPr>
          <a:xfrm>
            <a:off x="731520" y="16459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9" name="Text 7"/>
          <p:cNvSpPr txBox="1"/>
          <p:nvPr/>
        </p:nvSpPr>
        <p:spPr>
          <a:xfrm>
            <a:off x="731520" y="2194560"/>
            <a:ext cx="2880360" cy="594360"/>
          </a:xfrm>
          <a:prstGeom prst="rect">
            <a:avLst/>
          </a:prstGeom>
          <a:noFill/>
          <a:ln/>
        </p:spPr>
        <p:txBody>
          <a:bodyPr wrap="square" lIns="0" tIns="0" rIns="0" bIns="0" rtlCol="0" anchor="t"/>
          <a:lstStyle/>
          <a:p>
            <a:pPr marL="0" indent="0">
              <a:buNone/>
            </a:pPr>
            <a:r>
              <a:rPr lang="en-US" sz="1600" b="1" dirty="0">
                <a:solidFill>
                  <a:schemeClr val="tx2"/>
                </a:solidFill>
              </a:rPr>
              <a:t>Process ~97,900 job postings</a:t>
            </a:r>
            <a:endParaRPr lang="en-US" sz="1600" dirty="0"/>
          </a:p>
        </p:txBody>
      </p:sp>
      <p:sp>
        <p:nvSpPr>
          <p:cNvPr id="10" name="Objective card"/>
          <p:cNvSpPr/>
          <p:nvPr/>
        </p:nvSpPr>
        <p:spPr>
          <a:xfrm>
            <a:off x="3977640" y="1463040"/>
            <a:ext cx="3246120" cy="1389888"/>
          </a:xfrm>
          <a:prstGeom prst="roundRect">
            <a:avLst>
              <a:gd name="adj" fmla="val 5263"/>
            </a:avLst>
          </a:prstGeom>
          <a:solidFill>
            <a:schemeClr val="bg2"/>
          </a:solidFill>
          <a:ln/>
        </p:spPr>
      </p:sp>
      <p:sp>
        <p:nvSpPr>
          <p:cNvPr id="11" name="Shape 9"/>
          <p:cNvSpPr/>
          <p:nvPr/>
        </p:nvSpPr>
        <p:spPr>
          <a:xfrm>
            <a:off x="4160520" y="1645920"/>
            <a:ext cx="457200" cy="457200"/>
          </a:xfrm>
          <a:prstGeom prst="ellipse">
            <a:avLst/>
          </a:prstGeom>
          <a:solidFill>
            <a:schemeClr val="accent1"/>
          </a:solidFill>
          <a:ln/>
        </p:spPr>
      </p:sp>
      <p:sp>
        <p:nvSpPr>
          <p:cNvPr id="12" name="Text 10"/>
          <p:cNvSpPr txBox="1"/>
          <p:nvPr/>
        </p:nvSpPr>
        <p:spPr>
          <a:xfrm>
            <a:off x="4160520" y="16459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3" name="Text 11"/>
          <p:cNvSpPr txBox="1"/>
          <p:nvPr/>
        </p:nvSpPr>
        <p:spPr>
          <a:xfrm>
            <a:off x="4160520" y="2194560"/>
            <a:ext cx="2880360" cy="594360"/>
          </a:xfrm>
          <a:prstGeom prst="rect">
            <a:avLst/>
          </a:prstGeom>
          <a:noFill/>
          <a:ln/>
        </p:spPr>
        <p:txBody>
          <a:bodyPr wrap="square" lIns="0" tIns="0" rIns="0" bIns="0" rtlCol="0" anchor="t"/>
          <a:lstStyle/>
          <a:p>
            <a:pPr marL="0" indent="0">
              <a:buNone/>
            </a:pPr>
            <a:r>
              <a:rPr lang="en-US" sz="1600" b="1" dirty="0">
                <a:solidFill>
                  <a:schemeClr val="tx2"/>
                </a:solidFill>
              </a:rPr>
              <a:t>Clean and validate the raw data</a:t>
            </a:r>
            <a:endParaRPr lang="en-US" sz="1600" dirty="0"/>
          </a:p>
        </p:txBody>
      </p:sp>
      <p:sp>
        <p:nvSpPr>
          <p:cNvPr id="14" name="Objective card"/>
          <p:cNvSpPr/>
          <p:nvPr/>
        </p:nvSpPr>
        <p:spPr>
          <a:xfrm>
            <a:off x="548640" y="3035808"/>
            <a:ext cx="3246120" cy="1389888"/>
          </a:xfrm>
          <a:prstGeom prst="roundRect">
            <a:avLst>
              <a:gd name="adj" fmla="val 5263"/>
            </a:avLst>
          </a:prstGeom>
          <a:solidFill>
            <a:schemeClr val="bg2"/>
          </a:solidFill>
          <a:ln/>
        </p:spPr>
      </p:sp>
      <p:sp>
        <p:nvSpPr>
          <p:cNvPr id="15" name="Shape 13"/>
          <p:cNvSpPr/>
          <p:nvPr/>
        </p:nvSpPr>
        <p:spPr>
          <a:xfrm>
            <a:off x="731520" y="3218688"/>
            <a:ext cx="457200" cy="457200"/>
          </a:xfrm>
          <a:prstGeom prst="ellipse">
            <a:avLst/>
          </a:prstGeom>
          <a:solidFill>
            <a:schemeClr val="accent1"/>
          </a:solidFill>
          <a:ln/>
        </p:spPr>
      </p:sp>
      <p:sp>
        <p:nvSpPr>
          <p:cNvPr id="16" name="Text 14"/>
          <p:cNvSpPr txBox="1"/>
          <p:nvPr/>
        </p:nvSpPr>
        <p:spPr>
          <a:xfrm>
            <a:off x="731520" y="321868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7" name="Text 15"/>
          <p:cNvSpPr txBox="1"/>
          <p:nvPr/>
        </p:nvSpPr>
        <p:spPr>
          <a:xfrm>
            <a:off x="731520" y="3767328"/>
            <a:ext cx="2880360" cy="594360"/>
          </a:xfrm>
          <a:prstGeom prst="rect">
            <a:avLst/>
          </a:prstGeom>
          <a:noFill/>
          <a:ln/>
        </p:spPr>
        <p:txBody>
          <a:bodyPr wrap="square" lIns="0" tIns="0" rIns="0" bIns="0" rtlCol="0" anchor="t"/>
          <a:lstStyle/>
          <a:p>
            <a:pPr marL="0" indent="0">
              <a:buNone/>
            </a:pPr>
            <a:r>
              <a:rPr lang="en-US" sz="1600" b="1" dirty="0">
                <a:solidFill>
                  <a:schemeClr val="tx2"/>
                </a:solidFill>
              </a:rPr>
              <a:t>Transform and normalize records</a:t>
            </a:r>
            <a:endParaRPr lang="en-US" sz="1600" dirty="0"/>
          </a:p>
        </p:txBody>
      </p:sp>
      <p:sp>
        <p:nvSpPr>
          <p:cNvPr id="18" name="Objective card"/>
          <p:cNvSpPr/>
          <p:nvPr/>
        </p:nvSpPr>
        <p:spPr>
          <a:xfrm>
            <a:off x="3977640" y="3035808"/>
            <a:ext cx="3246120" cy="1389888"/>
          </a:xfrm>
          <a:prstGeom prst="roundRect">
            <a:avLst>
              <a:gd name="adj" fmla="val 5263"/>
            </a:avLst>
          </a:prstGeom>
          <a:solidFill>
            <a:schemeClr val="bg2"/>
          </a:solidFill>
          <a:ln/>
        </p:spPr>
      </p:sp>
      <p:sp>
        <p:nvSpPr>
          <p:cNvPr id="19" name="Shape 17"/>
          <p:cNvSpPr/>
          <p:nvPr/>
        </p:nvSpPr>
        <p:spPr>
          <a:xfrm>
            <a:off x="4160520" y="3218688"/>
            <a:ext cx="457200" cy="457200"/>
          </a:xfrm>
          <a:prstGeom prst="ellipse">
            <a:avLst/>
          </a:prstGeom>
          <a:solidFill>
            <a:schemeClr val="accent1"/>
          </a:solidFill>
          <a:ln/>
        </p:spPr>
      </p:sp>
      <p:sp>
        <p:nvSpPr>
          <p:cNvPr id="20" name="Text 18"/>
          <p:cNvSpPr txBox="1"/>
          <p:nvPr/>
        </p:nvSpPr>
        <p:spPr>
          <a:xfrm>
            <a:off x="4160520" y="321868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1" name="Text 19"/>
          <p:cNvSpPr txBox="1"/>
          <p:nvPr/>
        </p:nvSpPr>
        <p:spPr>
          <a:xfrm>
            <a:off x="4160520" y="3767328"/>
            <a:ext cx="2880360" cy="594360"/>
          </a:xfrm>
          <a:prstGeom prst="rect">
            <a:avLst/>
          </a:prstGeom>
          <a:noFill/>
          <a:ln/>
        </p:spPr>
        <p:txBody>
          <a:bodyPr wrap="square" lIns="0" tIns="0" rIns="0" bIns="0" rtlCol="0" anchor="t"/>
          <a:lstStyle/>
          <a:p>
            <a:pPr marL="0" indent="0">
              <a:buNone/>
            </a:pPr>
            <a:r>
              <a:rPr lang="en-US" sz="1600" b="1" dirty="0">
                <a:solidFill>
                  <a:schemeClr val="tx2"/>
                </a:solidFill>
              </a:rPr>
              <a:t>Measure demand by skill, role and location</a:t>
            </a:r>
            <a:endParaRPr lang="en-US" sz="1600" dirty="0"/>
          </a:p>
        </p:txBody>
      </p:sp>
      <p:sp>
        <p:nvSpPr>
          <p:cNvPr id="22" name="Objective card"/>
          <p:cNvSpPr/>
          <p:nvPr/>
        </p:nvSpPr>
        <p:spPr>
          <a:xfrm>
            <a:off x="548640" y="4608576"/>
            <a:ext cx="3246120" cy="1389888"/>
          </a:xfrm>
          <a:prstGeom prst="roundRect">
            <a:avLst>
              <a:gd name="adj" fmla="val 5263"/>
            </a:avLst>
          </a:prstGeom>
          <a:solidFill>
            <a:schemeClr val="bg2"/>
          </a:solidFill>
          <a:ln/>
        </p:spPr>
      </p:sp>
      <p:sp>
        <p:nvSpPr>
          <p:cNvPr id="23" name="Shape 21"/>
          <p:cNvSpPr/>
          <p:nvPr/>
        </p:nvSpPr>
        <p:spPr>
          <a:xfrm>
            <a:off x="731520" y="4791456"/>
            <a:ext cx="457200" cy="457200"/>
          </a:xfrm>
          <a:prstGeom prst="ellipse">
            <a:avLst/>
          </a:prstGeom>
          <a:solidFill>
            <a:schemeClr val="accent1"/>
          </a:solidFill>
          <a:ln/>
        </p:spPr>
      </p:sp>
      <p:sp>
        <p:nvSpPr>
          <p:cNvPr id="24" name="Text 22"/>
          <p:cNvSpPr txBox="1"/>
          <p:nvPr/>
        </p:nvSpPr>
        <p:spPr>
          <a:xfrm>
            <a:off x="731520" y="4791456"/>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5" name="Text 23"/>
          <p:cNvSpPr txBox="1"/>
          <p:nvPr/>
        </p:nvSpPr>
        <p:spPr>
          <a:xfrm>
            <a:off x="731520" y="5340096"/>
            <a:ext cx="2880360" cy="594360"/>
          </a:xfrm>
          <a:prstGeom prst="rect">
            <a:avLst/>
          </a:prstGeom>
          <a:noFill/>
          <a:ln/>
        </p:spPr>
        <p:txBody>
          <a:bodyPr wrap="square" lIns="0" tIns="0" rIns="0" bIns="0" rtlCol="0" anchor="t"/>
          <a:lstStyle/>
          <a:p>
            <a:pPr marL="0" indent="0">
              <a:buNone/>
            </a:pPr>
            <a:r>
              <a:rPr lang="en-US" sz="1600" b="1" dirty="0">
                <a:solidFill>
                  <a:schemeClr val="tx2"/>
                </a:solidFill>
              </a:rPr>
              <a:t>Analyze salary where disclosed</a:t>
            </a:r>
            <a:endParaRPr lang="en-US" sz="1600" dirty="0"/>
          </a:p>
        </p:txBody>
      </p:sp>
      <p:sp>
        <p:nvSpPr>
          <p:cNvPr id="26" name="Objective card"/>
          <p:cNvSpPr/>
          <p:nvPr/>
        </p:nvSpPr>
        <p:spPr>
          <a:xfrm>
            <a:off x="3977640" y="4608576"/>
            <a:ext cx="3246120" cy="1389888"/>
          </a:xfrm>
          <a:prstGeom prst="roundRect">
            <a:avLst>
              <a:gd name="adj" fmla="val 5263"/>
            </a:avLst>
          </a:prstGeom>
          <a:solidFill>
            <a:schemeClr val="bg2"/>
          </a:solidFill>
          <a:ln/>
        </p:spPr>
      </p:sp>
      <p:sp>
        <p:nvSpPr>
          <p:cNvPr id="27" name="Shape 25"/>
          <p:cNvSpPr/>
          <p:nvPr/>
        </p:nvSpPr>
        <p:spPr>
          <a:xfrm>
            <a:off x="4160520" y="4791456"/>
            <a:ext cx="457200" cy="457200"/>
          </a:xfrm>
          <a:prstGeom prst="ellipse">
            <a:avLst/>
          </a:prstGeom>
          <a:solidFill>
            <a:schemeClr val="accent1"/>
          </a:solidFill>
          <a:ln/>
        </p:spPr>
      </p:sp>
      <p:sp>
        <p:nvSpPr>
          <p:cNvPr id="28" name="Text 26"/>
          <p:cNvSpPr txBox="1"/>
          <p:nvPr/>
        </p:nvSpPr>
        <p:spPr>
          <a:xfrm>
            <a:off x="4160520" y="4791456"/>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29" name="Text 27"/>
          <p:cNvSpPr txBox="1"/>
          <p:nvPr/>
        </p:nvSpPr>
        <p:spPr>
          <a:xfrm>
            <a:off x="4160520" y="5340096"/>
            <a:ext cx="2880360" cy="594360"/>
          </a:xfrm>
          <a:prstGeom prst="rect">
            <a:avLst/>
          </a:prstGeom>
          <a:noFill/>
          <a:ln/>
        </p:spPr>
        <p:txBody>
          <a:bodyPr wrap="square" lIns="0" tIns="0" rIns="0" bIns="0" rtlCol="0" anchor="t"/>
          <a:lstStyle/>
          <a:p>
            <a:pPr marL="0" indent="0">
              <a:buNone/>
            </a:pPr>
            <a:r>
              <a:rPr lang="en-US" sz="1600" b="1" dirty="0">
                <a:solidFill>
                  <a:schemeClr val="tx2"/>
                </a:solidFill>
              </a:rPr>
              <a:t>Provide interactive visual insights</a:t>
            </a:r>
            <a:endParaRPr lang="en-US" sz="1600" dirty="0"/>
          </a:p>
        </p:txBody>
      </p:sp>
      <p:sp>
        <p:nvSpPr>
          <p:cNvPr id="30" name="Supported"/>
          <p:cNvSpPr/>
          <p:nvPr/>
        </p:nvSpPr>
        <p:spPr>
          <a:xfrm>
            <a:off x="7589520" y="1463040"/>
            <a:ext cx="4069080" cy="2148840"/>
          </a:xfrm>
          <a:prstGeom prst="roundRect">
            <a:avLst>
              <a:gd name="adj" fmla="val 3404"/>
            </a:avLst>
          </a:prstGeom>
          <a:solidFill>
            <a:schemeClr val="accent6">
              <a:alpha val="12000"/>
            </a:schemeClr>
          </a:solidFill>
          <a:ln w="15875">
            <a:solidFill>
              <a:schemeClr val="accent6"/>
            </a:solidFill>
            <a:prstDash val="solid"/>
          </a:ln>
        </p:spPr>
      </p:sp>
      <p:sp>
        <p:nvSpPr>
          <p:cNvPr id="31" name="Text 29"/>
          <p:cNvSpPr txBox="1"/>
          <p:nvPr/>
        </p:nvSpPr>
        <p:spPr>
          <a:xfrm>
            <a:off x="7772400" y="1572768"/>
            <a:ext cx="3657600" cy="320040"/>
          </a:xfrm>
          <a:prstGeom prst="rect">
            <a:avLst/>
          </a:prstGeom>
          <a:noFill/>
          <a:ln/>
        </p:spPr>
        <p:txBody>
          <a:bodyPr wrap="square" lIns="0" tIns="0" rIns="0" bIns="0" rtlCol="0" anchor="t"/>
          <a:lstStyle/>
          <a:p>
            <a:pPr marL="0" indent="0">
              <a:buNone/>
            </a:pPr>
            <a:r>
              <a:rPr lang="en-US" sz="1600" b="1" dirty="0">
                <a:solidFill>
                  <a:schemeClr val="accent6"/>
                </a:solidFill>
              </a:rPr>
              <a:t>Supported analyses</a:t>
            </a:r>
            <a:endParaRPr lang="en-US" sz="1600" dirty="0"/>
          </a:p>
        </p:txBody>
      </p:sp>
      <p:sp>
        <p:nvSpPr>
          <p:cNvPr id="32" name="Text 30"/>
          <p:cNvSpPr txBox="1"/>
          <p:nvPr/>
        </p:nvSpPr>
        <p:spPr>
          <a:xfrm>
            <a:off x="7772400" y="1965960"/>
            <a:ext cx="3703320" cy="15544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Skill, role and location rankings</a:t>
            </a:r>
            <a:endParaRPr lang="en-US" sz="1400" dirty="0"/>
          </a:p>
          <a:p>
            <a:pPr marL="342900" indent="-342900">
              <a:spcAft>
                <a:spcPts val="400"/>
              </a:spcAft>
              <a:buSzPct val="100000"/>
              <a:buChar char="•"/>
            </a:pPr>
            <a:r>
              <a:rPr lang="en-US" sz="1400" dirty="0">
                <a:solidFill>
                  <a:schemeClr val="tx1"/>
                </a:solidFill>
              </a:rPr>
              <a:t>Disclosed-salary statistics</a:t>
            </a:r>
            <a:endParaRPr lang="en-US" sz="1400" dirty="0"/>
          </a:p>
          <a:p>
            <a:pPr marL="342900" indent="-342900">
              <a:spcAft>
                <a:spcPts val="400"/>
              </a:spcAft>
              <a:buSzPct val="100000"/>
              <a:buChar char="•"/>
            </a:pPr>
            <a:r>
              <a:rPr lang="en-US" sz="1400" dirty="0">
                <a:solidFill>
                  <a:schemeClr val="tx1"/>
                </a:solidFill>
              </a:rPr>
              <a:t>Experience-bucket breakdowns</a:t>
            </a:r>
            <a:endParaRPr lang="en-US" sz="1400" dirty="0"/>
          </a:p>
          <a:p>
            <a:pPr marL="342900" indent="-342900">
              <a:spcAft>
                <a:spcPts val="400"/>
              </a:spcAft>
              <a:buSzPct val="100000"/>
              <a:buChar char="•"/>
            </a:pPr>
            <a:r>
              <a:rPr lang="en-US" sz="1400" dirty="0">
                <a:solidFill>
                  <a:schemeClr val="tx1"/>
                </a:solidFill>
              </a:rPr>
              <a:t>Posting counts by recency category</a:t>
            </a:r>
            <a:endParaRPr lang="en-US" sz="1400" dirty="0"/>
          </a:p>
        </p:txBody>
      </p:sp>
      <p:sp>
        <p:nvSpPr>
          <p:cNvPr id="33" name="Not supported"/>
          <p:cNvSpPr/>
          <p:nvPr/>
        </p:nvSpPr>
        <p:spPr>
          <a:xfrm>
            <a:off x="7589520" y="3794760"/>
            <a:ext cx="4069080" cy="2240280"/>
          </a:xfrm>
          <a:prstGeom prst="roundRect">
            <a:avLst>
              <a:gd name="adj" fmla="val 3265"/>
            </a:avLst>
          </a:prstGeom>
          <a:solidFill>
            <a:schemeClr val="accent5">
              <a:alpha val="10000"/>
            </a:schemeClr>
          </a:solidFill>
          <a:ln w="15875">
            <a:solidFill>
              <a:schemeClr val="accent5"/>
            </a:solidFill>
            <a:prstDash val="solid"/>
          </a:ln>
        </p:spPr>
      </p:sp>
      <p:sp>
        <p:nvSpPr>
          <p:cNvPr id="34" name="Text 32"/>
          <p:cNvSpPr txBox="1"/>
          <p:nvPr/>
        </p:nvSpPr>
        <p:spPr>
          <a:xfrm>
            <a:off x="7772400" y="3904488"/>
            <a:ext cx="3657600" cy="320040"/>
          </a:xfrm>
          <a:prstGeom prst="rect">
            <a:avLst/>
          </a:prstGeom>
          <a:noFill/>
          <a:ln/>
        </p:spPr>
        <p:txBody>
          <a:bodyPr wrap="square" lIns="0" tIns="0" rIns="0" bIns="0" rtlCol="0" anchor="t"/>
          <a:lstStyle/>
          <a:p>
            <a:pPr marL="0" indent="0">
              <a:buNone/>
            </a:pPr>
            <a:r>
              <a:rPr lang="en-US" sz="1600" b="1" dirty="0">
                <a:solidFill>
                  <a:schemeClr val="accent5"/>
                </a:solidFill>
              </a:rPr>
              <a:t>Not supported by this data</a:t>
            </a:r>
            <a:endParaRPr lang="en-US" sz="1600" dirty="0"/>
          </a:p>
        </p:txBody>
      </p:sp>
      <p:sp>
        <p:nvSpPr>
          <p:cNvPr id="35" name="Text 33"/>
          <p:cNvSpPr txBox="1"/>
          <p:nvPr/>
        </p:nvSpPr>
        <p:spPr>
          <a:xfrm>
            <a:off x="7772400" y="4297680"/>
            <a:ext cx="3703320" cy="16459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Year-over-year skill growth (2024 to 2026)</a:t>
            </a:r>
            <a:endParaRPr lang="en-US" sz="1400" dirty="0"/>
          </a:p>
          <a:p>
            <a:pPr marL="342900" indent="-342900">
              <a:spcAft>
                <a:spcPts val="400"/>
              </a:spcAft>
              <a:buSzPct val="100000"/>
              <a:buChar char="•"/>
            </a:pPr>
            <a:r>
              <a:rPr lang="en-US" sz="1400" dirty="0">
                <a:solidFill>
                  <a:schemeClr val="tx1"/>
                </a:solidFill>
              </a:rPr>
              <a:t>Calendar time-trend lines</a:t>
            </a:r>
            <a:endParaRPr lang="en-US" sz="1400" dirty="0"/>
          </a:p>
          <a:p>
            <a:pPr marL="342900" indent="-342900">
              <a:spcAft>
                <a:spcPts val="400"/>
              </a:spcAft>
              <a:buSzPct val="100000"/>
              <a:buChar char="•"/>
            </a:pPr>
            <a:r>
              <a:rPr lang="en-US" sz="1400" dirty="0">
                <a:solidFill>
                  <a:schemeClr val="tx1"/>
                </a:solidFill>
              </a:rPr>
              <a:t>Calling a skill "emerging" from popularity alone</a:t>
            </a:r>
            <a:endParaRPr lang="en-US" sz="1400" dirty="0"/>
          </a:p>
        </p:txBody>
      </p:sp>
      <p:sp>
        <p:nvSpPr>
          <p:cNvPr id="36" name="Slide Number Placeholder 0"/>
          <p:cNvSpPr>
            <a:spLocks noGrp="1"/>
          </p:cNvSpPr>
          <p:nvPr>
            <p:ph type="sldNum" sz="quarter" idx="4294967295"/>
          </p:nvPr>
        </p:nvSpPr>
        <p:spPr>
          <a:xfrm>
            <a:off x="10972800" y="6446520"/>
            <a:ext cx="64008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DATASET</a:t>
            </a:r>
            <a:endParaRPr lang="en-US" sz="1200" dirty="0"/>
          </a:p>
        </p:txBody>
      </p:sp>
      <p:sp>
        <p:nvSpPr>
          <p:cNvPr id="3" name="Text 0"/>
          <p:cNvSpPr>
            <a:spLocks noGrp="1"/>
          </p:cNvSpPr>
          <p:nvPr>
            <p:ph type="title" idx="100" hasCustomPrompt="1"/>
          </p:nvPr>
        </p:nvSpPr>
        <p:spPr>
          <a:xfrm>
            <a:off x="548640" y="566928"/>
            <a:ext cx="9418320" cy="685800"/>
          </a:xfrm>
          <a:prstGeom prst="rect">
            <a:avLst/>
          </a:prstGeom>
          <a:noFill/>
          <a:ln/>
        </p:spPr>
        <p:txBody>
          <a:bodyPr wrap="square" lIns="0" tIns="0" rIns="0" bIns="0" rtlCol="0" anchor="ctr"/>
          <a:lstStyle/>
          <a:p>
            <a:pPr marL="0" indent="0" algn="l">
              <a:buNone/>
            </a:pPr>
            <a:r>
              <a:rPr lang="en-US" sz="3200" b="1" dirty="0">
                <a:solidFill>
                  <a:schemeClr val="tx2"/>
                </a:solidFill>
              </a:rPr>
              <a:t>Dataset Overview and Schema</a:t>
            </a:r>
            <a:endParaRPr lang="en-US" sz="3200" dirty="0"/>
          </a:p>
        </p:txBody>
      </p:sp>
      <p:sp>
        <p:nvSpPr>
          <p:cNvPr id="6" name="Stat card"/>
          <p:cNvSpPr/>
          <p:nvPr/>
        </p:nvSpPr>
        <p:spPr>
          <a:xfrm>
            <a:off x="548640" y="1463040"/>
            <a:ext cx="2926080" cy="1371600"/>
          </a:xfrm>
          <a:prstGeom prst="roundRect">
            <a:avLst>
              <a:gd name="adj" fmla="val 5333"/>
            </a:avLst>
          </a:prstGeom>
          <a:solidFill>
            <a:schemeClr val="tx2"/>
          </a:solidFill>
          <a:ln/>
        </p:spPr>
      </p:sp>
      <p:sp>
        <p:nvSpPr>
          <p:cNvPr id="7" name="Text 5"/>
          <p:cNvSpPr txBox="1"/>
          <p:nvPr/>
        </p:nvSpPr>
        <p:spPr>
          <a:xfrm>
            <a:off x="685800" y="1572768"/>
            <a:ext cx="2651760" cy="731520"/>
          </a:xfrm>
          <a:prstGeom prst="rect">
            <a:avLst/>
          </a:prstGeom>
          <a:noFill/>
          <a:ln/>
        </p:spPr>
        <p:txBody>
          <a:bodyPr wrap="square" lIns="0" tIns="0" rIns="0" bIns="0" rtlCol="0" anchor="ctr"/>
          <a:lstStyle/>
          <a:p>
            <a:pPr marL="0" indent="0">
              <a:buNone/>
            </a:pPr>
            <a:r>
              <a:rPr lang="en-US" sz="4000" b="1" dirty="0">
                <a:solidFill>
                  <a:schemeClr val="bg1"/>
                </a:solidFill>
                <a:latin typeface="Cambria" pitchFamily="34" charset="0"/>
                <a:ea typeface="Cambria" pitchFamily="34" charset="-122"/>
                <a:cs typeface="Cambria" pitchFamily="34" charset="-120"/>
              </a:rPr>
              <a:t>~97,900</a:t>
            </a:r>
            <a:endParaRPr lang="en-US" sz="4000" dirty="0"/>
          </a:p>
        </p:txBody>
      </p:sp>
      <p:sp>
        <p:nvSpPr>
          <p:cNvPr id="8" name="Text 6"/>
          <p:cNvSpPr txBox="1"/>
          <p:nvPr/>
        </p:nvSpPr>
        <p:spPr>
          <a:xfrm>
            <a:off x="685800" y="2331720"/>
            <a:ext cx="2651760" cy="365760"/>
          </a:xfrm>
          <a:prstGeom prst="rect">
            <a:avLst/>
          </a:prstGeom>
          <a:noFill/>
          <a:ln/>
        </p:spPr>
        <p:txBody>
          <a:bodyPr wrap="square" lIns="0" tIns="0" rIns="0" bIns="0" rtlCol="0" anchor="t"/>
          <a:lstStyle/>
          <a:p>
            <a:pPr marL="0" indent="0">
              <a:buNone/>
            </a:pPr>
            <a:r>
              <a:rPr lang="en-US" sz="1400" dirty="0">
                <a:solidFill>
                  <a:srgbClr val="BFD3E6"/>
                </a:solidFill>
              </a:rPr>
              <a:t>job postings</a:t>
            </a:r>
            <a:endParaRPr lang="en-US" sz="1400" dirty="0"/>
          </a:p>
        </p:txBody>
      </p:sp>
      <p:sp>
        <p:nvSpPr>
          <p:cNvPr id="9" name="Stat card"/>
          <p:cNvSpPr/>
          <p:nvPr/>
        </p:nvSpPr>
        <p:spPr>
          <a:xfrm>
            <a:off x="548640" y="3017520"/>
            <a:ext cx="2926080" cy="1371600"/>
          </a:xfrm>
          <a:prstGeom prst="roundRect">
            <a:avLst>
              <a:gd name="adj" fmla="val 5333"/>
            </a:avLst>
          </a:prstGeom>
          <a:solidFill>
            <a:schemeClr val="tx2"/>
          </a:solidFill>
          <a:ln/>
        </p:spPr>
      </p:sp>
      <p:sp>
        <p:nvSpPr>
          <p:cNvPr id="10" name="Text 8"/>
          <p:cNvSpPr txBox="1"/>
          <p:nvPr/>
        </p:nvSpPr>
        <p:spPr>
          <a:xfrm>
            <a:off x="685800" y="3127248"/>
            <a:ext cx="2651760" cy="731520"/>
          </a:xfrm>
          <a:prstGeom prst="rect">
            <a:avLst/>
          </a:prstGeom>
          <a:noFill/>
          <a:ln/>
        </p:spPr>
        <p:txBody>
          <a:bodyPr wrap="square" lIns="0" tIns="0" rIns="0" bIns="0" rtlCol="0" anchor="ctr"/>
          <a:lstStyle/>
          <a:p>
            <a:pPr marL="0" indent="0">
              <a:buNone/>
            </a:pPr>
            <a:r>
              <a:rPr lang="en-US" sz="4000" b="1" dirty="0">
                <a:solidFill>
                  <a:schemeClr val="bg1"/>
                </a:solidFill>
                <a:latin typeface="Cambria" pitchFamily="34" charset="0"/>
                <a:ea typeface="Cambria" pitchFamily="34" charset="-122"/>
                <a:cs typeface="Cambria" pitchFamily="34" charset="-120"/>
              </a:rPr>
              <a:t>17</a:t>
            </a:r>
            <a:endParaRPr lang="en-US" sz="4000" dirty="0"/>
          </a:p>
        </p:txBody>
      </p:sp>
      <p:sp>
        <p:nvSpPr>
          <p:cNvPr id="11" name="Text 9"/>
          <p:cNvSpPr txBox="1"/>
          <p:nvPr/>
        </p:nvSpPr>
        <p:spPr>
          <a:xfrm>
            <a:off x="685800" y="3886200"/>
            <a:ext cx="2651760" cy="365760"/>
          </a:xfrm>
          <a:prstGeom prst="rect">
            <a:avLst/>
          </a:prstGeom>
          <a:noFill/>
          <a:ln/>
        </p:spPr>
        <p:txBody>
          <a:bodyPr wrap="square" lIns="0" tIns="0" rIns="0" bIns="0" rtlCol="0" anchor="t"/>
          <a:lstStyle/>
          <a:p>
            <a:pPr marL="0" indent="0">
              <a:buNone/>
            </a:pPr>
            <a:r>
              <a:rPr lang="en-US" sz="1400" dirty="0">
                <a:solidFill>
                  <a:srgbClr val="BFD3E6"/>
                </a:solidFill>
              </a:rPr>
              <a:t>raw fields</a:t>
            </a:r>
            <a:endParaRPr lang="en-US" sz="1400" dirty="0"/>
          </a:p>
        </p:txBody>
      </p:sp>
      <p:sp>
        <p:nvSpPr>
          <p:cNvPr id="12" name="Stat card"/>
          <p:cNvSpPr/>
          <p:nvPr/>
        </p:nvSpPr>
        <p:spPr>
          <a:xfrm>
            <a:off x="548640" y="4572000"/>
            <a:ext cx="2926080" cy="1371600"/>
          </a:xfrm>
          <a:prstGeom prst="roundRect">
            <a:avLst>
              <a:gd name="adj" fmla="val 5333"/>
            </a:avLst>
          </a:prstGeom>
          <a:solidFill>
            <a:schemeClr val="tx2"/>
          </a:solidFill>
          <a:ln/>
        </p:spPr>
      </p:sp>
      <p:sp>
        <p:nvSpPr>
          <p:cNvPr id="13" name="Text 11"/>
          <p:cNvSpPr txBox="1"/>
          <p:nvPr/>
        </p:nvSpPr>
        <p:spPr>
          <a:xfrm>
            <a:off x="685800" y="4681728"/>
            <a:ext cx="2651760" cy="731520"/>
          </a:xfrm>
          <a:prstGeom prst="rect">
            <a:avLst/>
          </a:prstGeom>
          <a:noFill/>
          <a:ln/>
        </p:spPr>
        <p:txBody>
          <a:bodyPr wrap="square" lIns="0" tIns="0" rIns="0" bIns="0" rtlCol="0" anchor="ctr"/>
          <a:lstStyle/>
          <a:p>
            <a:pPr marL="0" indent="0">
              <a:buNone/>
            </a:pPr>
            <a:r>
              <a:rPr lang="en-US" sz="4000" b="1" dirty="0">
                <a:solidFill>
                  <a:schemeClr val="bg1"/>
                </a:solidFill>
                <a:latin typeface="Cambria" pitchFamily="34" charset="0"/>
                <a:ea typeface="Cambria" pitchFamily="34" charset="-122"/>
                <a:cs typeface="Cambria" pitchFamily="34" charset="-120"/>
              </a:rPr>
              <a:t>2025</a:t>
            </a:r>
            <a:endParaRPr lang="en-US" sz="4000" dirty="0"/>
          </a:p>
        </p:txBody>
      </p:sp>
      <p:sp>
        <p:nvSpPr>
          <p:cNvPr id="14" name="Text 12"/>
          <p:cNvSpPr txBox="1"/>
          <p:nvPr/>
        </p:nvSpPr>
        <p:spPr>
          <a:xfrm>
            <a:off x="685800" y="5440680"/>
            <a:ext cx="2651760" cy="365760"/>
          </a:xfrm>
          <a:prstGeom prst="rect">
            <a:avLst/>
          </a:prstGeom>
          <a:noFill/>
          <a:ln/>
        </p:spPr>
        <p:txBody>
          <a:bodyPr wrap="square" lIns="0" tIns="0" rIns="0" bIns="0" rtlCol="0" anchor="t"/>
          <a:lstStyle/>
          <a:p>
            <a:pPr marL="0" indent="0">
              <a:buNone/>
            </a:pPr>
            <a:r>
              <a:rPr lang="en-US" sz="1400" dirty="0">
                <a:solidFill>
                  <a:srgbClr val="BFD3E6"/>
                </a:solidFill>
              </a:rPr>
              <a:t>Indian Job Market Dataset</a:t>
            </a:r>
            <a:endParaRPr lang="en-US" sz="1400" dirty="0"/>
          </a:p>
        </p:txBody>
      </p:sp>
      <p:sp>
        <p:nvSpPr>
          <p:cNvPr id="15" name="Schema group"/>
          <p:cNvSpPr/>
          <p:nvPr/>
        </p:nvSpPr>
        <p:spPr>
          <a:xfrm>
            <a:off x="3749040" y="1463040"/>
            <a:ext cx="2514600" cy="2240280"/>
          </a:xfrm>
          <a:prstGeom prst="roundRect">
            <a:avLst>
              <a:gd name="adj" fmla="val 3265"/>
            </a:avLst>
          </a:prstGeom>
          <a:solidFill>
            <a:schemeClr val="bg2"/>
          </a:solidFill>
          <a:ln/>
        </p:spPr>
      </p:sp>
      <p:sp>
        <p:nvSpPr>
          <p:cNvPr id="16" name="Shape 14"/>
          <p:cNvSpPr/>
          <p:nvPr/>
        </p:nvSpPr>
        <p:spPr>
          <a:xfrm>
            <a:off x="3886200" y="1600200"/>
            <a:ext cx="2240280" cy="365760"/>
          </a:xfrm>
          <a:prstGeom prst="roundRect">
            <a:avLst>
              <a:gd name="adj" fmla="val 50000"/>
            </a:avLst>
          </a:prstGeom>
          <a:solidFill>
            <a:schemeClr val="accent1"/>
          </a:solidFill>
          <a:ln/>
        </p:spPr>
      </p:sp>
      <p:sp>
        <p:nvSpPr>
          <p:cNvPr id="17" name="Text 15"/>
          <p:cNvSpPr txBox="1"/>
          <p:nvPr/>
        </p:nvSpPr>
        <p:spPr>
          <a:xfrm>
            <a:off x="3886200" y="1600200"/>
            <a:ext cx="2240280" cy="365760"/>
          </a:xfrm>
          <a:prstGeom prst="rect">
            <a:avLst/>
          </a:prstGeom>
          <a:noFill/>
          <a:ln/>
        </p:spPr>
        <p:txBody>
          <a:bodyPr wrap="square" lIns="0" tIns="0" rIns="0" bIns="0" rtlCol="0" anchor="ctr"/>
          <a:lstStyle/>
          <a:p>
            <a:pPr marL="0" indent="0" algn="ctr">
              <a:buNone/>
            </a:pPr>
            <a:r>
              <a:rPr lang="en-US" sz="1300" b="1" dirty="0">
                <a:solidFill>
                  <a:schemeClr val="bg1"/>
                </a:solidFill>
              </a:rPr>
              <a:t>Identity</a:t>
            </a:r>
            <a:endParaRPr lang="en-US" sz="1300" dirty="0"/>
          </a:p>
        </p:txBody>
      </p:sp>
      <p:sp>
        <p:nvSpPr>
          <p:cNvPr id="18" name="Text 16"/>
          <p:cNvSpPr txBox="1"/>
          <p:nvPr/>
        </p:nvSpPr>
        <p:spPr>
          <a:xfrm>
            <a:off x="3931920" y="2103120"/>
            <a:ext cx="2194560" cy="1554480"/>
          </a:xfrm>
          <a:prstGeom prst="rect">
            <a:avLst/>
          </a:prstGeom>
          <a:noFill/>
          <a:ln/>
        </p:spPr>
        <p:txBody>
          <a:bodyPr wrap="square" lIns="0" tIns="0" rIns="0" bIns="0" rtlCol="0" anchor="t"/>
          <a:lstStyle/>
          <a:p>
            <a:pPr marL="0" indent="0">
              <a:spcAft>
                <a:spcPts val="300"/>
              </a:spcAft>
              <a:buNone/>
            </a:pPr>
            <a:r>
              <a:rPr lang="en-US" sz="1400" dirty="0">
                <a:solidFill>
                  <a:schemeClr val="tx1"/>
                </a:solidFill>
                <a:latin typeface="Courier New" pitchFamily="34" charset="0"/>
                <a:ea typeface="Courier New" pitchFamily="34" charset="-122"/>
                <a:cs typeface="Courier New" pitchFamily="34" charset="-120"/>
              </a:rPr>
              <a:t>job_id</a:t>
            </a:r>
            <a:endParaRPr lang="en-US" sz="1400" dirty="0"/>
          </a:p>
          <a:p>
            <a:pPr marL="0" indent="0">
              <a:spcAft>
                <a:spcPts val="300"/>
              </a:spcAft>
              <a:buNone/>
            </a:pPr>
            <a:r>
              <a:rPr lang="en-US" sz="1400" dirty="0">
                <a:solidFill>
                  <a:schemeClr val="tx1"/>
                </a:solidFill>
                <a:latin typeface="Courier New" pitchFamily="34" charset="0"/>
                <a:ea typeface="Courier New" pitchFamily="34" charset="-122"/>
                <a:cs typeface="Courier New" pitchFamily="34" charset="-120"/>
              </a:rPr>
              <a:t>job_title</a:t>
            </a:r>
            <a:endParaRPr lang="en-US" sz="1400" dirty="0"/>
          </a:p>
        </p:txBody>
      </p:sp>
      <p:sp>
        <p:nvSpPr>
          <p:cNvPr id="19" name="Schema group"/>
          <p:cNvSpPr/>
          <p:nvPr/>
        </p:nvSpPr>
        <p:spPr>
          <a:xfrm>
            <a:off x="6446520" y="1463040"/>
            <a:ext cx="2514600" cy="2240280"/>
          </a:xfrm>
          <a:prstGeom prst="roundRect">
            <a:avLst>
              <a:gd name="adj" fmla="val 3265"/>
            </a:avLst>
          </a:prstGeom>
          <a:solidFill>
            <a:schemeClr val="bg2"/>
          </a:solidFill>
          <a:ln/>
        </p:spPr>
      </p:sp>
      <p:sp>
        <p:nvSpPr>
          <p:cNvPr id="20" name="Shape 18"/>
          <p:cNvSpPr/>
          <p:nvPr/>
        </p:nvSpPr>
        <p:spPr>
          <a:xfrm>
            <a:off x="6583680" y="1600200"/>
            <a:ext cx="2240280" cy="365760"/>
          </a:xfrm>
          <a:prstGeom prst="roundRect">
            <a:avLst>
              <a:gd name="adj" fmla="val 50000"/>
            </a:avLst>
          </a:prstGeom>
          <a:solidFill>
            <a:schemeClr val="accent2"/>
          </a:solidFill>
          <a:ln/>
        </p:spPr>
      </p:sp>
      <p:sp>
        <p:nvSpPr>
          <p:cNvPr id="21" name="Text 19"/>
          <p:cNvSpPr txBox="1"/>
          <p:nvPr/>
        </p:nvSpPr>
        <p:spPr>
          <a:xfrm>
            <a:off x="6583680" y="1600200"/>
            <a:ext cx="2240280" cy="365760"/>
          </a:xfrm>
          <a:prstGeom prst="rect">
            <a:avLst/>
          </a:prstGeom>
          <a:noFill/>
          <a:ln/>
        </p:spPr>
        <p:txBody>
          <a:bodyPr wrap="square" lIns="0" tIns="0" rIns="0" bIns="0" rtlCol="0" anchor="ctr"/>
          <a:lstStyle/>
          <a:p>
            <a:pPr marL="0" indent="0" algn="ctr">
              <a:buNone/>
            </a:pPr>
            <a:r>
              <a:rPr lang="en-US" sz="1300" b="1" dirty="0">
                <a:solidFill>
                  <a:schemeClr val="bg1"/>
                </a:solidFill>
              </a:rPr>
              <a:t>Employer &amp; place</a:t>
            </a:r>
            <a:endParaRPr lang="en-US" sz="1300" dirty="0"/>
          </a:p>
        </p:txBody>
      </p:sp>
      <p:sp>
        <p:nvSpPr>
          <p:cNvPr id="22" name="Text 20"/>
          <p:cNvSpPr txBox="1"/>
          <p:nvPr/>
        </p:nvSpPr>
        <p:spPr>
          <a:xfrm>
            <a:off x="6629400" y="2103120"/>
            <a:ext cx="2194560" cy="1554480"/>
          </a:xfrm>
          <a:prstGeom prst="rect">
            <a:avLst/>
          </a:prstGeom>
          <a:noFill/>
          <a:ln/>
        </p:spPr>
        <p:txBody>
          <a:bodyPr wrap="square" lIns="0" tIns="0" rIns="0" bIns="0" rtlCol="0" anchor="t"/>
          <a:lstStyle/>
          <a:p>
            <a:pPr marL="0" indent="0">
              <a:spcAft>
                <a:spcPts val="300"/>
              </a:spcAft>
              <a:buNone/>
            </a:pPr>
            <a:r>
              <a:rPr lang="en-US" sz="1400" dirty="0">
                <a:solidFill>
                  <a:schemeClr val="tx1"/>
                </a:solidFill>
                <a:latin typeface="Courier New" pitchFamily="34" charset="0"/>
                <a:ea typeface="Courier New" pitchFamily="34" charset="-122"/>
                <a:cs typeface="Courier New" pitchFamily="34" charset="-120"/>
              </a:rPr>
              <a:t>company_name</a:t>
            </a:r>
            <a:endParaRPr lang="en-US" sz="1400" dirty="0"/>
          </a:p>
          <a:p>
            <a:pPr marL="0" indent="0">
              <a:spcAft>
                <a:spcPts val="300"/>
              </a:spcAft>
              <a:buNone/>
            </a:pPr>
            <a:r>
              <a:rPr lang="en-US" sz="1400" dirty="0">
                <a:solidFill>
                  <a:schemeClr val="tx1"/>
                </a:solidFill>
                <a:latin typeface="Courier New" pitchFamily="34" charset="0"/>
                <a:ea typeface="Courier New" pitchFamily="34" charset="-122"/>
                <a:cs typeface="Courier New" pitchFamily="34" charset="-120"/>
              </a:rPr>
              <a:t>location</a:t>
            </a:r>
            <a:endParaRPr lang="en-US" sz="1400" dirty="0"/>
          </a:p>
        </p:txBody>
      </p:sp>
      <p:sp>
        <p:nvSpPr>
          <p:cNvPr id="23" name="Schema group"/>
          <p:cNvSpPr/>
          <p:nvPr/>
        </p:nvSpPr>
        <p:spPr>
          <a:xfrm>
            <a:off x="9144000" y="1463040"/>
            <a:ext cx="2514600" cy="2240280"/>
          </a:xfrm>
          <a:prstGeom prst="roundRect">
            <a:avLst>
              <a:gd name="adj" fmla="val 3265"/>
            </a:avLst>
          </a:prstGeom>
          <a:solidFill>
            <a:schemeClr val="bg2"/>
          </a:solidFill>
          <a:ln/>
        </p:spPr>
      </p:sp>
      <p:sp>
        <p:nvSpPr>
          <p:cNvPr id="24" name="Shape 22"/>
          <p:cNvSpPr/>
          <p:nvPr/>
        </p:nvSpPr>
        <p:spPr>
          <a:xfrm>
            <a:off x="9281160" y="1600200"/>
            <a:ext cx="2240280" cy="365760"/>
          </a:xfrm>
          <a:prstGeom prst="roundRect">
            <a:avLst>
              <a:gd name="adj" fmla="val 50000"/>
            </a:avLst>
          </a:prstGeom>
          <a:solidFill>
            <a:schemeClr val="accent3"/>
          </a:solidFill>
          <a:ln/>
        </p:spPr>
      </p:sp>
      <p:sp>
        <p:nvSpPr>
          <p:cNvPr id="25" name="Text 23"/>
          <p:cNvSpPr txBox="1"/>
          <p:nvPr/>
        </p:nvSpPr>
        <p:spPr>
          <a:xfrm>
            <a:off x="9281160" y="1600200"/>
            <a:ext cx="2240280" cy="365760"/>
          </a:xfrm>
          <a:prstGeom prst="rect">
            <a:avLst/>
          </a:prstGeom>
          <a:noFill/>
          <a:ln/>
        </p:spPr>
        <p:txBody>
          <a:bodyPr wrap="square" lIns="0" tIns="0" rIns="0" bIns="0" rtlCol="0" anchor="ctr"/>
          <a:lstStyle/>
          <a:p>
            <a:pPr marL="0" indent="0" algn="ctr">
              <a:buNone/>
            </a:pPr>
            <a:r>
              <a:rPr lang="en-US" sz="1300" b="1" dirty="0">
                <a:solidFill>
                  <a:schemeClr val="tx2"/>
                </a:solidFill>
              </a:rPr>
              <a:t>Compensation</a:t>
            </a:r>
            <a:endParaRPr lang="en-US" sz="1300" dirty="0"/>
          </a:p>
        </p:txBody>
      </p:sp>
      <p:sp>
        <p:nvSpPr>
          <p:cNvPr id="26" name="Text 24"/>
          <p:cNvSpPr txBox="1"/>
          <p:nvPr/>
        </p:nvSpPr>
        <p:spPr>
          <a:xfrm>
            <a:off x="9326880" y="2103120"/>
            <a:ext cx="2194560" cy="1554480"/>
          </a:xfrm>
          <a:prstGeom prst="rect">
            <a:avLst/>
          </a:prstGeom>
          <a:noFill/>
          <a:ln/>
        </p:spPr>
        <p:txBody>
          <a:bodyPr wrap="square" lIns="0" tIns="0" rIns="0" bIns="0" rtlCol="0" anchor="t"/>
          <a:lstStyle/>
          <a:p>
            <a:pPr marL="0" indent="0">
              <a:spcAft>
                <a:spcPts val="300"/>
              </a:spcAft>
              <a:buNone/>
            </a:pPr>
            <a:r>
              <a:rPr lang="en-US" sz="1400" dirty="0">
                <a:solidFill>
                  <a:schemeClr val="tx1"/>
                </a:solidFill>
                <a:latin typeface="Courier New" pitchFamily="34" charset="0"/>
                <a:ea typeface="Courier New" pitchFamily="34" charset="-122"/>
                <a:cs typeface="Courier New" pitchFamily="34" charset="-120"/>
              </a:rPr>
              <a:t>currency</a:t>
            </a:r>
            <a:endParaRPr lang="en-US" sz="1400" dirty="0"/>
          </a:p>
          <a:p>
            <a:pPr marL="0" indent="0">
              <a:spcAft>
                <a:spcPts val="300"/>
              </a:spcAft>
              <a:buNone/>
            </a:pPr>
            <a:r>
              <a:rPr lang="en-US" sz="1400" dirty="0">
                <a:solidFill>
                  <a:schemeClr val="tx1"/>
                </a:solidFill>
                <a:latin typeface="Courier New" pitchFamily="34" charset="0"/>
                <a:ea typeface="Courier New" pitchFamily="34" charset="-122"/>
                <a:cs typeface="Courier New" pitchFamily="34" charset="-120"/>
              </a:rPr>
              <a:t>min_salary</a:t>
            </a:r>
            <a:endParaRPr lang="en-US" sz="1400" dirty="0"/>
          </a:p>
          <a:p>
            <a:pPr marL="0" indent="0">
              <a:spcAft>
                <a:spcPts val="300"/>
              </a:spcAft>
              <a:buNone/>
            </a:pPr>
            <a:r>
              <a:rPr lang="en-US" sz="1400" dirty="0">
                <a:solidFill>
                  <a:schemeClr val="tx1"/>
                </a:solidFill>
                <a:latin typeface="Courier New" pitchFamily="34" charset="0"/>
                <a:ea typeface="Courier New" pitchFamily="34" charset="-122"/>
                <a:cs typeface="Courier New" pitchFamily="34" charset="-120"/>
              </a:rPr>
              <a:t>max_salary</a:t>
            </a:r>
            <a:endParaRPr lang="en-US" sz="1400" dirty="0"/>
          </a:p>
          <a:p>
            <a:pPr marL="0" indent="0">
              <a:spcAft>
                <a:spcPts val="300"/>
              </a:spcAft>
              <a:buNone/>
            </a:pPr>
            <a:r>
              <a:rPr lang="en-US" sz="1400" dirty="0">
                <a:solidFill>
                  <a:schemeClr val="tx1"/>
                </a:solidFill>
                <a:latin typeface="Courier New" pitchFamily="34" charset="0"/>
                <a:ea typeface="Courier New" pitchFamily="34" charset="-122"/>
                <a:cs typeface="Courier New" pitchFamily="34" charset="-120"/>
              </a:rPr>
              <a:t>avg_salary</a:t>
            </a:r>
            <a:endParaRPr lang="en-US" sz="1400" dirty="0"/>
          </a:p>
        </p:txBody>
      </p:sp>
      <p:sp>
        <p:nvSpPr>
          <p:cNvPr id="27" name="Schema group"/>
          <p:cNvSpPr/>
          <p:nvPr/>
        </p:nvSpPr>
        <p:spPr>
          <a:xfrm>
            <a:off x="3749040" y="3886200"/>
            <a:ext cx="2514600" cy="2240280"/>
          </a:xfrm>
          <a:prstGeom prst="roundRect">
            <a:avLst>
              <a:gd name="adj" fmla="val 3265"/>
            </a:avLst>
          </a:prstGeom>
          <a:solidFill>
            <a:schemeClr val="bg2"/>
          </a:solidFill>
          <a:ln/>
        </p:spPr>
      </p:sp>
      <p:sp>
        <p:nvSpPr>
          <p:cNvPr id="28" name="Shape 26"/>
          <p:cNvSpPr/>
          <p:nvPr/>
        </p:nvSpPr>
        <p:spPr>
          <a:xfrm>
            <a:off x="3886200" y="4023360"/>
            <a:ext cx="2240280" cy="365760"/>
          </a:xfrm>
          <a:prstGeom prst="roundRect">
            <a:avLst>
              <a:gd name="adj" fmla="val 50000"/>
            </a:avLst>
          </a:prstGeom>
          <a:solidFill>
            <a:schemeClr val="accent6"/>
          </a:solidFill>
          <a:ln/>
        </p:spPr>
      </p:sp>
      <p:sp>
        <p:nvSpPr>
          <p:cNvPr id="29" name="Text 27"/>
          <p:cNvSpPr txBox="1"/>
          <p:nvPr/>
        </p:nvSpPr>
        <p:spPr>
          <a:xfrm>
            <a:off x="3886200" y="4023360"/>
            <a:ext cx="2240280" cy="365760"/>
          </a:xfrm>
          <a:prstGeom prst="rect">
            <a:avLst/>
          </a:prstGeom>
          <a:noFill/>
          <a:ln/>
        </p:spPr>
        <p:txBody>
          <a:bodyPr wrap="square" lIns="0" tIns="0" rIns="0" bIns="0" rtlCol="0" anchor="ctr"/>
          <a:lstStyle/>
          <a:p>
            <a:pPr marL="0" indent="0" algn="ctr">
              <a:buNone/>
            </a:pPr>
            <a:r>
              <a:rPr lang="en-US" sz="1300" b="1" dirty="0">
                <a:solidFill>
                  <a:schemeClr val="bg1"/>
                </a:solidFill>
              </a:rPr>
              <a:t>Requirements</a:t>
            </a:r>
            <a:endParaRPr lang="en-US" sz="1300" dirty="0"/>
          </a:p>
        </p:txBody>
      </p:sp>
      <p:sp>
        <p:nvSpPr>
          <p:cNvPr id="30" name="Text 28"/>
          <p:cNvSpPr txBox="1"/>
          <p:nvPr/>
        </p:nvSpPr>
        <p:spPr>
          <a:xfrm>
            <a:off x="3931920" y="4526280"/>
            <a:ext cx="2194560" cy="1554480"/>
          </a:xfrm>
          <a:prstGeom prst="rect">
            <a:avLst/>
          </a:prstGeom>
          <a:noFill/>
          <a:ln/>
        </p:spPr>
        <p:txBody>
          <a:bodyPr wrap="square" lIns="0" tIns="0" rIns="0" bIns="0" rtlCol="0" anchor="t"/>
          <a:lstStyle/>
          <a:p>
            <a:pPr marL="0" indent="0">
              <a:spcAft>
                <a:spcPts val="300"/>
              </a:spcAft>
              <a:buNone/>
            </a:pPr>
            <a:r>
              <a:rPr lang="en-US" sz="1400" dirty="0">
                <a:solidFill>
                  <a:schemeClr val="tx1"/>
                </a:solidFill>
                <a:latin typeface="Courier New" pitchFamily="34" charset="0"/>
                <a:ea typeface="Courier New" pitchFamily="34" charset="-122"/>
                <a:cs typeface="Courier New" pitchFamily="34" charset="-120"/>
              </a:rPr>
              <a:t>experience_raw</a:t>
            </a:r>
            <a:endParaRPr lang="en-US" sz="1400" dirty="0"/>
          </a:p>
          <a:p>
            <a:pPr marL="0" indent="0">
              <a:spcAft>
                <a:spcPts val="300"/>
              </a:spcAft>
              <a:buNone/>
            </a:pPr>
            <a:r>
              <a:rPr lang="en-US" sz="1400" dirty="0">
                <a:solidFill>
                  <a:schemeClr val="tx1"/>
                </a:solidFill>
                <a:latin typeface="Courier New" pitchFamily="34" charset="0"/>
                <a:ea typeface="Courier New" pitchFamily="34" charset="-122"/>
                <a:cs typeface="Courier New" pitchFamily="34" charset="-120"/>
              </a:rPr>
              <a:t>skills</a:t>
            </a:r>
            <a:endParaRPr lang="en-US" sz="1400" dirty="0"/>
          </a:p>
        </p:txBody>
      </p:sp>
      <p:sp>
        <p:nvSpPr>
          <p:cNvPr id="31" name="Schema group"/>
          <p:cNvSpPr/>
          <p:nvPr/>
        </p:nvSpPr>
        <p:spPr>
          <a:xfrm>
            <a:off x="6446520" y="3886200"/>
            <a:ext cx="2514600" cy="2240280"/>
          </a:xfrm>
          <a:prstGeom prst="roundRect">
            <a:avLst>
              <a:gd name="adj" fmla="val 3265"/>
            </a:avLst>
          </a:prstGeom>
          <a:solidFill>
            <a:schemeClr val="bg2"/>
          </a:solidFill>
          <a:ln/>
        </p:spPr>
      </p:sp>
      <p:sp>
        <p:nvSpPr>
          <p:cNvPr id="32" name="Shape 30"/>
          <p:cNvSpPr/>
          <p:nvPr/>
        </p:nvSpPr>
        <p:spPr>
          <a:xfrm>
            <a:off x="6583680" y="4023360"/>
            <a:ext cx="2240280" cy="365760"/>
          </a:xfrm>
          <a:prstGeom prst="roundRect">
            <a:avLst>
              <a:gd name="adj" fmla="val 50000"/>
            </a:avLst>
          </a:prstGeom>
          <a:solidFill>
            <a:schemeClr val="accent5"/>
          </a:solidFill>
          <a:ln/>
        </p:spPr>
      </p:sp>
      <p:sp>
        <p:nvSpPr>
          <p:cNvPr id="33" name="Text 31"/>
          <p:cNvSpPr txBox="1"/>
          <p:nvPr/>
        </p:nvSpPr>
        <p:spPr>
          <a:xfrm>
            <a:off x="6583680" y="4023360"/>
            <a:ext cx="2240280" cy="365760"/>
          </a:xfrm>
          <a:prstGeom prst="rect">
            <a:avLst/>
          </a:prstGeom>
          <a:noFill/>
          <a:ln/>
        </p:spPr>
        <p:txBody>
          <a:bodyPr wrap="square" lIns="0" tIns="0" rIns="0" bIns="0" rtlCol="0" anchor="ctr"/>
          <a:lstStyle/>
          <a:p>
            <a:pPr marL="0" indent="0" algn="ctr">
              <a:buNone/>
            </a:pPr>
            <a:r>
              <a:rPr lang="en-US" sz="1300" b="1" dirty="0">
                <a:solidFill>
                  <a:schemeClr val="bg1"/>
                </a:solidFill>
              </a:rPr>
              <a:t>Recency</a:t>
            </a:r>
            <a:endParaRPr lang="en-US" sz="1300" dirty="0"/>
          </a:p>
        </p:txBody>
      </p:sp>
      <p:sp>
        <p:nvSpPr>
          <p:cNvPr id="34" name="Text 32"/>
          <p:cNvSpPr txBox="1"/>
          <p:nvPr/>
        </p:nvSpPr>
        <p:spPr>
          <a:xfrm>
            <a:off x="6629400" y="4526280"/>
            <a:ext cx="2194560" cy="1554480"/>
          </a:xfrm>
          <a:prstGeom prst="rect">
            <a:avLst/>
          </a:prstGeom>
          <a:noFill/>
          <a:ln/>
        </p:spPr>
        <p:txBody>
          <a:bodyPr wrap="square" lIns="0" tIns="0" rIns="0" bIns="0" rtlCol="0" anchor="t"/>
          <a:lstStyle/>
          <a:p>
            <a:pPr marL="0" indent="0">
              <a:spcAft>
                <a:spcPts val="300"/>
              </a:spcAft>
              <a:buNone/>
            </a:pPr>
            <a:r>
              <a:rPr lang="en-US" sz="1400" dirty="0">
                <a:solidFill>
                  <a:schemeClr val="tx1"/>
                </a:solidFill>
                <a:latin typeface="Courier New" pitchFamily="34" charset="0"/>
                <a:ea typeface="Courier New" pitchFamily="34" charset="-122"/>
                <a:cs typeface="Courier New" pitchFamily="34" charset="-120"/>
              </a:rPr>
              <a:t>posted_raw</a:t>
            </a:r>
            <a:endParaRPr lang="en-US" sz="1400" dirty="0"/>
          </a:p>
        </p:txBody>
      </p:sp>
      <p:sp>
        <p:nvSpPr>
          <p:cNvPr id="35" name="Schema group"/>
          <p:cNvSpPr/>
          <p:nvPr/>
        </p:nvSpPr>
        <p:spPr>
          <a:xfrm>
            <a:off x="9144000" y="3886200"/>
            <a:ext cx="2514600" cy="2240280"/>
          </a:xfrm>
          <a:prstGeom prst="roundRect">
            <a:avLst>
              <a:gd name="adj" fmla="val 3265"/>
            </a:avLst>
          </a:prstGeom>
          <a:solidFill>
            <a:schemeClr val="bg2"/>
          </a:solidFill>
          <a:ln/>
        </p:spPr>
      </p:sp>
      <p:sp>
        <p:nvSpPr>
          <p:cNvPr id="36" name="Shape 34"/>
          <p:cNvSpPr/>
          <p:nvPr/>
        </p:nvSpPr>
        <p:spPr>
          <a:xfrm>
            <a:off x="9281160" y="4023360"/>
            <a:ext cx="2240280" cy="365760"/>
          </a:xfrm>
          <a:prstGeom prst="roundRect">
            <a:avLst>
              <a:gd name="adj" fmla="val 50000"/>
            </a:avLst>
          </a:prstGeom>
          <a:solidFill>
            <a:schemeClr val="accent4"/>
          </a:solidFill>
          <a:ln/>
        </p:spPr>
      </p:sp>
      <p:sp>
        <p:nvSpPr>
          <p:cNvPr id="37" name="Text 35"/>
          <p:cNvSpPr txBox="1"/>
          <p:nvPr/>
        </p:nvSpPr>
        <p:spPr>
          <a:xfrm>
            <a:off x="9281160" y="4023360"/>
            <a:ext cx="2240280" cy="365760"/>
          </a:xfrm>
          <a:prstGeom prst="rect">
            <a:avLst/>
          </a:prstGeom>
          <a:noFill/>
          <a:ln/>
        </p:spPr>
        <p:txBody>
          <a:bodyPr wrap="square" lIns="0" tIns="0" rIns="0" bIns="0" rtlCol="0" anchor="ctr"/>
          <a:lstStyle/>
          <a:p>
            <a:pPr marL="0" indent="0" algn="ctr">
              <a:buNone/>
            </a:pPr>
            <a:r>
              <a:rPr lang="en-US" sz="1300" b="1" dirty="0">
                <a:solidFill>
                  <a:schemeClr val="bg1"/>
                </a:solidFill>
              </a:rPr>
              <a:t>Other raw fields</a:t>
            </a:r>
            <a:endParaRPr lang="en-US" sz="1300" dirty="0"/>
          </a:p>
        </p:txBody>
      </p:sp>
      <p:sp>
        <p:nvSpPr>
          <p:cNvPr id="38" name="Text 36"/>
          <p:cNvSpPr txBox="1"/>
          <p:nvPr/>
        </p:nvSpPr>
        <p:spPr>
          <a:xfrm>
            <a:off x="9326880" y="4526280"/>
            <a:ext cx="2194560" cy="1554480"/>
          </a:xfrm>
          <a:prstGeom prst="rect">
            <a:avLst/>
          </a:prstGeom>
          <a:noFill/>
          <a:ln/>
        </p:spPr>
        <p:txBody>
          <a:bodyPr wrap="square" lIns="0" tIns="0" rIns="0" bIns="0" rtlCol="0" anchor="t"/>
          <a:lstStyle/>
          <a:p>
            <a:pPr marL="0" indent="0">
              <a:spcAft>
                <a:spcPts val="300"/>
              </a:spcAft>
              <a:buNone/>
            </a:pPr>
            <a:r>
              <a:rPr lang="en-US" sz="1400" dirty="0">
                <a:solidFill>
                  <a:schemeClr val="tx1"/>
                </a:solidFill>
              </a:rPr>
              <a:t>6 more fields (see task1_hdfs/README)</a:t>
            </a:r>
            <a:endParaRPr lang="en-US" sz="1400" dirty="0"/>
          </a:p>
        </p:txBody>
      </p:sp>
      <p:sp>
        <p:nvSpPr>
          <p:cNvPr id="39" name="Shape 37"/>
          <p:cNvSpPr/>
          <p:nvPr/>
        </p:nvSpPr>
        <p:spPr>
          <a:xfrm>
            <a:off x="3749040" y="6268720"/>
            <a:ext cx="7909560" cy="502920"/>
          </a:xfrm>
          <a:prstGeom prst="roundRect">
            <a:avLst>
              <a:gd name="adj" fmla="val 14545"/>
            </a:avLst>
          </a:prstGeom>
          <a:solidFill>
            <a:schemeClr val="accent5">
              <a:alpha val="12000"/>
            </a:schemeClr>
          </a:solidFill>
          <a:ln w="15875">
            <a:solidFill>
              <a:schemeClr val="accent5"/>
            </a:solidFill>
            <a:prstDash val="solid"/>
          </a:ln>
        </p:spPr>
      </p:sp>
      <p:sp>
        <p:nvSpPr>
          <p:cNvPr id="40" name="Text 38"/>
          <p:cNvSpPr txBox="1"/>
          <p:nvPr/>
        </p:nvSpPr>
        <p:spPr>
          <a:xfrm>
            <a:off x="3909060" y="6254327"/>
            <a:ext cx="7589520" cy="502920"/>
          </a:xfrm>
          <a:prstGeom prst="rect">
            <a:avLst/>
          </a:prstGeom>
          <a:noFill/>
          <a:ln/>
        </p:spPr>
        <p:txBody>
          <a:bodyPr wrap="square" lIns="0" tIns="0" rIns="0" bIns="0" rtlCol="0" anchor="ctr"/>
          <a:lstStyle/>
          <a:p>
            <a:pPr marL="0" indent="0">
              <a:buNone/>
            </a:pPr>
            <a:r>
              <a:rPr lang="en-US" sz="1400" b="1" dirty="0">
                <a:solidFill>
                  <a:schemeClr val="accent5"/>
                </a:solidFill>
              </a:rPr>
              <a:t>posted_raw is relative text (e.g. "6 Days Ago", "Just Now"), not a complete absolute date</a:t>
            </a:r>
            <a:endParaRPr lang="en-US" sz="1400" dirty="0"/>
          </a:p>
        </p:txBody>
      </p:sp>
      <p:sp>
        <p:nvSpPr>
          <p:cNvPr id="41" name="Slide Number Placeholder 0"/>
          <p:cNvSpPr>
            <a:spLocks noGrp="1"/>
          </p:cNvSpPr>
          <p:nvPr>
            <p:ph type="sldNum" sz="quarter" idx="4294967295"/>
          </p:nvPr>
        </p:nvSpPr>
        <p:spPr>
          <a:xfrm>
            <a:off x="10972800" y="6446520"/>
            <a:ext cx="64008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SYSTEM ARCHITECTURE</a:t>
            </a:r>
            <a:endParaRPr lang="en-US" sz="1200" dirty="0"/>
          </a:p>
        </p:txBody>
      </p:sp>
      <p:sp>
        <p:nvSpPr>
          <p:cNvPr id="3" name="Text 0"/>
          <p:cNvSpPr>
            <a:spLocks noGrp="1"/>
          </p:cNvSpPr>
          <p:nvPr>
            <p:ph type="title" idx="100" hasCustomPrompt="1"/>
          </p:nvPr>
        </p:nvSpPr>
        <p:spPr>
          <a:xfrm>
            <a:off x="548640" y="566928"/>
            <a:ext cx="9418320" cy="685800"/>
          </a:xfrm>
          <a:prstGeom prst="rect">
            <a:avLst/>
          </a:prstGeom>
          <a:noFill/>
          <a:ln/>
        </p:spPr>
        <p:txBody>
          <a:bodyPr wrap="square" lIns="0" tIns="0" rIns="0" bIns="0" rtlCol="0" anchor="ctr"/>
          <a:lstStyle/>
          <a:p>
            <a:pPr marL="0" indent="0" algn="l">
              <a:buNone/>
            </a:pPr>
            <a:r>
              <a:rPr lang="en-US" sz="3200" b="1" dirty="0">
                <a:solidFill>
                  <a:schemeClr val="tx2"/>
                </a:solidFill>
              </a:rPr>
              <a:t>End-to-End System Architecture</a:t>
            </a:r>
            <a:endParaRPr lang="en-US" sz="3200" dirty="0"/>
          </a:p>
        </p:txBody>
      </p:sp>
      <p:sp>
        <p:nvSpPr>
          <p:cNvPr id="6" name="Shape 4"/>
          <p:cNvSpPr/>
          <p:nvPr/>
        </p:nvSpPr>
        <p:spPr>
          <a:xfrm>
            <a:off x="950976" y="1417320"/>
            <a:ext cx="640080" cy="274320"/>
          </a:xfrm>
          <a:prstGeom prst="roundRect">
            <a:avLst>
              <a:gd name="adj" fmla="val 50000"/>
            </a:avLst>
          </a:prstGeom>
          <a:solidFill>
            <a:schemeClr val="accent1"/>
          </a:solidFill>
          <a:ln/>
        </p:spPr>
      </p:sp>
      <p:sp>
        <p:nvSpPr>
          <p:cNvPr id="7" name="Text 5"/>
          <p:cNvSpPr txBox="1"/>
          <p:nvPr/>
        </p:nvSpPr>
        <p:spPr>
          <a:xfrm>
            <a:off x="950976" y="1417320"/>
            <a:ext cx="640080" cy="274320"/>
          </a:xfrm>
          <a:prstGeom prst="rect">
            <a:avLst/>
          </a:prstGeom>
          <a:noFill/>
          <a:ln/>
        </p:spPr>
        <p:txBody>
          <a:bodyPr wrap="square" lIns="0" tIns="0" rIns="0" bIns="0" rtlCol="0" anchor="ctr"/>
          <a:lstStyle/>
          <a:p>
            <a:pPr marL="0" indent="0" algn="ctr">
              <a:buNone/>
            </a:pPr>
            <a:r>
              <a:rPr lang="en-US" sz="1100" b="1" dirty="0">
                <a:solidFill>
                  <a:schemeClr val="bg1"/>
                </a:solidFill>
              </a:rPr>
              <a:t>P1</a:t>
            </a:r>
            <a:endParaRPr lang="en-US" sz="1100" dirty="0"/>
          </a:p>
        </p:txBody>
      </p:sp>
      <p:sp>
        <p:nvSpPr>
          <p:cNvPr id="8" name="Stage box"/>
          <p:cNvSpPr/>
          <p:nvPr/>
        </p:nvSpPr>
        <p:spPr>
          <a:xfrm>
            <a:off x="548640" y="1783080"/>
            <a:ext cx="1444752" cy="1325880"/>
          </a:xfrm>
          <a:prstGeom prst="roundRect">
            <a:avLst>
              <a:gd name="adj" fmla="val 6897"/>
            </a:avLst>
          </a:prstGeom>
          <a:solidFill>
            <a:schemeClr val="accent4">
              <a:alpha val="88000"/>
            </a:schemeClr>
          </a:solidFill>
          <a:ln/>
        </p:spPr>
      </p:sp>
      <p:sp>
        <p:nvSpPr>
          <p:cNvPr id="9" name="Text 7"/>
          <p:cNvSpPr txBox="1"/>
          <p:nvPr/>
        </p:nvSpPr>
        <p:spPr>
          <a:xfrm>
            <a:off x="621792" y="1828800"/>
            <a:ext cx="1298448" cy="1234440"/>
          </a:xfrm>
          <a:prstGeom prst="rect">
            <a:avLst/>
          </a:prstGeom>
          <a:noFill/>
          <a:ln/>
        </p:spPr>
        <p:txBody>
          <a:bodyPr wrap="square" lIns="0" tIns="0" rIns="0" bIns="0" rtlCol="0" anchor="ctr"/>
          <a:lstStyle/>
          <a:p>
            <a:pPr marL="0" indent="0" algn="ctr">
              <a:buNone/>
            </a:pPr>
            <a:r>
              <a:rPr lang="en-US" sz="1400" b="1" dirty="0">
                <a:solidFill>
                  <a:schemeClr val="bg1"/>
                </a:solidFill>
              </a:rPr>
              <a:t>Raw Excel dataset</a:t>
            </a:r>
            <a:endParaRPr lang="en-US" sz="1400" dirty="0"/>
          </a:p>
          <a:p>
            <a:pPr marL="0" indent="0" algn="ctr">
              <a:buNone/>
            </a:pPr>
            <a:r>
              <a:rPr lang="en-US" sz="1100" dirty="0">
                <a:solidFill>
                  <a:srgbClr val="E3EEF7"/>
                </a:solidFill>
              </a:rPr>
              <a:t>.xlsx</a:t>
            </a:r>
            <a:endParaRPr lang="en-US" sz="1400" dirty="0"/>
          </a:p>
        </p:txBody>
      </p:sp>
      <p:sp>
        <p:nvSpPr>
          <p:cNvPr id="10" name="Shape 8"/>
          <p:cNvSpPr/>
          <p:nvPr/>
        </p:nvSpPr>
        <p:spPr>
          <a:xfrm>
            <a:off x="1993392" y="2441448"/>
            <a:ext cx="155448" cy="0"/>
          </a:xfrm>
          <a:prstGeom prst="line">
            <a:avLst/>
          </a:prstGeom>
          <a:noFill/>
          <a:ln w="22225">
            <a:solidFill>
              <a:schemeClr val="tx2"/>
            </a:solidFill>
            <a:prstDash val="solid"/>
            <a:tailEnd type="triangle"/>
          </a:ln>
        </p:spPr>
      </p:sp>
      <p:sp>
        <p:nvSpPr>
          <p:cNvPr id="11" name="Shape 9"/>
          <p:cNvSpPr/>
          <p:nvPr/>
        </p:nvSpPr>
        <p:spPr>
          <a:xfrm>
            <a:off x="2551176" y="1417320"/>
            <a:ext cx="640080" cy="274320"/>
          </a:xfrm>
          <a:prstGeom prst="roundRect">
            <a:avLst>
              <a:gd name="adj" fmla="val 50000"/>
            </a:avLst>
          </a:prstGeom>
          <a:solidFill>
            <a:schemeClr val="accent1"/>
          </a:solidFill>
          <a:ln/>
        </p:spPr>
      </p:sp>
      <p:sp>
        <p:nvSpPr>
          <p:cNvPr id="12" name="Text 10"/>
          <p:cNvSpPr txBox="1"/>
          <p:nvPr/>
        </p:nvSpPr>
        <p:spPr>
          <a:xfrm>
            <a:off x="2551176" y="1417320"/>
            <a:ext cx="640080" cy="274320"/>
          </a:xfrm>
          <a:prstGeom prst="rect">
            <a:avLst/>
          </a:prstGeom>
          <a:noFill/>
          <a:ln/>
        </p:spPr>
        <p:txBody>
          <a:bodyPr wrap="square" lIns="0" tIns="0" rIns="0" bIns="0" rtlCol="0" anchor="ctr"/>
          <a:lstStyle/>
          <a:p>
            <a:pPr marL="0" indent="0" algn="ctr">
              <a:buNone/>
            </a:pPr>
            <a:r>
              <a:rPr lang="en-US" sz="1100" b="1" dirty="0">
                <a:solidFill>
                  <a:schemeClr val="bg1"/>
                </a:solidFill>
              </a:rPr>
              <a:t>P1</a:t>
            </a:r>
            <a:endParaRPr lang="en-US" sz="1100" dirty="0"/>
          </a:p>
        </p:txBody>
      </p:sp>
      <p:sp>
        <p:nvSpPr>
          <p:cNvPr id="13" name="Stage box"/>
          <p:cNvSpPr/>
          <p:nvPr/>
        </p:nvSpPr>
        <p:spPr>
          <a:xfrm>
            <a:off x="2148840" y="1783080"/>
            <a:ext cx="1444752" cy="1325880"/>
          </a:xfrm>
          <a:prstGeom prst="roundRect">
            <a:avLst>
              <a:gd name="adj" fmla="val 6897"/>
            </a:avLst>
          </a:prstGeom>
          <a:solidFill>
            <a:schemeClr val="accent1">
              <a:alpha val="88000"/>
            </a:schemeClr>
          </a:solidFill>
          <a:ln/>
        </p:spPr>
      </p:sp>
      <p:sp>
        <p:nvSpPr>
          <p:cNvPr id="14" name="Text 12"/>
          <p:cNvSpPr txBox="1"/>
          <p:nvPr/>
        </p:nvSpPr>
        <p:spPr>
          <a:xfrm>
            <a:off x="2221992" y="1828800"/>
            <a:ext cx="1298448" cy="1234440"/>
          </a:xfrm>
          <a:prstGeom prst="rect">
            <a:avLst/>
          </a:prstGeom>
          <a:noFill/>
          <a:ln/>
        </p:spPr>
        <p:txBody>
          <a:bodyPr wrap="square" lIns="0" tIns="0" rIns="0" bIns="0" rtlCol="0" anchor="ctr"/>
          <a:lstStyle/>
          <a:p>
            <a:pPr marL="0" indent="0" algn="ctr">
              <a:buNone/>
            </a:pPr>
            <a:r>
              <a:rPr lang="en-US" sz="1400" b="1" dirty="0">
                <a:solidFill>
                  <a:schemeClr val="bg1"/>
                </a:solidFill>
              </a:rPr>
              <a:t>Python conversion &amp; cleaning</a:t>
            </a:r>
            <a:endParaRPr lang="en-US" sz="1400" dirty="0"/>
          </a:p>
          <a:p>
            <a:pPr marL="0" indent="0" algn="ctr">
              <a:buNone/>
            </a:pPr>
            <a:r>
              <a:rPr lang="en-US" sz="1100" dirty="0">
                <a:solidFill>
                  <a:srgbClr val="E3EEF7"/>
                </a:solidFill>
              </a:rPr>
              <a:t>task1_hdfs</a:t>
            </a:r>
            <a:endParaRPr lang="en-US" sz="1400" dirty="0"/>
          </a:p>
        </p:txBody>
      </p:sp>
      <p:sp>
        <p:nvSpPr>
          <p:cNvPr id="15" name="Shape 13"/>
          <p:cNvSpPr/>
          <p:nvPr/>
        </p:nvSpPr>
        <p:spPr>
          <a:xfrm>
            <a:off x="3593592" y="2441448"/>
            <a:ext cx="155448" cy="0"/>
          </a:xfrm>
          <a:prstGeom prst="line">
            <a:avLst/>
          </a:prstGeom>
          <a:noFill/>
          <a:ln w="22225">
            <a:solidFill>
              <a:schemeClr val="tx2"/>
            </a:solidFill>
            <a:prstDash val="solid"/>
            <a:tailEnd type="triangle"/>
          </a:ln>
        </p:spPr>
      </p:sp>
      <p:sp>
        <p:nvSpPr>
          <p:cNvPr id="16" name="Shape 14"/>
          <p:cNvSpPr/>
          <p:nvPr/>
        </p:nvSpPr>
        <p:spPr>
          <a:xfrm>
            <a:off x="4151376" y="1417320"/>
            <a:ext cx="640080" cy="274320"/>
          </a:xfrm>
          <a:prstGeom prst="roundRect">
            <a:avLst>
              <a:gd name="adj" fmla="val 50000"/>
            </a:avLst>
          </a:prstGeom>
          <a:solidFill>
            <a:schemeClr val="accent1"/>
          </a:solidFill>
          <a:ln/>
        </p:spPr>
      </p:sp>
      <p:sp>
        <p:nvSpPr>
          <p:cNvPr id="17" name="Text 15"/>
          <p:cNvSpPr txBox="1"/>
          <p:nvPr/>
        </p:nvSpPr>
        <p:spPr>
          <a:xfrm>
            <a:off x="4151376" y="1417320"/>
            <a:ext cx="640080" cy="274320"/>
          </a:xfrm>
          <a:prstGeom prst="rect">
            <a:avLst/>
          </a:prstGeom>
          <a:noFill/>
          <a:ln/>
        </p:spPr>
        <p:txBody>
          <a:bodyPr wrap="square" lIns="0" tIns="0" rIns="0" bIns="0" rtlCol="0" anchor="ctr"/>
          <a:lstStyle/>
          <a:p>
            <a:pPr marL="0" indent="0" algn="ctr">
              <a:buNone/>
            </a:pPr>
            <a:r>
              <a:rPr lang="en-US" sz="1100" b="1" dirty="0">
                <a:solidFill>
                  <a:schemeClr val="bg1"/>
                </a:solidFill>
              </a:rPr>
              <a:t>P1</a:t>
            </a:r>
            <a:endParaRPr lang="en-US" sz="1100" dirty="0"/>
          </a:p>
        </p:txBody>
      </p:sp>
      <p:sp>
        <p:nvSpPr>
          <p:cNvPr id="18" name="Stage box"/>
          <p:cNvSpPr/>
          <p:nvPr/>
        </p:nvSpPr>
        <p:spPr>
          <a:xfrm>
            <a:off x="3749040" y="1783080"/>
            <a:ext cx="1444752" cy="1325880"/>
          </a:xfrm>
          <a:prstGeom prst="roundRect">
            <a:avLst>
              <a:gd name="adj" fmla="val 6897"/>
            </a:avLst>
          </a:prstGeom>
          <a:solidFill>
            <a:schemeClr val="accent1">
              <a:alpha val="88000"/>
            </a:schemeClr>
          </a:solidFill>
          <a:ln/>
        </p:spPr>
      </p:sp>
      <p:sp>
        <p:nvSpPr>
          <p:cNvPr id="19" name="Text 17"/>
          <p:cNvSpPr txBox="1"/>
          <p:nvPr/>
        </p:nvSpPr>
        <p:spPr>
          <a:xfrm>
            <a:off x="3822192" y="1828800"/>
            <a:ext cx="1298448" cy="1234440"/>
          </a:xfrm>
          <a:prstGeom prst="rect">
            <a:avLst/>
          </a:prstGeom>
          <a:noFill/>
          <a:ln/>
        </p:spPr>
        <p:txBody>
          <a:bodyPr wrap="square" lIns="0" tIns="0" rIns="0" bIns="0" rtlCol="0" anchor="ctr"/>
          <a:lstStyle/>
          <a:p>
            <a:pPr marL="0" indent="0" algn="ctr">
              <a:buNone/>
            </a:pPr>
            <a:r>
              <a:rPr lang="en-US" sz="1400" b="1" dirty="0">
                <a:solidFill>
                  <a:schemeClr val="bg1"/>
                </a:solidFill>
              </a:rPr>
              <a:t>HDFS cleaned dataset</a:t>
            </a:r>
            <a:endParaRPr lang="en-US" sz="1400" dirty="0"/>
          </a:p>
          <a:p>
            <a:pPr marL="0" indent="0" algn="ctr">
              <a:buNone/>
            </a:pPr>
            <a:r>
              <a:rPr lang="en-US" sz="1100" dirty="0">
                <a:solidFill>
                  <a:srgbClr val="E3EEF7"/>
                </a:solidFill>
              </a:rPr>
              <a:t>jobs_cleaned.csv</a:t>
            </a:r>
            <a:endParaRPr lang="en-US" sz="1400" dirty="0"/>
          </a:p>
        </p:txBody>
      </p:sp>
      <p:sp>
        <p:nvSpPr>
          <p:cNvPr id="20" name="Shape 18"/>
          <p:cNvSpPr/>
          <p:nvPr/>
        </p:nvSpPr>
        <p:spPr>
          <a:xfrm>
            <a:off x="5193792" y="2441448"/>
            <a:ext cx="155448" cy="0"/>
          </a:xfrm>
          <a:prstGeom prst="line">
            <a:avLst/>
          </a:prstGeom>
          <a:noFill/>
          <a:ln w="22225">
            <a:solidFill>
              <a:schemeClr val="tx2"/>
            </a:solidFill>
            <a:prstDash val="solid"/>
            <a:tailEnd type="triangle"/>
          </a:ln>
        </p:spPr>
      </p:sp>
      <p:sp>
        <p:nvSpPr>
          <p:cNvPr id="21" name="Shape 19"/>
          <p:cNvSpPr/>
          <p:nvPr/>
        </p:nvSpPr>
        <p:spPr>
          <a:xfrm>
            <a:off x="5751576" y="1417320"/>
            <a:ext cx="640080" cy="274320"/>
          </a:xfrm>
          <a:prstGeom prst="roundRect">
            <a:avLst>
              <a:gd name="adj" fmla="val 50000"/>
            </a:avLst>
          </a:prstGeom>
          <a:solidFill>
            <a:schemeClr val="accent2"/>
          </a:solidFill>
          <a:ln/>
        </p:spPr>
      </p:sp>
      <p:sp>
        <p:nvSpPr>
          <p:cNvPr id="22" name="Text 20"/>
          <p:cNvSpPr txBox="1"/>
          <p:nvPr/>
        </p:nvSpPr>
        <p:spPr>
          <a:xfrm>
            <a:off x="5751576" y="1417320"/>
            <a:ext cx="640080" cy="274320"/>
          </a:xfrm>
          <a:prstGeom prst="rect">
            <a:avLst/>
          </a:prstGeom>
          <a:noFill/>
          <a:ln/>
        </p:spPr>
        <p:txBody>
          <a:bodyPr wrap="square" lIns="0" tIns="0" rIns="0" bIns="0" rtlCol="0" anchor="ctr"/>
          <a:lstStyle/>
          <a:p>
            <a:pPr marL="0" indent="0" algn="ctr">
              <a:buNone/>
            </a:pPr>
            <a:r>
              <a:rPr lang="en-US" sz="1100" b="1" dirty="0">
                <a:solidFill>
                  <a:schemeClr val="bg1"/>
                </a:solidFill>
              </a:rPr>
              <a:t>P2</a:t>
            </a:r>
            <a:endParaRPr lang="en-US" sz="1100" dirty="0"/>
          </a:p>
        </p:txBody>
      </p:sp>
      <p:sp>
        <p:nvSpPr>
          <p:cNvPr id="23" name="Stage box"/>
          <p:cNvSpPr/>
          <p:nvPr/>
        </p:nvSpPr>
        <p:spPr>
          <a:xfrm>
            <a:off x="5349240" y="1783080"/>
            <a:ext cx="1444752" cy="1325880"/>
          </a:xfrm>
          <a:prstGeom prst="roundRect">
            <a:avLst>
              <a:gd name="adj" fmla="val 6897"/>
            </a:avLst>
          </a:prstGeom>
          <a:solidFill>
            <a:schemeClr val="accent2">
              <a:alpha val="88000"/>
            </a:schemeClr>
          </a:solidFill>
          <a:ln/>
        </p:spPr>
      </p:sp>
      <p:sp>
        <p:nvSpPr>
          <p:cNvPr id="24" name="Text 22"/>
          <p:cNvSpPr txBox="1"/>
          <p:nvPr/>
        </p:nvSpPr>
        <p:spPr>
          <a:xfrm>
            <a:off x="5422392" y="1828800"/>
            <a:ext cx="1298448" cy="1234440"/>
          </a:xfrm>
          <a:prstGeom prst="rect">
            <a:avLst/>
          </a:prstGeom>
          <a:noFill/>
          <a:ln/>
        </p:spPr>
        <p:txBody>
          <a:bodyPr wrap="square" lIns="0" tIns="0" rIns="0" bIns="0" rtlCol="0" anchor="ctr"/>
          <a:lstStyle/>
          <a:p>
            <a:pPr marL="0" indent="0" algn="ctr">
              <a:buNone/>
            </a:pPr>
            <a:r>
              <a:rPr lang="en-US" sz="1400" b="1" dirty="0">
                <a:solidFill>
                  <a:schemeClr val="bg1"/>
                </a:solidFill>
              </a:rPr>
              <a:t>Apache Pig transformations</a:t>
            </a:r>
            <a:endParaRPr lang="en-US" sz="1400" dirty="0"/>
          </a:p>
          <a:p>
            <a:pPr marL="0" indent="0" algn="ctr">
              <a:buNone/>
            </a:pPr>
            <a:r>
              <a:rPr lang="en-US" sz="1100" dirty="0">
                <a:solidFill>
                  <a:srgbClr val="E3EEF7"/>
                </a:solidFill>
              </a:rPr>
              <a:t>task2_pig</a:t>
            </a:r>
            <a:endParaRPr lang="en-US" sz="1400" dirty="0"/>
          </a:p>
        </p:txBody>
      </p:sp>
      <p:sp>
        <p:nvSpPr>
          <p:cNvPr id="25" name="Shape 23"/>
          <p:cNvSpPr/>
          <p:nvPr/>
        </p:nvSpPr>
        <p:spPr>
          <a:xfrm>
            <a:off x="6793992" y="2441448"/>
            <a:ext cx="155448" cy="0"/>
          </a:xfrm>
          <a:prstGeom prst="line">
            <a:avLst/>
          </a:prstGeom>
          <a:noFill/>
          <a:ln w="22225">
            <a:solidFill>
              <a:schemeClr val="tx2"/>
            </a:solidFill>
            <a:prstDash val="solid"/>
            <a:tailEnd type="triangle"/>
          </a:ln>
        </p:spPr>
      </p:sp>
      <p:sp>
        <p:nvSpPr>
          <p:cNvPr id="26" name="Shape 24"/>
          <p:cNvSpPr/>
          <p:nvPr/>
        </p:nvSpPr>
        <p:spPr>
          <a:xfrm>
            <a:off x="7351776" y="1417320"/>
            <a:ext cx="640080" cy="274320"/>
          </a:xfrm>
          <a:prstGeom prst="roundRect">
            <a:avLst>
              <a:gd name="adj" fmla="val 50000"/>
            </a:avLst>
          </a:prstGeom>
          <a:solidFill>
            <a:schemeClr val="accent2"/>
          </a:solidFill>
          <a:ln/>
        </p:spPr>
      </p:sp>
      <p:sp>
        <p:nvSpPr>
          <p:cNvPr id="27" name="Text 25"/>
          <p:cNvSpPr txBox="1"/>
          <p:nvPr/>
        </p:nvSpPr>
        <p:spPr>
          <a:xfrm>
            <a:off x="7351776" y="1417320"/>
            <a:ext cx="640080" cy="274320"/>
          </a:xfrm>
          <a:prstGeom prst="rect">
            <a:avLst/>
          </a:prstGeom>
          <a:noFill/>
          <a:ln/>
        </p:spPr>
        <p:txBody>
          <a:bodyPr wrap="square" lIns="0" tIns="0" rIns="0" bIns="0" rtlCol="0" anchor="ctr"/>
          <a:lstStyle/>
          <a:p>
            <a:pPr marL="0" indent="0" algn="ctr">
              <a:buNone/>
            </a:pPr>
            <a:r>
              <a:rPr lang="en-US" sz="1100" b="1" dirty="0">
                <a:solidFill>
                  <a:schemeClr val="bg1"/>
                </a:solidFill>
              </a:rPr>
              <a:t>P2</a:t>
            </a:r>
            <a:endParaRPr lang="en-US" sz="1100" dirty="0"/>
          </a:p>
        </p:txBody>
      </p:sp>
      <p:sp>
        <p:nvSpPr>
          <p:cNvPr id="28" name="Stage box"/>
          <p:cNvSpPr/>
          <p:nvPr/>
        </p:nvSpPr>
        <p:spPr>
          <a:xfrm>
            <a:off x="6949440" y="1783080"/>
            <a:ext cx="1444752" cy="1325880"/>
          </a:xfrm>
          <a:prstGeom prst="roundRect">
            <a:avLst>
              <a:gd name="adj" fmla="val 6897"/>
            </a:avLst>
          </a:prstGeom>
          <a:solidFill>
            <a:schemeClr val="accent2">
              <a:alpha val="88000"/>
            </a:schemeClr>
          </a:solidFill>
          <a:ln/>
        </p:spPr>
      </p:sp>
      <p:sp>
        <p:nvSpPr>
          <p:cNvPr id="29" name="Text 27"/>
          <p:cNvSpPr txBox="1"/>
          <p:nvPr/>
        </p:nvSpPr>
        <p:spPr>
          <a:xfrm>
            <a:off x="7022592" y="1828800"/>
            <a:ext cx="1298448" cy="1234440"/>
          </a:xfrm>
          <a:prstGeom prst="rect">
            <a:avLst/>
          </a:prstGeom>
          <a:noFill/>
          <a:ln/>
        </p:spPr>
        <p:txBody>
          <a:bodyPr wrap="square" lIns="0" tIns="0" rIns="0" bIns="0" rtlCol="0" anchor="ctr"/>
          <a:lstStyle/>
          <a:p>
            <a:pPr marL="0" indent="0" algn="ctr">
              <a:buNone/>
            </a:pPr>
            <a:r>
              <a:rPr lang="en-US" sz="1400" b="1" dirty="0">
                <a:solidFill>
                  <a:schemeClr val="bg1"/>
                </a:solidFill>
              </a:rPr>
              <a:t>HDFS processed datasets</a:t>
            </a:r>
            <a:endParaRPr lang="en-US" sz="1400" dirty="0"/>
          </a:p>
          <a:p>
            <a:pPr marL="0" indent="0" algn="ctr">
              <a:buNone/>
            </a:pPr>
            <a:r>
              <a:rPr lang="en-US" sz="1100" dirty="0">
                <a:solidFill>
                  <a:srgbClr val="E3EEF7"/>
                </a:solidFill>
              </a:rPr>
              <a:t>7 directories</a:t>
            </a:r>
            <a:endParaRPr lang="en-US" sz="1400" dirty="0"/>
          </a:p>
        </p:txBody>
      </p:sp>
      <p:sp>
        <p:nvSpPr>
          <p:cNvPr id="30" name="Shape 28"/>
          <p:cNvSpPr/>
          <p:nvPr/>
        </p:nvSpPr>
        <p:spPr>
          <a:xfrm>
            <a:off x="8394192" y="2441448"/>
            <a:ext cx="155448" cy="0"/>
          </a:xfrm>
          <a:prstGeom prst="line">
            <a:avLst/>
          </a:prstGeom>
          <a:noFill/>
          <a:ln w="22225">
            <a:solidFill>
              <a:schemeClr val="tx2"/>
            </a:solidFill>
            <a:prstDash val="solid"/>
            <a:tailEnd type="triangle"/>
          </a:ln>
        </p:spPr>
      </p:sp>
      <p:sp>
        <p:nvSpPr>
          <p:cNvPr id="31" name="Shape 29"/>
          <p:cNvSpPr/>
          <p:nvPr/>
        </p:nvSpPr>
        <p:spPr>
          <a:xfrm>
            <a:off x="8951976" y="1417320"/>
            <a:ext cx="640080" cy="274320"/>
          </a:xfrm>
          <a:prstGeom prst="roundRect">
            <a:avLst>
              <a:gd name="adj" fmla="val 50000"/>
            </a:avLst>
          </a:prstGeom>
          <a:solidFill>
            <a:schemeClr val="accent3"/>
          </a:solidFill>
          <a:ln/>
        </p:spPr>
      </p:sp>
      <p:sp>
        <p:nvSpPr>
          <p:cNvPr id="32" name="Text 30"/>
          <p:cNvSpPr txBox="1"/>
          <p:nvPr/>
        </p:nvSpPr>
        <p:spPr>
          <a:xfrm>
            <a:off x="8951976" y="1417320"/>
            <a:ext cx="640080" cy="274320"/>
          </a:xfrm>
          <a:prstGeom prst="rect">
            <a:avLst/>
          </a:prstGeom>
          <a:noFill/>
          <a:ln/>
        </p:spPr>
        <p:txBody>
          <a:bodyPr wrap="square" lIns="0" tIns="0" rIns="0" bIns="0" rtlCol="0" anchor="ctr"/>
          <a:lstStyle/>
          <a:p>
            <a:pPr marL="0" indent="0" algn="ctr">
              <a:buNone/>
            </a:pPr>
            <a:r>
              <a:rPr lang="en-US" sz="1100" b="1" dirty="0">
                <a:solidFill>
                  <a:schemeClr val="tx2"/>
                </a:solidFill>
              </a:rPr>
              <a:t>P3</a:t>
            </a:r>
            <a:endParaRPr lang="en-US" sz="1100" dirty="0"/>
          </a:p>
        </p:txBody>
      </p:sp>
      <p:sp>
        <p:nvSpPr>
          <p:cNvPr id="33" name="Stage box"/>
          <p:cNvSpPr/>
          <p:nvPr/>
        </p:nvSpPr>
        <p:spPr>
          <a:xfrm>
            <a:off x="8549640" y="1783080"/>
            <a:ext cx="1444752" cy="1325880"/>
          </a:xfrm>
          <a:prstGeom prst="roundRect">
            <a:avLst>
              <a:gd name="adj" fmla="val 6897"/>
            </a:avLst>
          </a:prstGeom>
          <a:solidFill>
            <a:schemeClr val="accent3">
              <a:alpha val="88000"/>
            </a:schemeClr>
          </a:solidFill>
          <a:ln/>
        </p:spPr>
      </p:sp>
      <p:sp>
        <p:nvSpPr>
          <p:cNvPr id="34" name="Text 32"/>
          <p:cNvSpPr txBox="1"/>
          <p:nvPr/>
        </p:nvSpPr>
        <p:spPr>
          <a:xfrm>
            <a:off x="8622792" y="1828800"/>
            <a:ext cx="1298448" cy="1234440"/>
          </a:xfrm>
          <a:prstGeom prst="rect">
            <a:avLst/>
          </a:prstGeom>
          <a:noFill/>
          <a:ln/>
        </p:spPr>
        <p:txBody>
          <a:bodyPr wrap="square" lIns="0" tIns="0" rIns="0" bIns="0" rtlCol="0" anchor="ctr"/>
          <a:lstStyle/>
          <a:p>
            <a:pPr marL="0" indent="0" algn="ctr">
              <a:buNone/>
            </a:pPr>
            <a:r>
              <a:rPr lang="en-US" sz="1400" b="1" dirty="0">
                <a:solidFill>
                  <a:schemeClr val="tx2"/>
                </a:solidFill>
              </a:rPr>
              <a:t>Apache Hive tables &amp; SQL</a:t>
            </a:r>
            <a:endParaRPr lang="en-US" sz="1400" dirty="0"/>
          </a:p>
          <a:p>
            <a:pPr marL="0" indent="0" algn="ctr">
              <a:buNone/>
            </a:pPr>
            <a:r>
              <a:rPr lang="en-US" sz="1100" dirty="0">
                <a:solidFill>
                  <a:schemeClr val="tx2"/>
                </a:solidFill>
              </a:rPr>
              <a:t>task3_hive</a:t>
            </a:r>
            <a:endParaRPr lang="en-US" sz="1400" dirty="0"/>
          </a:p>
        </p:txBody>
      </p:sp>
      <p:sp>
        <p:nvSpPr>
          <p:cNvPr id="35" name="Shape 33"/>
          <p:cNvSpPr/>
          <p:nvPr/>
        </p:nvSpPr>
        <p:spPr>
          <a:xfrm>
            <a:off x="9994392" y="2441448"/>
            <a:ext cx="155448" cy="0"/>
          </a:xfrm>
          <a:prstGeom prst="line">
            <a:avLst/>
          </a:prstGeom>
          <a:noFill/>
          <a:ln w="22225">
            <a:solidFill>
              <a:schemeClr val="tx2"/>
            </a:solidFill>
            <a:prstDash val="solid"/>
            <a:tailEnd type="triangle"/>
          </a:ln>
        </p:spPr>
      </p:sp>
      <p:sp>
        <p:nvSpPr>
          <p:cNvPr id="36" name="Shape 34"/>
          <p:cNvSpPr/>
          <p:nvPr/>
        </p:nvSpPr>
        <p:spPr>
          <a:xfrm>
            <a:off x="10552176" y="1417320"/>
            <a:ext cx="640080" cy="274320"/>
          </a:xfrm>
          <a:prstGeom prst="roundRect">
            <a:avLst>
              <a:gd name="adj" fmla="val 50000"/>
            </a:avLst>
          </a:prstGeom>
          <a:solidFill>
            <a:schemeClr val="accent3"/>
          </a:solidFill>
          <a:ln/>
        </p:spPr>
      </p:sp>
      <p:sp>
        <p:nvSpPr>
          <p:cNvPr id="37" name="Text 35"/>
          <p:cNvSpPr txBox="1"/>
          <p:nvPr/>
        </p:nvSpPr>
        <p:spPr>
          <a:xfrm>
            <a:off x="10552176" y="1417320"/>
            <a:ext cx="640080" cy="274320"/>
          </a:xfrm>
          <a:prstGeom prst="rect">
            <a:avLst/>
          </a:prstGeom>
          <a:noFill/>
          <a:ln/>
        </p:spPr>
        <p:txBody>
          <a:bodyPr wrap="square" lIns="0" tIns="0" rIns="0" bIns="0" rtlCol="0" anchor="ctr"/>
          <a:lstStyle/>
          <a:p>
            <a:pPr marL="0" indent="0" algn="ctr">
              <a:buNone/>
            </a:pPr>
            <a:r>
              <a:rPr lang="en-US" sz="1100" b="1" dirty="0">
                <a:solidFill>
                  <a:schemeClr val="tx2"/>
                </a:solidFill>
              </a:rPr>
              <a:t>P3</a:t>
            </a:r>
            <a:endParaRPr lang="en-US" sz="1100" dirty="0"/>
          </a:p>
        </p:txBody>
      </p:sp>
      <p:sp>
        <p:nvSpPr>
          <p:cNvPr id="38" name="Stage box"/>
          <p:cNvSpPr/>
          <p:nvPr/>
        </p:nvSpPr>
        <p:spPr>
          <a:xfrm>
            <a:off x="10149840" y="1783080"/>
            <a:ext cx="1444752" cy="1325880"/>
          </a:xfrm>
          <a:prstGeom prst="roundRect">
            <a:avLst>
              <a:gd name="adj" fmla="val 6897"/>
            </a:avLst>
          </a:prstGeom>
          <a:solidFill>
            <a:schemeClr val="accent6">
              <a:alpha val="88000"/>
            </a:schemeClr>
          </a:solidFill>
          <a:ln/>
        </p:spPr>
      </p:sp>
      <p:sp>
        <p:nvSpPr>
          <p:cNvPr id="39" name="Text 37"/>
          <p:cNvSpPr txBox="1"/>
          <p:nvPr/>
        </p:nvSpPr>
        <p:spPr>
          <a:xfrm>
            <a:off x="10222992" y="1828800"/>
            <a:ext cx="1298448" cy="1234440"/>
          </a:xfrm>
          <a:prstGeom prst="rect">
            <a:avLst/>
          </a:prstGeom>
          <a:noFill/>
          <a:ln/>
        </p:spPr>
        <p:txBody>
          <a:bodyPr wrap="square" lIns="0" tIns="0" rIns="0" bIns="0" rtlCol="0" anchor="ctr"/>
          <a:lstStyle/>
          <a:p>
            <a:pPr marL="0" indent="0" algn="ctr">
              <a:buNone/>
            </a:pPr>
            <a:r>
              <a:rPr lang="en-US" sz="1400" b="1" dirty="0">
                <a:solidFill>
                  <a:schemeClr val="bg1"/>
                </a:solidFill>
              </a:rPr>
              <a:t>Streamlit + Plotly dashboard</a:t>
            </a:r>
            <a:endParaRPr lang="en-US" sz="1400" dirty="0"/>
          </a:p>
          <a:p>
            <a:pPr marL="0" indent="0" algn="ctr">
              <a:buNone/>
            </a:pPr>
            <a:r>
              <a:rPr lang="en-US" sz="1100" dirty="0">
                <a:solidFill>
                  <a:srgbClr val="E3EEF7"/>
                </a:solidFill>
              </a:rPr>
              <a:t>end-user insights</a:t>
            </a:r>
            <a:endParaRPr lang="en-US" sz="1400" dirty="0"/>
          </a:p>
        </p:txBody>
      </p:sp>
      <p:sp>
        <p:nvSpPr>
          <p:cNvPr id="40" name="Input path card"/>
          <p:cNvSpPr/>
          <p:nvPr/>
        </p:nvSpPr>
        <p:spPr>
          <a:xfrm>
            <a:off x="548640" y="3429000"/>
            <a:ext cx="3291840" cy="2651760"/>
          </a:xfrm>
          <a:prstGeom prst="roundRect">
            <a:avLst>
              <a:gd name="adj" fmla="val 2759"/>
            </a:avLst>
          </a:prstGeom>
          <a:solidFill>
            <a:schemeClr val="bg2"/>
          </a:solidFill>
          <a:ln/>
        </p:spPr>
      </p:sp>
      <p:sp>
        <p:nvSpPr>
          <p:cNvPr id="41" name="Text 39"/>
          <p:cNvSpPr txBox="1"/>
          <p:nvPr/>
        </p:nvSpPr>
        <p:spPr>
          <a:xfrm>
            <a:off x="731520" y="3547872"/>
            <a:ext cx="2926080" cy="256032"/>
          </a:xfrm>
          <a:prstGeom prst="rect">
            <a:avLst/>
          </a:prstGeom>
          <a:noFill/>
          <a:ln/>
        </p:spPr>
        <p:txBody>
          <a:bodyPr wrap="square" lIns="0" tIns="0" rIns="0" bIns="0" rtlCol="0" anchor="t"/>
          <a:lstStyle/>
          <a:p>
            <a:pPr marL="0" indent="0">
              <a:buNone/>
            </a:pPr>
            <a:r>
              <a:rPr lang="en-US" sz="1100" b="1" dirty="0">
                <a:solidFill>
                  <a:schemeClr val="accent4"/>
                </a:solidFill>
              </a:rPr>
              <a:t>INPUT (Task 1 output)</a:t>
            </a:r>
            <a:endParaRPr lang="en-US" sz="1100" dirty="0"/>
          </a:p>
        </p:txBody>
      </p:sp>
      <p:sp>
        <p:nvSpPr>
          <p:cNvPr id="42" name="Shape 40"/>
          <p:cNvSpPr/>
          <p:nvPr/>
        </p:nvSpPr>
        <p:spPr>
          <a:xfrm>
            <a:off x="731520" y="3886200"/>
            <a:ext cx="2926080" cy="777240"/>
          </a:xfrm>
          <a:prstGeom prst="roundRect">
            <a:avLst>
              <a:gd name="adj" fmla="val 7059"/>
            </a:avLst>
          </a:prstGeom>
          <a:solidFill>
            <a:schemeClr val="tx2"/>
          </a:solidFill>
          <a:ln/>
        </p:spPr>
      </p:sp>
      <p:sp>
        <p:nvSpPr>
          <p:cNvPr id="43" name="Text 41"/>
          <p:cNvSpPr txBox="1"/>
          <p:nvPr/>
        </p:nvSpPr>
        <p:spPr>
          <a:xfrm>
            <a:off x="822960" y="3886200"/>
            <a:ext cx="2743200" cy="777240"/>
          </a:xfrm>
          <a:prstGeom prst="rect">
            <a:avLst/>
          </a:prstGeom>
          <a:noFill/>
          <a:ln/>
        </p:spPr>
        <p:txBody>
          <a:bodyPr wrap="square" lIns="0" tIns="0" rIns="0" bIns="0"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/jobmarket/cleaned/</a:t>
            </a:r>
            <a:endParaRPr lang="en-US" sz="1300" dirty="0"/>
          </a:p>
          <a:p>
            <a:pPr marL="0" indent="0">
              <a:buNone/>
            </a:pPr>
            <a:r>
              <a:rPr lang="en-US" sz="1300" dirty="0">
                <a:solidFill>
                  <a:srgbClr val="FFFFFF"/>
                </a:solidFill>
                <a:latin typeface="Courier New" pitchFamily="34" charset="0"/>
                <a:ea typeface="Courier New" pitchFamily="34" charset="-122"/>
                <a:cs typeface="Courier New" pitchFamily="34" charset="-120"/>
              </a:rPr>
              <a:t>jobs_cleaned.csv</a:t>
            </a:r>
            <a:endParaRPr lang="en-US" sz="1300" dirty="0"/>
          </a:p>
        </p:txBody>
      </p:sp>
      <p:sp>
        <p:nvSpPr>
          <p:cNvPr id="44" name="Text 42"/>
          <p:cNvSpPr txBox="1"/>
          <p:nvPr/>
        </p:nvSpPr>
        <p:spPr>
          <a:xfrm>
            <a:off x="731520" y="4846320"/>
            <a:ext cx="2926080" cy="822960"/>
          </a:xfrm>
          <a:prstGeom prst="rect">
            <a:avLst/>
          </a:prstGeom>
          <a:noFill/>
          <a:ln/>
        </p:spPr>
        <p:txBody>
          <a:bodyPr wrap="square" lIns="0" tIns="0" rIns="0" bIns="0" rtlCol="0" anchor="t"/>
          <a:lstStyle/>
          <a:p>
            <a:pPr marL="0" indent="0">
              <a:buNone/>
            </a:pPr>
            <a:r>
              <a:rPr lang="en-US" sz="1400" dirty="0">
                <a:solidFill>
                  <a:schemeClr val="accent4"/>
                </a:solidFill>
              </a:rPr>
              <a:t>Shared, validated input read by Apache Pig</a:t>
            </a:r>
            <a:endParaRPr lang="en-US" sz="1400" dirty="0"/>
          </a:p>
        </p:txBody>
      </p:sp>
      <p:sp>
        <p:nvSpPr>
          <p:cNvPr id="45" name="Output paths card"/>
          <p:cNvSpPr/>
          <p:nvPr/>
        </p:nvSpPr>
        <p:spPr>
          <a:xfrm>
            <a:off x="4069080" y="3429000"/>
            <a:ext cx="7589520" cy="2651760"/>
          </a:xfrm>
          <a:prstGeom prst="roundRect">
            <a:avLst>
              <a:gd name="adj" fmla="val 2759"/>
            </a:avLst>
          </a:prstGeom>
          <a:solidFill>
            <a:schemeClr val="bg2"/>
          </a:solidFill>
          <a:ln/>
        </p:spPr>
      </p:sp>
      <p:sp>
        <p:nvSpPr>
          <p:cNvPr id="46" name="Text 44"/>
          <p:cNvSpPr txBox="1"/>
          <p:nvPr/>
        </p:nvSpPr>
        <p:spPr>
          <a:xfrm>
            <a:off x="4251960" y="3547872"/>
            <a:ext cx="7132320" cy="256032"/>
          </a:xfrm>
          <a:prstGeom prst="rect">
            <a:avLst/>
          </a:prstGeom>
          <a:noFill/>
          <a:ln/>
        </p:spPr>
        <p:txBody>
          <a:bodyPr wrap="square" lIns="0" tIns="0" rIns="0" bIns="0" rtlCol="0" anchor="t"/>
          <a:lstStyle/>
          <a:p>
            <a:pPr marL="0" indent="0">
              <a:buNone/>
            </a:pPr>
            <a:r>
              <a:rPr lang="en-US" sz="1100" b="1" dirty="0">
                <a:solidFill>
                  <a:schemeClr val="accent4"/>
                </a:solidFill>
              </a:rPr>
              <a:t>OUTPUTS (Task 2): /jobmarket/processed/</a:t>
            </a:r>
            <a:endParaRPr lang="en-US" sz="1100" dirty="0"/>
          </a:p>
        </p:txBody>
      </p:sp>
      <p:sp>
        <p:nvSpPr>
          <p:cNvPr id="47" name="Text 45"/>
          <p:cNvSpPr txBox="1"/>
          <p:nvPr/>
        </p:nvSpPr>
        <p:spPr>
          <a:xfrm>
            <a:off x="4251960" y="3931920"/>
            <a:ext cx="2286000" cy="274320"/>
          </a:xfrm>
          <a:prstGeom prst="rect">
            <a:avLst/>
          </a:prstGeom>
          <a:noFill/>
          <a:ln/>
        </p:spPr>
        <p:txBody>
          <a:bodyPr wrap="square" lIns="0" tIns="0" rIns="0" bIns="0" rtlCol="0" anchor="t"/>
          <a:lstStyle/>
          <a:p>
            <a:pPr marL="0" indent="0">
              <a:buNone/>
            </a:pPr>
            <a:r>
              <a:rPr lang="en-US" sz="1400" b="1" dirty="0">
                <a:solidFill>
                  <a:schemeClr val="tx2"/>
                </a:solidFill>
              </a:rPr>
              <a:t>Record-level</a:t>
            </a:r>
            <a:endParaRPr lang="en-US" sz="1400" dirty="0"/>
          </a:p>
        </p:txBody>
      </p:sp>
      <p:sp>
        <p:nvSpPr>
          <p:cNvPr id="48" name="Shape 46"/>
          <p:cNvSpPr/>
          <p:nvPr/>
        </p:nvSpPr>
        <p:spPr>
          <a:xfrm>
            <a:off x="4251960" y="4297680"/>
            <a:ext cx="2286000" cy="457200"/>
          </a:xfrm>
          <a:prstGeom prst="roundRect">
            <a:avLst>
              <a:gd name="adj" fmla="val 12000"/>
            </a:avLst>
          </a:prstGeom>
          <a:solidFill>
            <a:schemeClr val="accent1">
              <a:alpha val="22000"/>
            </a:schemeClr>
          </a:solidFill>
          <a:ln w="15875">
            <a:solidFill>
              <a:schemeClr val="accent1"/>
            </a:solidFill>
            <a:prstDash val="solid"/>
          </a:ln>
        </p:spPr>
      </p:sp>
      <p:sp>
        <p:nvSpPr>
          <p:cNvPr id="49" name="Text 47"/>
          <p:cNvSpPr txBox="1"/>
          <p:nvPr/>
        </p:nvSpPr>
        <p:spPr>
          <a:xfrm>
            <a:off x="4251960" y="4297680"/>
            <a:ext cx="2286000" cy="457200"/>
          </a:xfrm>
          <a:prstGeom prst="rect">
            <a:avLst/>
          </a:prstGeom>
          <a:noFill/>
          <a:ln/>
        </p:spPr>
        <p:txBody>
          <a:bodyPr wrap="square" lIns="0" tIns="0" rIns="0" bIns="0" rtlCol="0" anchor="ctr"/>
          <a:lstStyle/>
          <a:p>
            <a:pPr marL="0" indent="0" algn="ctr">
              <a:buNone/>
            </a:pPr>
            <a:r>
              <a:rPr lang="en-US" sz="1300" dirty="0">
                <a:solidFill>
                  <a:schemeClr val="tx1"/>
                </a:solidFill>
                <a:latin typeface="Courier New" pitchFamily="34" charset="0"/>
                <a:ea typeface="Courier New" pitchFamily="34" charset="-122"/>
                <a:cs typeface="Courier New" pitchFamily="34" charset="-120"/>
              </a:rPr>
              <a:t>jobs/</a:t>
            </a:r>
            <a:endParaRPr lang="en-US" sz="1300" dirty="0"/>
          </a:p>
        </p:txBody>
      </p:sp>
      <p:sp>
        <p:nvSpPr>
          <p:cNvPr id="50" name="Shape 48"/>
          <p:cNvSpPr/>
          <p:nvPr/>
        </p:nvSpPr>
        <p:spPr>
          <a:xfrm>
            <a:off x="4251960" y="4864608"/>
            <a:ext cx="2286000" cy="457200"/>
          </a:xfrm>
          <a:prstGeom prst="roundRect">
            <a:avLst>
              <a:gd name="adj" fmla="val 12000"/>
            </a:avLst>
          </a:prstGeom>
          <a:solidFill>
            <a:schemeClr val="accent1">
              <a:alpha val="22000"/>
            </a:schemeClr>
          </a:solidFill>
          <a:ln w="15875">
            <a:solidFill>
              <a:schemeClr val="accent1"/>
            </a:solidFill>
            <a:prstDash val="solid"/>
          </a:ln>
        </p:spPr>
      </p:sp>
      <p:sp>
        <p:nvSpPr>
          <p:cNvPr id="51" name="Text 49"/>
          <p:cNvSpPr txBox="1"/>
          <p:nvPr/>
        </p:nvSpPr>
        <p:spPr>
          <a:xfrm>
            <a:off x="4251960" y="4864608"/>
            <a:ext cx="2286000" cy="457200"/>
          </a:xfrm>
          <a:prstGeom prst="rect">
            <a:avLst/>
          </a:prstGeom>
          <a:noFill/>
          <a:ln/>
        </p:spPr>
        <p:txBody>
          <a:bodyPr wrap="square" lIns="0" tIns="0" rIns="0" bIns="0" rtlCol="0" anchor="ctr"/>
          <a:lstStyle/>
          <a:p>
            <a:pPr marL="0" indent="0" algn="ctr">
              <a:buNone/>
            </a:pPr>
            <a:r>
              <a:rPr lang="en-US" sz="1300" dirty="0">
                <a:solidFill>
                  <a:schemeClr val="tx1"/>
                </a:solidFill>
                <a:latin typeface="Courier New" pitchFamily="34" charset="0"/>
                <a:ea typeface="Courier New" pitchFamily="34" charset="-122"/>
                <a:cs typeface="Courier New" pitchFamily="34" charset="-120"/>
              </a:rPr>
              <a:t>skills/</a:t>
            </a:r>
            <a:endParaRPr lang="en-US" sz="1300" dirty="0"/>
          </a:p>
        </p:txBody>
      </p:sp>
      <p:sp>
        <p:nvSpPr>
          <p:cNvPr id="52" name="Text 50"/>
          <p:cNvSpPr txBox="1"/>
          <p:nvPr/>
        </p:nvSpPr>
        <p:spPr>
          <a:xfrm>
            <a:off x="6720840" y="3931920"/>
            <a:ext cx="2286000" cy="274320"/>
          </a:xfrm>
          <a:prstGeom prst="rect">
            <a:avLst/>
          </a:prstGeom>
          <a:noFill/>
          <a:ln/>
        </p:spPr>
        <p:txBody>
          <a:bodyPr wrap="square" lIns="0" tIns="0" rIns="0" bIns="0" rtlCol="0" anchor="t"/>
          <a:lstStyle/>
          <a:p>
            <a:pPr marL="0" indent="0">
              <a:buNone/>
            </a:pPr>
            <a:r>
              <a:rPr lang="en-US" sz="1400" b="1" dirty="0">
                <a:solidFill>
                  <a:schemeClr val="tx2"/>
                </a:solidFill>
              </a:rPr>
              <a:t>Demand counts</a:t>
            </a:r>
            <a:endParaRPr lang="en-US" sz="1400" dirty="0"/>
          </a:p>
        </p:txBody>
      </p:sp>
      <p:sp>
        <p:nvSpPr>
          <p:cNvPr id="53" name="Shape 51"/>
          <p:cNvSpPr/>
          <p:nvPr/>
        </p:nvSpPr>
        <p:spPr>
          <a:xfrm>
            <a:off x="6720840" y="4297680"/>
            <a:ext cx="2286000" cy="457200"/>
          </a:xfrm>
          <a:prstGeom prst="roundRect">
            <a:avLst>
              <a:gd name="adj" fmla="val 12000"/>
            </a:avLst>
          </a:prstGeom>
          <a:solidFill>
            <a:schemeClr val="accent2">
              <a:alpha val="22000"/>
            </a:schemeClr>
          </a:solidFill>
          <a:ln w="15875">
            <a:solidFill>
              <a:schemeClr val="accent2"/>
            </a:solidFill>
            <a:prstDash val="solid"/>
          </a:ln>
        </p:spPr>
      </p:sp>
      <p:sp>
        <p:nvSpPr>
          <p:cNvPr id="54" name="Text 52"/>
          <p:cNvSpPr txBox="1"/>
          <p:nvPr/>
        </p:nvSpPr>
        <p:spPr>
          <a:xfrm>
            <a:off x="6720840" y="4297680"/>
            <a:ext cx="2286000" cy="457200"/>
          </a:xfrm>
          <a:prstGeom prst="rect">
            <a:avLst/>
          </a:prstGeom>
          <a:noFill/>
          <a:ln/>
        </p:spPr>
        <p:txBody>
          <a:bodyPr wrap="square" lIns="0" tIns="0" rIns="0" bIns="0" rtlCol="0" anchor="ctr"/>
          <a:lstStyle/>
          <a:p>
            <a:pPr marL="0" indent="0" algn="ctr">
              <a:buNone/>
            </a:pPr>
            <a:r>
              <a:rPr lang="en-US" sz="1300" dirty="0">
                <a:solidFill>
                  <a:schemeClr val="tx1"/>
                </a:solidFill>
                <a:latin typeface="Courier New" pitchFamily="34" charset="0"/>
                <a:ea typeface="Courier New" pitchFamily="34" charset="-122"/>
                <a:cs typeface="Courier New" pitchFamily="34" charset="-120"/>
              </a:rPr>
              <a:t>skills_demand/</a:t>
            </a:r>
            <a:endParaRPr lang="en-US" sz="1300" dirty="0"/>
          </a:p>
        </p:txBody>
      </p:sp>
      <p:sp>
        <p:nvSpPr>
          <p:cNvPr id="55" name="Shape 53"/>
          <p:cNvSpPr/>
          <p:nvPr/>
        </p:nvSpPr>
        <p:spPr>
          <a:xfrm>
            <a:off x="6720840" y="4864608"/>
            <a:ext cx="2286000" cy="457200"/>
          </a:xfrm>
          <a:prstGeom prst="roundRect">
            <a:avLst>
              <a:gd name="adj" fmla="val 12000"/>
            </a:avLst>
          </a:prstGeom>
          <a:solidFill>
            <a:schemeClr val="accent2">
              <a:alpha val="22000"/>
            </a:schemeClr>
          </a:solidFill>
          <a:ln w="15875">
            <a:solidFill>
              <a:schemeClr val="accent2"/>
            </a:solidFill>
            <a:prstDash val="solid"/>
          </a:ln>
        </p:spPr>
      </p:sp>
      <p:sp>
        <p:nvSpPr>
          <p:cNvPr id="56" name="Text 54"/>
          <p:cNvSpPr txBox="1"/>
          <p:nvPr/>
        </p:nvSpPr>
        <p:spPr>
          <a:xfrm>
            <a:off x="6720840" y="4864608"/>
            <a:ext cx="2286000" cy="457200"/>
          </a:xfrm>
          <a:prstGeom prst="rect">
            <a:avLst/>
          </a:prstGeom>
          <a:noFill/>
          <a:ln/>
        </p:spPr>
        <p:txBody>
          <a:bodyPr wrap="square" lIns="0" tIns="0" rIns="0" bIns="0" rtlCol="0" anchor="ctr"/>
          <a:lstStyle/>
          <a:p>
            <a:pPr marL="0" indent="0" algn="ctr">
              <a:buNone/>
            </a:pPr>
            <a:r>
              <a:rPr lang="en-US" sz="1300" dirty="0">
                <a:solidFill>
                  <a:schemeClr val="tx1"/>
                </a:solidFill>
                <a:latin typeface="Courier New" pitchFamily="34" charset="0"/>
                <a:ea typeface="Courier New" pitchFamily="34" charset="-122"/>
                <a:cs typeface="Courier New" pitchFamily="34" charset="-120"/>
              </a:rPr>
              <a:t>location/</a:t>
            </a:r>
            <a:endParaRPr lang="en-US" sz="1300" dirty="0"/>
          </a:p>
        </p:txBody>
      </p:sp>
      <p:sp>
        <p:nvSpPr>
          <p:cNvPr id="57" name="Text 55"/>
          <p:cNvSpPr txBox="1"/>
          <p:nvPr/>
        </p:nvSpPr>
        <p:spPr>
          <a:xfrm>
            <a:off x="9189720" y="3931920"/>
            <a:ext cx="2286000" cy="274320"/>
          </a:xfrm>
          <a:prstGeom prst="rect">
            <a:avLst/>
          </a:prstGeom>
          <a:noFill/>
          <a:ln/>
        </p:spPr>
        <p:txBody>
          <a:bodyPr wrap="square" lIns="0" tIns="0" rIns="0" bIns="0" rtlCol="0" anchor="t"/>
          <a:lstStyle/>
          <a:p>
            <a:pPr marL="0" indent="0">
              <a:buNone/>
            </a:pPr>
            <a:r>
              <a:rPr lang="en-US" sz="1400" b="1" dirty="0">
                <a:solidFill>
                  <a:schemeClr val="tx2"/>
                </a:solidFill>
              </a:rPr>
              <a:t>Salary &amp; time</a:t>
            </a:r>
            <a:endParaRPr lang="en-US" sz="1400" dirty="0"/>
          </a:p>
        </p:txBody>
      </p:sp>
      <p:sp>
        <p:nvSpPr>
          <p:cNvPr id="58" name="Shape 56"/>
          <p:cNvSpPr/>
          <p:nvPr/>
        </p:nvSpPr>
        <p:spPr>
          <a:xfrm>
            <a:off x="9189720" y="4297680"/>
            <a:ext cx="2286000" cy="457200"/>
          </a:xfrm>
          <a:prstGeom prst="roundRect">
            <a:avLst>
              <a:gd name="adj" fmla="val 12000"/>
            </a:avLst>
          </a:prstGeom>
          <a:solidFill>
            <a:schemeClr val="accent3">
              <a:alpha val="22000"/>
            </a:schemeClr>
          </a:solidFill>
          <a:ln w="15875">
            <a:solidFill>
              <a:schemeClr val="accent3"/>
            </a:solidFill>
            <a:prstDash val="solid"/>
          </a:ln>
        </p:spPr>
      </p:sp>
      <p:sp>
        <p:nvSpPr>
          <p:cNvPr id="59" name="Text 57"/>
          <p:cNvSpPr txBox="1"/>
          <p:nvPr/>
        </p:nvSpPr>
        <p:spPr>
          <a:xfrm>
            <a:off x="9189720" y="4297680"/>
            <a:ext cx="2286000" cy="457200"/>
          </a:xfrm>
          <a:prstGeom prst="rect">
            <a:avLst/>
          </a:prstGeom>
          <a:noFill/>
          <a:ln/>
        </p:spPr>
        <p:txBody>
          <a:bodyPr wrap="square" lIns="0" tIns="0" rIns="0" bIns="0" rtlCol="0" anchor="ctr"/>
          <a:lstStyle/>
          <a:p>
            <a:pPr marL="0" indent="0" algn="ctr">
              <a:buNone/>
            </a:pPr>
            <a:r>
              <a:rPr lang="en-US" sz="1300" dirty="0">
                <a:solidFill>
                  <a:schemeClr val="tx1"/>
                </a:solidFill>
                <a:latin typeface="Courier New" pitchFamily="34" charset="0"/>
                <a:ea typeface="Courier New" pitchFamily="34" charset="-122"/>
                <a:cs typeface="Courier New" pitchFamily="34" charset="-120"/>
              </a:rPr>
              <a:t>salary/</a:t>
            </a:r>
            <a:endParaRPr lang="en-US" sz="1300" dirty="0"/>
          </a:p>
        </p:txBody>
      </p:sp>
      <p:sp>
        <p:nvSpPr>
          <p:cNvPr id="60" name="Shape 58"/>
          <p:cNvSpPr/>
          <p:nvPr/>
        </p:nvSpPr>
        <p:spPr>
          <a:xfrm>
            <a:off x="9189720" y="4864608"/>
            <a:ext cx="2286000" cy="457200"/>
          </a:xfrm>
          <a:prstGeom prst="roundRect">
            <a:avLst>
              <a:gd name="adj" fmla="val 12000"/>
            </a:avLst>
          </a:prstGeom>
          <a:solidFill>
            <a:schemeClr val="accent3">
              <a:alpha val="22000"/>
            </a:schemeClr>
          </a:solidFill>
          <a:ln w="15875">
            <a:solidFill>
              <a:schemeClr val="accent3"/>
            </a:solidFill>
            <a:prstDash val="solid"/>
          </a:ln>
        </p:spPr>
      </p:sp>
      <p:sp>
        <p:nvSpPr>
          <p:cNvPr id="61" name="Text 59"/>
          <p:cNvSpPr txBox="1"/>
          <p:nvPr/>
        </p:nvSpPr>
        <p:spPr>
          <a:xfrm>
            <a:off x="9189720" y="4864608"/>
            <a:ext cx="2286000" cy="457200"/>
          </a:xfrm>
          <a:prstGeom prst="rect">
            <a:avLst/>
          </a:prstGeom>
          <a:noFill/>
          <a:ln/>
        </p:spPr>
        <p:txBody>
          <a:bodyPr wrap="square" lIns="0" tIns="0" rIns="0" bIns="0" rtlCol="0" anchor="ctr"/>
          <a:lstStyle/>
          <a:p>
            <a:pPr marL="0" indent="0" algn="ctr">
              <a:buNone/>
            </a:pPr>
            <a:r>
              <a:rPr lang="en-US" sz="1300" dirty="0">
                <a:solidFill>
                  <a:schemeClr val="tx1"/>
                </a:solidFill>
                <a:latin typeface="Courier New" pitchFamily="34" charset="0"/>
                <a:ea typeface="Courier New" pitchFamily="34" charset="-122"/>
                <a:cs typeface="Courier New" pitchFamily="34" charset="-120"/>
              </a:rPr>
              <a:t>salary_location/</a:t>
            </a:r>
            <a:endParaRPr lang="en-US" sz="1300" dirty="0"/>
          </a:p>
        </p:txBody>
      </p:sp>
      <p:sp>
        <p:nvSpPr>
          <p:cNvPr id="62" name="Shape 60"/>
          <p:cNvSpPr/>
          <p:nvPr/>
        </p:nvSpPr>
        <p:spPr>
          <a:xfrm>
            <a:off x="9189720" y="5431536"/>
            <a:ext cx="2286000" cy="457200"/>
          </a:xfrm>
          <a:prstGeom prst="roundRect">
            <a:avLst>
              <a:gd name="adj" fmla="val 12000"/>
            </a:avLst>
          </a:prstGeom>
          <a:solidFill>
            <a:schemeClr val="accent3">
              <a:alpha val="22000"/>
            </a:schemeClr>
          </a:solidFill>
          <a:ln w="15875">
            <a:solidFill>
              <a:schemeClr val="accent3"/>
            </a:solidFill>
            <a:prstDash val="solid"/>
          </a:ln>
        </p:spPr>
      </p:sp>
      <p:sp>
        <p:nvSpPr>
          <p:cNvPr id="63" name="Text 61"/>
          <p:cNvSpPr txBox="1"/>
          <p:nvPr/>
        </p:nvSpPr>
        <p:spPr>
          <a:xfrm>
            <a:off x="9189720" y="5431536"/>
            <a:ext cx="2286000" cy="457200"/>
          </a:xfrm>
          <a:prstGeom prst="rect">
            <a:avLst/>
          </a:prstGeom>
          <a:noFill/>
          <a:ln/>
        </p:spPr>
        <p:txBody>
          <a:bodyPr wrap="square" lIns="0" tIns="0" rIns="0" bIns="0" rtlCol="0" anchor="ctr"/>
          <a:lstStyle/>
          <a:p>
            <a:pPr marL="0" indent="0" algn="ctr">
              <a:buNone/>
            </a:pPr>
            <a:r>
              <a:rPr lang="en-US" sz="1300" dirty="0">
                <a:solidFill>
                  <a:schemeClr val="tx1"/>
                </a:solidFill>
                <a:latin typeface="Courier New" pitchFamily="34" charset="0"/>
                <a:ea typeface="Courier New" pitchFamily="34" charset="-122"/>
                <a:cs typeface="Courier New" pitchFamily="34" charset="-120"/>
              </a:rPr>
              <a:t>time_based/</a:t>
            </a:r>
            <a:endParaRPr lang="en-US" sz="1300" dirty="0"/>
          </a:p>
        </p:txBody>
      </p:sp>
      <p:sp>
        <p:nvSpPr>
          <p:cNvPr id="64" name="Slide Number Placeholder 0"/>
          <p:cNvSpPr>
            <a:spLocks noGrp="1"/>
          </p:cNvSpPr>
          <p:nvPr>
            <p:ph type="sldNum" sz="quarter" idx="4294967295"/>
          </p:nvPr>
        </p:nvSpPr>
        <p:spPr>
          <a:xfrm>
            <a:off x="10972800" y="6446520"/>
            <a:ext cx="64008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TASK 1</a:t>
            </a:r>
            <a:endParaRPr lang="en-US" sz="1200" dirty="0"/>
          </a:p>
        </p:txBody>
      </p:sp>
      <p:sp>
        <p:nvSpPr>
          <p:cNvPr id="3" name="Text 0"/>
          <p:cNvSpPr>
            <a:spLocks noGrp="1"/>
          </p:cNvSpPr>
          <p:nvPr>
            <p:ph type="title" idx="100" hasCustomPrompt="1"/>
          </p:nvPr>
        </p:nvSpPr>
        <p:spPr>
          <a:xfrm>
            <a:off x="548640" y="566928"/>
            <a:ext cx="9418320" cy="685800"/>
          </a:xfrm>
          <a:prstGeom prst="rect">
            <a:avLst/>
          </a:prstGeom>
          <a:noFill/>
          <a:ln/>
        </p:spPr>
        <p:txBody>
          <a:bodyPr wrap="square" lIns="0" tIns="0" rIns="0" bIns="0" rtlCol="0" anchor="ctr"/>
          <a:lstStyle/>
          <a:p>
            <a:pPr marL="0" indent="0" algn="l">
              <a:buNone/>
            </a:pPr>
            <a:r>
              <a:rPr lang="en-US" sz="3200" b="1" dirty="0">
                <a:solidFill>
                  <a:schemeClr val="tx2"/>
                </a:solidFill>
              </a:rPr>
              <a:t>Data Ingestion and Cleaning</a:t>
            </a:r>
            <a:endParaRPr lang="en-US" sz="3200" dirty="0"/>
          </a:p>
        </p:txBody>
      </p:sp>
      <p:sp>
        <p:nvSpPr>
          <p:cNvPr id="6" name="Step card"/>
          <p:cNvSpPr/>
          <p:nvPr/>
        </p:nvSpPr>
        <p:spPr>
          <a:xfrm>
            <a:off x="548640" y="1417320"/>
            <a:ext cx="6675120" cy="658368"/>
          </a:xfrm>
          <a:prstGeom prst="roundRect">
            <a:avLst>
              <a:gd name="adj" fmla="val 11111"/>
            </a:avLst>
          </a:prstGeom>
          <a:solidFill>
            <a:schemeClr val="bg2"/>
          </a:solidFill>
          <a:ln/>
        </p:spPr>
      </p:sp>
      <p:sp>
        <p:nvSpPr>
          <p:cNvPr id="7" name="Shape 5"/>
          <p:cNvSpPr/>
          <p:nvPr/>
        </p:nvSpPr>
        <p:spPr>
          <a:xfrm>
            <a:off x="685800" y="1536192"/>
            <a:ext cx="420624" cy="420624"/>
          </a:xfrm>
          <a:prstGeom prst="ellipse">
            <a:avLst/>
          </a:prstGeom>
          <a:solidFill>
            <a:schemeClr val="accent1"/>
          </a:solidFill>
          <a:ln/>
        </p:spPr>
      </p:sp>
      <p:sp>
        <p:nvSpPr>
          <p:cNvPr id="8" name="Text 6"/>
          <p:cNvSpPr txBox="1"/>
          <p:nvPr/>
        </p:nvSpPr>
        <p:spPr>
          <a:xfrm>
            <a:off x="685800" y="1536192"/>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9" name="Text 7"/>
          <p:cNvSpPr txBox="1"/>
          <p:nvPr/>
        </p:nvSpPr>
        <p:spPr>
          <a:xfrm>
            <a:off x="1280160" y="1453896"/>
            <a:ext cx="3840480" cy="585216"/>
          </a:xfrm>
          <a:prstGeom prst="rect">
            <a:avLst/>
          </a:prstGeom>
          <a:noFill/>
          <a:ln/>
        </p:spPr>
        <p:txBody>
          <a:bodyPr wrap="square" lIns="0" tIns="0" rIns="0" bIns="0" rtlCol="0" anchor="ctr"/>
          <a:lstStyle/>
          <a:p>
            <a:pPr marL="0" indent="0">
              <a:buNone/>
            </a:pPr>
            <a:r>
              <a:rPr lang="en-US" sz="1600" b="1" dirty="0">
                <a:solidFill>
                  <a:schemeClr val="tx2"/>
                </a:solidFill>
              </a:rPr>
              <a:t>Convert  </a:t>
            </a:r>
            <a:r>
              <a:rPr lang="en-US" sz="1400" dirty="0">
                <a:solidFill>
                  <a:schemeClr val="tx1"/>
                </a:solidFill>
              </a:rPr>
              <a:t>Excel source to CSV</a:t>
            </a:r>
            <a:endParaRPr lang="en-US" sz="1400" dirty="0"/>
          </a:p>
        </p:txBody>
      </p:sp>
      <p:sp>
        <p:nvSpPr>
          <p:cNvPr id="10" name="Text 8"/>
          <p:cNvSpPr txBox="1"/>
          <p:nvPr/>
        </p:nvSpPr>
        <p:spPr>
          <a:xfrm>
            <a:off x="5074920" y="1453896"/>
            <a:ext cx="2057400" cy="585216"/>
          </a:xfrm>
          <a:prstGeom prst="rect">
            <a:avLst/>
          </a:prstGeom>
          <a:noFill/>
          <a:ln/>
        </p:spPr>
        <p:txBody>
          <a:bodyPr wrap="square" lIns="0" tIns="0" rIns="0" bIns="0" rtlCol="0" anchor="ctr"/>
          <a:lstStyle/>
          <a:p>
            <a:pPr marL="0" indent="0" algn="r">
              <a:buNone/>
            </a:pPr>
            <a:r>
              <a:rPr lang="en-US" sz="1000" dirty="0">
                <a:solidFill>
                  <a:schemeClr val="accent4"/>
                </a:solidFill>
                <a:latin typeface="Courier New" pitchFamily="34" charset="0"/>
                <a:ea typeface="Courier New" pitchFamily="34" charset="-122"/>
                <a:cs typeface="Courier New" pitchFamily="34" charset="-120"/>
              </a:rPr>
              <a:t>01_convert_xlsx_to_csv.py</a:t>
            </a:r>
            <a:endParaRPr lang="en-US" sz="1000" dirty="0"/>
          </a:p>
        </p:txBody>
      </p:sp>
      <p:sp>
        <p:nvSpPr>
          <p:cNvPr id="11" name="Step card"/>
          <p:cNvSpPr/>
          <p:nvPr/>
        </p:nvSpPr>
        <p:spPr>
          <a:xfrm>
            <a:off x="548640" y="2185416"/>
            <a:ext cx="6675120" cy="658368"/>
          </a:xfrm>
          <a:prstGeom prst="roundRect">
            <a:avLst>
              <a:gd name="adj" fmla="val 11111"/>
            </a:avLst>
          </a:prstGeom>
          <a:solidFill>
            <a:schemeClr val="bg2"/>
          </a:solidFill>
          <a:ln/>
        </p:spPr>
      </p:sp>
      <p:sp>
        <p:nvSpPr>
          <p:cNvPr id="12" name="Shape 10"/>
          <p:cNvSpPr/>
          <p:nvPr/>
        </p:nvSpPr>
        <p:spPr>
          <a:xfrm>
            <a:off x="685800" y="2304288"/>
            <a:ext cx="420624" cy="420624"/>
          </a:xfrm>
          <a:prstGeom prst="ellipse">
            <a:avLst/>
          </a:prstGeom>
          <a:solidFill>
            <a:schemeClr val="accent1"/>
          </a:solidFill>
          <a:ln/>
        </p:spPr>
      </p:sp>
      <p:sp>
        <p:nvSpPr>
          <p:cNvPr id="13" name="Text 11"/>
          <p:cNvSpPr txBox="1"/>
          <p:nvPr/>
        </p:nvSpPr>
        <p:spPr>
          <a:xfrm>
            <a:off x="685800" y="230428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4" name="Text 12"/>
          <p:cNvSpPr txBox="1"/>
          <p:nvPr/>
        </p:nvSpPr>
        <p:spPr>
          <a:xfrm>
            <a:off x="1280160" y="2221992"/>
            <a:ext cx="3840480" cy="585216"/>
          </a:xfrm>
          <a:prstGeom prst="rect">
            <a:avLst/>
          </a:prstGeom>
          <a:noFill/>
          <a:ln/>
        </p:spPr>
        <p:txBody>
          <a:bodyPr wrap="square" lIns="0" tIns="0" rIns="0" bIns="0" rtlCol="0" anchor="ctr"/>
          <a:lstStyle/>
          <a:p>
            <a:pPr marL="0" indent="0">
              <a:buNone/>
            </a:pPr>
            <a:r>
              <a:rPr lang="en-US" sz="1600" b="1" dirty="0">
                <a:solidFill>
                  <a:schemeClr val="tx2"/>
                </a:solidFill>
              </a:rPr>
              <a:t>Validate  </a:t>
            </a:r>
            <a:r>
              <a:rPr lang="en-US" sz="1400" dirty="0">
                <a:solidFill>
                  <a:schemeClr val="tx1"/>
                </a:solidFill>
              </a:rPr>
              <a:t>Schema and records</a:t>
            </a:r>
            <a:endParaRPr lang="en-US" sz="1400" dirty="0"/>
          </a:p>
        </p:txBody>
      </p:sp>
      <p:sp>
        <p:nvSpPr>
          <p:cNvPr id="15" name="Text 13"/>
          <p:cNvSpPr txBox="1"/>
          <p:nvPr/>
        </p:nvSpPr>
        <p:spPr>
          <a:xfrm>
            <a:off x="5074920" y="2221992"/>
            <a:ext cx="2057400" cy="585216"/>
          </a:xfrm>
          <a:prstGeom prst="rect">
            <a:avLst/>
          </a:prstGeom>
          <a:noFill/>
          <a:ln/>
        </p:spPr>
        <p:txBody>
          <a:bodyPr wrap="square" lIns="0" tIns="0" rIns="0" bIns="0" rtlCol="0" anchor="ctr"/>
          <a:lstStyle/>
          <a:p>
            <a:pPr marL="0" indent="0" algn="r">
              <a:buNone/>
            </a:pPr>
            <a:r>
              <a:rPr lang="en-US" sz="1000" dirty="0">
                <a:solidFill>
                  <a:schemeClr val="accent4"/>
                </a:solidFill>
                <a:latin typeface="Courier New" pitchFamily="34" charset="0"/>
                <a:ea typeface="Courier New" pitchFamily="34" charset="-122"/>
                <a:cs typeface="Courier New" pitchFamily="34" charset="-120"/>
              </a:rPr>
              <a:t>02_clean_data.py</a:t>
            </a:r>
            <a:endParaRPr lang="en-US" sz="1000" dirty="0"/>
          </a:p>
        </p:txBody>
      </p:sp>
      <p:sp>
        <p:nvSpPr>
          <p:cNvPr id="16" name="Step card"/>
          <p:cNvSpPr/>
          <p:nvPr/>
        </p:nvSpPr>
        <p:spPr>
          <a:xfrm>
            <a:off x="548640" y="2953512"/>
            <a:ext cx="6675120" cy="658368"/>
          </a:xfrm>
          <a:prstGeom prst="roundRect">
            <a:avLst>
              <a:gd name="adj" fmla="val 11111"/>
            </a:avLst>
          </a:prstGeom>
          <a:solidFill>
            <a:schemeClr val="bg2"/>
          </a:solidFill>
          <a:ln/>
        </p:spPr>
      </p:sp>
      <p:sp>
        <p:nvSpPr>
          <p:cNvPr id="17" name="Shape 15"/>
          <p:cNvSpPr/>
          <p:nvPr/>
        </p:nvSpPr>
        <p:spPr>
          <a:xfrm>
            <a:off x="685800" y="3072384"/>
            <a:ext cx="420624" cy="420624"/>
          </a:xfrm>
          <a:prstGeom prst="ellipse">
            <a:avLst/>
          </a:prstGeom>
          <a:solidFill>
            <a:schemeClr val="accent1"/>
          </a:solidFill>
          <a:ln/>
        </p:spPr>
      </p:sp>
      <p:sp>
        <p:nvSpPr>
          <p:cNvPr id="18" name="Text 16"/>
          <p:cNvSpPr txBox="1"/>
          <p:nvPr/>
        </p:nvSpPr>
        <p:spPr>
          <a:xfrm>
            <a:off x="685800" y="3072384"/>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9" name="Text 17"/>
          <p:cNvSpPr txBox="1"/>
          <p:nvPr/>
        </p:nvSpPr>
        <p:spPr>
          <a:xfrm>
            <a:off x="1280160" y="2990088"/>
            <a:ext cx="3840480" cy="585216"/>
          </a:xfrm>
          <a:prstGeom prst="rect">
            <a:avLst/>
          </a:prstGeom>
          <a:noFill/>
          <a:ln/>
        </p:spPr>
        <p:txBody>
          <a:bodyPr wrap="square" lIns="0" tIns="0" rIns="0" bIns="0" rtlCol="0" anchor="ctr"/>
          <a:lstStyle/>
          <a:p>
            <a:pPr marL="0" indent="0">
              <a:buNone/>
            </a:pPr>
            <a:r>
              <a:rPr lang="en-US" sz="1600" b="1" dirty="0">
                <a:solidFill>
                  <a:schemeClr val="tx2"/>
                </a:solidFill>
              </a:rPr>
              <a:t>Clean  </a:t>
            </a:r>
            <a:r>
              <a:rPr lang="en-US" sz="1400" dirty="0">
                <a:solidFill>
                  <a:schemeClr val="tx1"/>
                </a:solidFill>
              </a:rPr>
              <a:t>Remove duplicate / invalid records</a:t>
            </a:r>
            <a:endParaRPr lang="en-US" sz="1400" dirty="0"/>
          </a:p>
        </p:txBody>
      </p:sp>
      <p:sp>
        <p:nvSpPr>
          <p:cNvPr id="20" name="Text 18"/>
          <p:cNvSpPr txBox="1"/>
          <p:nvPr/>
        </p:nvSpPr>
        <p:spPr>
          <a:xfrm>
            <a:off x="5074920" y="2990088"/>
            <a:ext cx="2057400" cy="585216"/>
          </a:xfrm>
          <a:prstGeom prst="rect">
            <a:avLst/>
          </a:prstGeom>
          <a:noFill/>
          <a:ln/>
        </p:spPr>
        <p:txBody>
          <a:bodyPr wrap="square" lIns="0" tIns="0" rIns="0" bIns="0" rtlCol="0" anchor="ctr"/>
          <a:lstStyle/>
          <a:p>
            <a:pPr marL="0" indent="0" algn="r">
              <a:buNone/>
            </a:pPr>
            <a:r>
              <a:rPr lang="en-US" sz="1000" dirty="0">
                <a:solidFill>
                  <a:schemeClr val="accent4"/>
                </a:solidFill>
                <a:latin typeface="Courier New" pitchFamily="34" charset="0"/>
                <a:ea typeface="Courier New" pitchFamily="34" charset="-122"/>
                <a:cs typeface="Courier New" pitchFamily="34" charset="-120"/>
              </a:rPr>
              <a:t>02_clean_data.py</a:t>
            </a:r>
            <a:endParaRPr lang="en-US" sz="1000" dirty="0"/>
          </a:p>
        </p:txBody>
      </p:sp>
      <p:sp>
        <p:nvSpPr>
          <p:cNvPr id="21" name="Step card"/>
          <p:cNvSpPr/>
          <p:nvPr/>
        </p:nvSpPr>
        <p:spPr>
          <a:xfrm>
            <a:off x="548640" y="3721608"/>
            <a:ext cx="6675120" cy="658368"/>
          </a:xfrm>
          <a:prstGeom prst="roundRect">
            <a:avLst>
              <a:gd name="adj" fmla="val 11111"/>
            </a:avLst>
          </a:prstGeom>
          <a:solidFill>
            <a:schemeClr val="bg2"/>
          </a:solidFill>
          <a:ln/>
        </p:spPr>
      </p:sp>
      <p:sp>
        <p:nvSpPr>
          <p:cNvPr id="22" name="Shape 20"/>
          <p:cNvSpPr/>
          <p:nvPr/>
        </p:nvSpPr>
        <p:spPr>
          <a:xfrm>
            <a:off x="685800" y="3840480"/>
            <a:ext cx="420624" cy="420624"/>
          </a:xfrm>
          <a:prstGeom prst="ellipse">
            <a:avLst/>
          </a:prstGeom>
          <a:solidFill>
            <a:schemeClr val="accent1"/>
          </a:solidFill>
          <a:ln/>
        </p:spPr>
      </p:sp>
      <p:sp>
        <p:nvSpPr>
          <p:cNvPr id="23" name="Text 21"/>
          <p:cNvSpPr txBox="1"/>
          <p:nvPr/>
        </p:nvSpPr>
        <p:spPr>
          <a:xfrm>
            <a:off x="685800" y="3840480"/>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4" name="Text 22"/>
          <p:cNvSpPr txBox="1"/>
          <p:nvPr/>
        </p:nvSpPr>
        <p:spPr>
          <a:xfrm>
            <a:off x="1280160" y="3758184"/>
            <a:ext cx="3840480" cy="585216"/>
          </a:xfrm>
          <a:prstGeom prst="rect">
            <a:avLst/>
          </a:prstGeom>
          <a:noFill/>
          <a:ln/>
        </p:spPr>
        <p:txBody>
          <a:bodyPr wrap="square" lIns="0" tIns="0" rIns="0" bIns="0" rtlCol="0" anchor="ctr"/>
          <a:lstStyle/>
          <a:p>
            <a:pPr marL="0" indent="0">
              <a:buNone/>
            </a:pPr>
            <a:r>
              <a:rPr lang="en-US" sz="1600" b="1" dirty="0">
                <a:solidFill>
                  <a:schemeClr val="tx2"/>
                </a:solidFill>
              </a:rPr>
              <a:t>Check  </a:t>
            </a:r>
            <a:r>
              <a:rPr lang="en-US" sz="1400" dirty="0">
                <a:solidFill>
                  <a:schemeClr val="tx1"/>
                </a:solidFill>
              </a:rPr>
              <a:t>Missing values; salary and experience plausibility</a:t>
            </a:r>
            <a:endParaRPr lang="en-US" sz="1400" dirty="0"/>
          </a:p>
        </p:txBody>
      </p:sp>
      <p:sp>
        <p:nvSpPr>
          <p:cNvPr id="25" name="Text 23"/>
          <p:cNvSpPr txBox="1"/>
          <p:nvPr/>
        </p:nvSpPr>
        <p:spPr>
          <a:xfrm>
            <a:off x="5074920" y="3758184"/>
            <a:ext cx="2057400" cy="585216"/>
          </a:xfrm>
          <a:prstGeom prst="rect">
            <a:avLst/>
          </a:prstGeom>
          <a:noFill/>
          <a:ln/>
        </p:spPr>
        <p:txBody>
          <a:bodyPr wrap="square" lIns="0" tIns="0" rIns="0" bIns="0" rtlCol="0" anchor="ctr"/>
          <a:lstStyle/>
          <a:p>
            <a:pPr marL="0" indent="0" algn="r">
              <a:buNone/>
            </a:pPr>
            <a:r>
              <a:rPr lang="en-US" sz="1000" dirty="0">
                <a:solidFill>
                  <a:schemeClr val="accent4"/>
                </a:solidFill>
                <a:latin typeface="Courier New" pitchFamily="34" charset="0"/>
                <a:ea typeface="Courier New" pitchFamily="34" charset="-122"/>
                <a:cs typeface="Courier New" pitchFamily="34" charset="-120"/>
              </a:rPr>
              <a:t>02_clean_data.py</a:t>
            </a:r>
            <a:endParaRPr lang="en-US" sz="1000" dirty="0"/>
          </a:p>
        </p:txBody>
      </p:sp>
      <p:sp>
        <p:nvSpPr>
          <p:cNvPr id="26" name="Step card"/>
          <p:cNvSpPr/>
          <p:nvPr/>
        </p:nvSpPr>
        <p:spPr>
          <a:xfrm>
            <a:off x="548640" y="4489704"/>
            <a:ext cx="6675120" cy="658368"/>
          </a:xfrm>
          <a:prstGeom prst="roundRect">
            <a:avLst>
              <a:gd name="adj" fmla="val 11111"/>
            </a:avLst>
          </a:prstGeom>
          <a:solidFill>
            <a:schemeClr val="bg2"/>
          </a:solidFill>
          <a:ln/>
        </p:spPr>
      </p:sp>
      <p:sp>
        <p:nvSpPr>
          <p:cNvPr id="27" name="Shape 25"/>
          <p:cNvSpPr/>
          <p:nvPr/>
        </p:nvSpPr>
        <p:spPr>
          <a:xfrm>
            <a:off x="685800" y="4608576"/>
            <a:ext cx="420624" cy="420624"/>
          </a:xfrm>
          <a:prstGeom prst="ellipse">
            <a:avLst/>
          </a:prstGeom>
          <a:solidFill>
            <a:schemeClr val="accent1"/>
          </a:solidFill>
          <a:ln/>
        </p:spPr>
      </p:sp>
      <p:sp>
        <p:nvSpPr>
          <p:cNvPr id="28" name="Text 26"/>
          <p:cNvSpPr txBox="1"/>
          <p:nvPr/>
        </p:nvSpPr>
        <p:spPr>
          <a:xfrm>
            <a:off x="685800" y="4608576"/>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9" name="Text 27"/>
          <p:cNvSpPr txBox="1"/>
          <p:nvPr/>
        </p:nvSpPr>
        <p:spPr>
          <a:xfrm>
            <a:off x="1280160" y="4526280"/>
            <a:ext cx="3840480" cy="585216"/>
          </a:xfrm>
          <a:prstGeom prst="rect">
            <a:avLst/>
          </a:prstGeom>
          <a:noFill/>
          <a:ln/>
        </p:spPr>
        <p:txBody>
          <a:bodyPr wrap="square" lIns="0" tIns="0" rIns="0" bIns="0" rtlCol="0" anchor="ctr"/>
          <a:lstStyle/>
          <a:p>
            <a:pPr marL="0" indent="0">
              <a:buNone/>
            </a:pPr>
            <a:r>
              <a:rPr lang="en-US" sz="1600" b="1" dirty="0">
                <a:solidFill>
                  <a:schemeClr val="tx2"/>
                </a:solidFill>
              </a:rPr>
              <a:t>Load  </a:t>
            </a:r>
            <a:r>
              <a:rPr lang="en-US" sz="1400" dirty="0">
                <a:solidFill>
                  <a:schemeClr val="tx1"/>
                </a:solidFill>
              </a:rPr>
              <a:t>Cleaned CSV into HDFS</a:t>
            </a:r>
            <a:endParaRPr lang="en-US" sz="1400" dirty="0"/>
          </a:p>
        </p:txBody>
      </p:sp>
      <p:sp>
        <p:nvSpPr>
          <p:cNvPr id="30" name="Text 28"/>
          <p:cNvSpPr txBox="1"/>
          <p:nvPr/>
        </p:nvSpPr>
        <p:spPr>
          <a:xfrm>
            <a:off x="5074920" y="4526280"/>
            <a:ext cx="2057400" cy="585216"/>
          </a:xfrm>
          <a:prstGeom prst="rect">
            <a:avLst/>
          </a:prstGeom>
          <a:noFill/>
          <a:ln/>
        </p:spPr>
        <p:txBody>
          <a:bodyPr wrap="square" lIns="0" tIns="0" rIns="0" bIns="0" rtlCol="0" anchor="ctr"/>
          <a:lstStyle/>
          <a:p>
            <a:pPr marL="0" indent="0" algn="r">
              <a:buNone/>
            </a:pPr>
            <a:r>
              <a:rPr lang="en-US" sz="1000" dirty="0">
                <a:solidFill>
                  <a:schemeClr val="accent4"/>
                </a:solidFill>
                <a:latin typeface="Courier New" pitchFamily="34" charset="0"/>
                <a:ea typeface="Courier New" pitchFamily="34" charset="-122"/>
                <a:cs typeface="Courier New" pitchFamily="34" charset="-120"/>
              </a:rPr>
              <a:t>03_hdfs_load.sh</a:t>
            </a:r>
            <a:endParaRPr lang="en-US" sz="1000" dirty="0"/>
          </a:p>
        </p:txBody>
      </p:sp>
      <p:sp>
        <p:nvSpPr>
          <p:cNvPr id="31" name="Step card"/>
          <p:cNvSpPr/>
          <p:nvPr/>
        </p:nvSpPr>
        <p:spPr>
          <a:xfrm>
            <a:off x="548640" y="5257800"/>
            <a:ext cx="6675120" cy="658368"/>
          </a:xfrm>
          <a:prstGeom prst="roundRect">
            <a:avLst>
              <a:gd name="adj" fmla="val 11111"/>
            </a:avLst>
          </a:prstGeom>
          <a:solidFill>
            <a:schemeClr val="bg2"/>
          </a:solidFill>
          <a:ln/>
        </p:spPr>
      </p:sp>
      <p:sp>
        <p:nvSpPr>
          <p:cNvPr id="32" name="Shape 30"/>
          <p:cNvSpPr/>
          <p:nvPr/>
        </p:nvSpPr>
        <p:spPr>
          <a:xfrm>
            <a:off x="685800" y="5376672"/>
            <a:ext cx="420624" cy="420624"/>
          </a:xfrm>
          <a:prstGeom prst="ellipse">
            <a:avLst/>
          </a:prstGeom>
          <a:solidFill>
            <a:schemeClr val="accent1"/>
          </a:solidFill>
          <a:ln/>
        </p:spPr>
      </p:sp>
      <p:sp>
        <p:nvSpPr>
          <p:cNvPr id="33" name="Text 31"/>
          <p:cNvSpPr txBox="1"/>
          <p:nvPr/>
        </p:nvSpPr>
        <p:spPr>
          <a:xfrm>
            <a:off x="685800" y="5376672"/>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34" name="Text 32"/>
          <p:cNvSpPr txBox="1"/>
          <p:nvPr/>
        </p:nvSpPr>
        <p:spPr>
          <a:xfrm>
            <a:off x="1280160" y="5294376"/>
            <a:ext cx="3840480" cy="585216"/>
          </a:xfrm>
          <a:prstGeom prst="rect">
            <a:avLst/>
          </a:prstGeom>
          <a:noFill/>
          <a:ln/>
        </p:spPr>
        <p:txBody>
          <a:bodyPr wrap="square" lIns="0" tIns="0" rIns="0" bIns="0" rtlCol="0" anchor="ctr"/>
          <a:lstStyle/>
          <a:p>
            <a:pPr marL="0" indent="0">
              <a:buNone/>
            </a:pPr>
            <a:r>
              <a:rPr lang="en-US" sz="1600" b="1" dirty="0">
                <a:solidFill>
                  <a:schemeClr val="tx2"/>
                </a:solidFill>
              </a:rPr>
              <a:t>Verify  </a:t>
            </a:r>
            <a:r>
              <a:rPr lang="en-US" sz="1400" dirty="0">
                <a:solidFill>
                  <a:schemeClr val="tx1"/>
                </a:solidFill>
              </a:rPr>
              <a:t>Confirm HDFS output</a:t>
            </a:r>
            <a:endParaRPr lang="en-US" sz="1400" dirty="0"/>
          </a:p>
        </p:txBody>
      </p:sp>
      <p:sp>
        <p:nvSpPr>
          <p:cNvPr id="35" name="Text 33"/>
          <p:cNvSpPr txBox="1"/>
          <p:nvPr/>
        </p:nvSpPr>
        <p:spPr>
          <a:xfrm>
            <a:off x="5074920" y="5294376"/>
            <a:ext cx="2057400" cy="585216"/>
          </a:xfrm>
          <a:prstGeom prst="rect">
            <a:avLst/>
          </a:prstGeom>
          <a:noFill/>
          <a:ln/>
        </p:spPr>
        <p:txBody>
          <a:bodyPr wrap="square" lIns="0" tIns="0" rIns="0" bIns="0" rtlCol="0" anchor="ctr"/>
          <a:lstStyle/>
          <a:p>
            <a:pPr marL="0" indent="0" algn="r">
              <a:buNone/>
            </a:pPr>
            <a:r>
              <a:rPr lang="en-US" sz="1000" dirty="0">
                <a:solidFill>
                  <a:schemeClr val="accent4"/>
                </a:solidFill>
                <a:latin typeface="Courier New" pitchFamily="34" charset="0"/>
                <a:ea typeface="Courier New" pitchFamily="34" charset="-122"/>
                <a:cs typeface="Courier New" pitchFamily="34" charset="-120"/>
              </a:rPr>
              <a:t>04_verify_hdfs.sh</a:t>
            </a:r>
            <a:endParaRPr lang="en-US" sz="1000" dirty="0"/>
          </a:p>
        </p:txBody>
      </p:sp>
      <p:sp>
        <p:nvSpPr>
          <p:cNvPr id="36" name="Before after"/>
          <p:cNvSpPr/>
          <p:nvPr/>
        </p:nvSpPr>
        <p:spPr>
          <a:xfrm>
            <a:off x="7543800" y="1417320"/>
            <a:ext cx="4114800" cy="2331720"/>
          </a:xfrm>
          <a:prstGeom prst="roundRect">
            <a:avLst>
              <a:gd name="adj" fmla="val 3922"/>
            </a:avLst>
          </a:prstGeom>
          <a:solidFill>
            <a:schemeClr val="tx2"/>
          </a:solidFill>
          <a:ln/>
        </p:spPr>
      </p:sp>
      <p:sp>
        <p:nvSpPr>
          <p:cNvPr id="37" name="Text 35"/>
          <p:cNvSpPr txBox="1"/>
          <p:nvPr/>
        </p:nvSpPr>
        <p:spPr>
          <a:xfrm>
            <a:off x="7726680" y="1536192"/>
            <a:ext cx="3749040" cy="256032"/>
          </a:xfrm>
          <a:prstGeom prst="rect">
            <a:avLst/>
          </a:prstGeom>
          <a:noFill/>
          <a:ln/>
        </p:spPr>
        <p:txBody>
          <a:bodyPr wrap="square" lIns="0" tIns="0" rIns="0" bIns="0" rtlCol="0" anchor="t"/>
          <a:lstStyle/>
          <a:p>
            <a:pPr marL="0" indent="0">
              <a:buNone/>
            </a:pPr>
            <a:r>
              <a:rPr lang="en-US" sz="1100" b="1" kern="0" spc="200" dirty="0">
                <a:solidFill>
                  <a:srgbClr val="0E9AA7"/>
                </a:solidFill>
              </a:rPr>
              <a:t>BEFORE  &gt;  AFTER</a:t>
            </a:r>
            <a:endParaRPr lang="en-US" sz="1100" dirty="0"/>
          </a:p>
        </p:txBody>
      </p:sp>
      <p:sp>
        <p:nvSpPr>
          <p:cNvPr id="38" name="Text 36"/>
          <p:cNvSpPr txBox="1"/>
          <p:nvPr/>
        </p:nvSpPr>
        <p:spPr>
          <a:xfrm>
            <a:off x="7726680" y="1874520"/>
            <a:ext cx="3749040" cy="1783080"/>
          </a:xfrm>
          <a:prstGeom prst="rect">
            <a:avLst/>
          </a:prstGeom>
          <a:noFill/>
          <a:ln/>
        </p:spPr>
        <p:txBody>
          <a:bodyPr wrap="square" lIns="0" tIns="0" rIns="0" bIns="0" rtlCol="0" anchor="t"/>
          <a:lstStyle/>
          <a:p>
            <a:pPr marL="0" indent="0">
              <a:spcAft>
                <a:spcPts val="300"/>
              </a:spcAft>
              <a:buNone/>
            </a:pPr>
            <a:r>
              <a:rPr lang="en-US" sz="1500" b="1" dirty="0">
                <a:solidFill>
                  <a:srgbClr val="FFFFFF"/>
                </a:solidFill>
              </a:rPr>
              <a:t>Raw .xlsx</a:t>
            </a:r>
            <a:endParaRPr lang="en-US" sz="1400" dirty="0"/>
          </a:p>
          <a:p>
            <a:pPr marL="0" indent="0">
              <a:spcAft>
                <a:spcPts val="300"/>
              </a:spcAft>
              <a:buNone/>
            </a:pPr>
            <a:r>
              <a:rPr lang="en-US" sz="1300" dirty="0">
                <a:solidFill>
                  <a:srgbClr val="BFD3E6"/>
                </a:solidFill>
              </a:rPr>
              <a:t>~97,900 rows, 17 fields,</a:t>
            </a:r>
            <a:endParaRPr lang="en-US" sz="1400" dirty="0"/>
          </a:p>
          <a:p>
            <a:pPr marL="0" indent="0">
              <a:spcAft>
                <a:spcPts val="300"/>
              </a:spcAft>
              <a:buNone/>
            </a:pPr>
            <a:r>
              <a:rPr lang="en-US" sz="1300" dirty="0">
                <a:solidFill>
                  <a:srgbClr val="BFD3E6"/>
                </a:solidFill>
              </a:rPr>
              <a:t>duplicates, gaps</a:t>
            </a:r>
            <a:endParaRPr lang="en-US" sz="1400" dirty="0"/>
          </a:p>
          <a:p>
            <a:pPr marL="0" indent="0">
              <a:spcAft>
                <a:spcPts val="300"/>
              </a:spcAft>
              <a:buNone/>
            </a:pPr>
            <a:r>
              <a:rPr lang="en-US" sz="600" dirty="0">
                <a:solidFill>
                  <a:schemeClr val="tx1"/>
                </a:solidFill>
              </a:rPr>
              <a:t>  </a:t>
            </a:r>
            <a:endParaRPr lang="en-US" sz="1400" dirty="0"/>
          </a:p>
          <a:p>
            <a:pPr marL="0" indent="0">
              <a:spcAft>
                <a:spcPts val="300"/>
              </a:spcAft>
              <a:buNone/>
            </a:pPr>
            <a:r>
              <a:rPr lang="en-US" sz="1500" b="1" dirty="0">
                <a:solidFill>
                  <a:srgbClr val="FFFFFF"/>
                </a:solidFill>
              </a:rPr>
              <a:t>Cleaned CSV in HDFS</a:t>
            </a:r>
            <a:endParaRPr lang="en-US" sz="1400" dirty="0"/>
          </a:p>
          <a:p>
            <a:pPr marL="0" indent="0">
              <a:spcAft>
                <a:spcPts val="300"/>
              </a:spcAft>
              <a:buNone/>
            </a:pPr>
            <a:r>
              <a:rPr lang="en-US" sz="1300" dirty="0">
                <a:solidFill>
                  <a:srgbClr val="BFD3E6"/>
                </a:solidFill>
              </a:rPr>
              <a:t>97,715 validated rows [verify]</a:t>
            </a:r>
            <a:endParaRPr lang="en-US" sz="1400" dirty="0"/>
          </a:p>
        </p:txBody>
      </p:sp>
      <p:sp>
        <p:nvSpPr>
          <p:cNvPr id="39" name="HDFS target"/>
          <p:cNvSpPr/>
          <p:nvPr/>
        </p:nvSpPr>
        <p:spPr>
          <a:xfrm>
            <a:off x="7543800" y="3931920"/>
            <a:ext cx="4114800" cy="2103120"/>
          </a:xfrm>
          <a:prstGeom prst="roundRect">
            <a:avLst>
              <a:gd name="adj" fmla="val 3478"/>
            </a:avLst>
          </a:prstGeom>
          <a:solidFill>
            <a:schemeClr val="bg2"/>
          </a:solidFill>
          <a:ln/>
        </p:spPr>
      </p:sp>
      <p:sp>
        <p:nvSpPr>
          <p:cNvPr id="40" name="Text 38"/>
          <p:cNvSpPr txBox="1"/>
          <p:nvPr/>
        </p:nvSpPr>
        <p:spPr>
          <a:xfrm>
            <a:off x="7726680" y="4050792"/>
            <a:ext cx="3657600" cy="256032"/>
          </a:xfrm>
          <a:prstGeom prst="rect">
            <a:avLst/>
          </a:prstGeom>
          <a:noFill/>
          <a:ln/>
        </p:spPr>
        <p:txBody>
          <a:bodyPr wrap="square" lIns="0" tIns="0" rIns="0" bIns="0" rtlCol="0" anchor="t"/>
          <a:lstStyle/>
          <a:p>
            <a:pPr marL="0" indent="0">
              <a:buNone/>
            </a:pPr>
            <a:r>
              <a:rPr lang="en-US" sz="1100" b="1" kern="0" spc="200" dirty="0">
                <a:solidFill>
                  <a:schemeClr val="accent4"/>
                </a:solidFill>
              </a:rPr>
              <a:t>HDFS DESTINATION</a:t>
            </a:r>
            <a:endParaRPr lang="en-US" sz="1100" dirty="0"/>
          </a:p>
        </p:txBody>
      </p:sp>
      <p:sp>
        <p:nvSpPr>
          <p:cNvPr id="41" name="Shape 39"/>
          <p:cNvSpPr/>
          <p:nvPr/>
        </p:nvSpPr>
        <p:spPr>
          <a:xfrm>
            <a:off x="7726680" y="4389120"/>
            <a:ext cx="3749040" cy="640080"/>
          </a:xfrm>
          <a:prstGeom prst="roundRect">
            <a:avLst>
              <a:gd name="adj" fmla="val 8571"/>
            </a:avLst>
          </a:prstGeom>
          <a:solidFill>
            <a:schemeClr val="tx2"/>
          </a:solidFill>
          <a:ln/>
        </p:spPr>
      </p:sp>
      <p:sp>
        <p:nvSpPr>
          <p:cNvPr id="42" name="Text 40"/>
          <p:cNvSpPr txBox="1"/>
          <p:nvPr/>
        </p:nvSpPr>
        <p:spPr>
          <a:xfrm>
            <a:off x="7772400" y="4389120"/>
            <a:ext cx="3657600" cy="640080"/>
          </a:xfrm>
          <a:prstGeom prst="rect">
            <a:avLst/>
          </a:prstGeom>
          <a:noFill/>
          <a:ln/>
        </p:spPr>
        <p:txBody>
          <a:bodyPr wrap="square" lIns="0" tIns="0" rIns="0" bIns="0" rtlCol="0" anchor="ctr"/>
          <a:lstStyle/>
          <a:p>
            <a:pPr marL="0" indent="0" algn="ctr">
              <a:buNone/>
            </a:pPr>
            <a:r>
              <a:rPr lang="en-US" sz="1200" dirty="0">
                <a:solidFill>
                  <a:srgbClr val="FFFFFF"/>
                </a:solidFill>
                <a:latin typeface="Courier New" pitchFamily="34" charset="0"/>
                <a:ea typeface="Courier New" pitchFamily="34" charset="-122"/>
                <a:cs typeface="Courier New" pitchFamily="34" charset="-120"/>
              </a:rPr>
              <a:t>/jobmarket/cleaned/jobs_cleaned.csv</a:t>
            </a:r>
            <a:endParaRPr lang="en-US" sz="1200" dirty="0"/>
          </a:p>
        </p:txBody>
      </p:sp>
      <p:sp>
        <p:nvSpPr>
          <p:cNvPr id="43" name="Text 41"/>
          <p:cNvSpPr txBox="1"/>
          <p:nvPr/>
        </p:nvSpPr>
        <p:spPr>
          <a:xfrm>
            <a:off x="7726680" y="5166360"/>
            <a:ext cx="3749040" cy="777240"/>
          </a:xfrm>
          <a:prstGeom prst="rect">
            <a:avLst/>
          </a:prstGeom>
          <a:noFill/>
          <a:ln/>
        </p:spPr>
        <p:txBody>
          <a:bodyPr wrap="square" lIns="0" tIns="0" rIns="0" bIns="0" rtlCol="0" anchor="t"/>
          <a:lstStyle/>
          <a:p>
            <a:pPr marL="0" indent="0">
              <a:buNone/>
            </a:pPr>
            <a:r>
              <a:rPr lang="en-US" sz="1300" dirty="0">
                <a:solidFill>
                  <a:schemeClr val="accent4"/>
                </a:solidFill>
              </a:rPr>
              <a:t>Start HDFS first: start-dfs.sh, then check NameNode / DataNode with jps</a:t>
            </a:r>
            <a:endParaRPr lang="en-US" sz="1300" dirty="0"/>
          </a:p>
        </p:txBody>
      </p:sp>
      <p:sp>
        <p:nvSpPr>
          <p:cNvPr id="44" name="Slide Number Placeholder 0"/>
          <p:cNvSpPr>
            <a:spLocks noGrp="1"/>
          </p:cNvSpPr>
          <p:nvPr>
            <p:ph type="sldNum" sz="quarter" idx="4294967295"/>
          </p:nvPr>
        </p:nvSpPr>
        <p:spPr>
          <a:xfrm>
            <a:off x="10972800" y="6446520"/>
            <a:ext cx="64008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HDFS</a:t>
            </a:r>
            <a:endParaRPr lang="en-US" sz="1200" dirty="0"/>
          </a:p>
        </p:txBody>
      </p:sp>
      <p:sp>
        <p:nvSpPr>
          <p:cNvPr id="3" name="Text 0"/>
          <p:cNvSpPr>
            <a:spLocks noGrp="1"/>
          </p:cNvSpPr>
          <p:nvPr>
            <p:ph type="title" idx="100" hasCustomPrompt="1"/>
          </p:nvPr>
        </p:nvSpPr>
        <p:spPr>
          <a:xfrm>
            <a:off x="548640" y="566928"/>
            <a:ext cx="9418320" cy="685800"/>
          </a:xfrm>
          <a:prstGeom prst="rect">
            <a:avLst/>
          </a:prstGeom>
          <a:noFill/>
          <a:ln/>
        </p:spPr>
        <p:txBody>
          <a:bodyPr wrap="square" lIns="0" tIns="0" rIns="0" bIns="0" rtlCol="0" anchor="ctr"/>
          <a:lstStyle/>
          <a:p>
            <a:pPr marL="0" indent="0" algn="l">
              <a:buNone/>
            </a:pPr>
            <a:r>
              <a:rPr lang="en-US" sz="3200" b="1" dirty="0">
                <a:solidFill>
                  <a:schemeClr val="tx2"/>
                </a:solidFill>
              </a:rPr>
              <a:t>HDFS Storage and Distributed Processing</a:t>
            </a:r>
            <a:endParaRPr lang="en-US" sz="3200" dirty="0"/>
          </a:p>
        </p:txBody>
      </p:sp>
      <p:sp>
        <p:nvSpPr>
          <p:cNvPr id="6" name="HDFS diagram panel"/>
          <p:cNvSpPr/>
          <p:nvPr/>
        </p:nvSpPr>
        <p:spPr>
          <a:xfrm>
            <a:off x="548640" y="1417320"/>
            <a:ext cx="6766560" cy="4663440"/>
          </a:xfrm>
          <a:prstGeom prst="roundRect">
            <a:avLst>
              <a:gd name="adj" fmla="val 1569"/>
            </a:avLst>
          </a:prstGeom>
          <a:solidFill>
            <a:schemeClr val="bg2"/>
          </a:solidFill>
          <a:ln/>
        </p:spPr>
      </p:sp>
      <p:sp>
        <p:nvSpPr>
          <p:cNvPr id="7" name="Shape 5"/>
          <p:cNvSpPr/>
          <p:nvPr/>
        </p:nvSpPr>
        <p:spPr>
          <a:xfrm>
            <a:off x="731520" y="1536192"/>
            <a:ext cx="2011680" cy="274320"/>
          </a:xfrm>
          <a:prstGeom prst="roundRect">
            <a:avLst>
              <a:gd name="adj" fmla="val 50000"/>
            </a:avLst>
          </a:prstGeom>
          <a:solidFill>
            <a:schemeClr val="accent4"/>
          </a:solidFill>
          <a:ln/>
        </p:spPr>
      </p:sp>
      <p:sp>
        <p:nvSpPr>
          <p:cNvPr id="8" name="Text 6"/>
          <p:cNvSpPr txBox="1"/>
          <p:nvPr/>
        </p:nvSpPr>
        <p:spPr>
          <a:xfrm>
            <a:off x="731520" y="1536192"/>
            <a:ext cx="2011680" cy="274320"/>
          </a:xfrm>
          <a:prstGeom prst="rect">
            <a:avLst/>
          </a:prstGeom>
          <a:noFill/>
          <a:ln/>
        </p:spPr>
        <p:txBody>
          <a:bodyPr wrap="square" lIns="0" tIns="0" rIns="0" bIns="0" rtlCol="0" anchor="ctr"/>
          <a:lstStyle/>
          <a:p>
            <a:pPr marL="0" indent="0" algn="ctr">
              <a:buNone/>
            </a:pPr>
            <a:r>
              <a:rPr lang="en-US" sz="1100" b="1" dirty="0">
                <a:solidFill>
                  <a:schemeClr val="bg1"/>
                </a:solidFill>
              </a:rPr>
              <a:t>Conceptual architecture</a:t>
            </a:r>
            <a:endParaRPr lang="en-US" sz="1100" dirty="0"/>
          </a:p>
        </p:txBody>
      </p:sp>
      <p:sp>
        <p:nvSpPr>
          <p:cNvPr id="9" name="Shape 7"/>
          <p:cNvSpPr/>
          <p:nvPr/>
        </p:nvSpPr>
        <p:spPr>
          <a:xfrm>
            <a:off x="777240" y="3063240"/>
            <a:ext cx="1600200" cy="1097280"/>
          </a:xfrm>
          <a:prstGeom prst="roundRect">
            <a:avLst>
              <a:gd name="adj" fmla="val 8333"/>
            </a:avLst>
          </a:prstGeom>
          <a:solidFill>
            <a:schemeClr val="accent6"/>
          </a:solidFill>
          <a:ln/>
        </p:spPr>
      </p:sp>
      <p:sp>
        <p:nvSpPr>
          <p:cNvPr id="10" name="Text 8"/>
          <p:cNvSpPr txBox="1"/>
          <p:nvPr/>
        </p:nvSpPr>
        <p:spPr>
          <a:xfrm>
            <a:off x="822960" y="3063240"/>
            <a:ext cx="1508760" cy="1097280"/>
          </a:xfrm>
          <a:prstGeom prst="rect">
            <a:avLst/>
          </a:prstGeom>
          <a:noFill/>
          <a:ln/>
        </p:spPr>
        <p:txBody>
          <a:bodyPr wrap="square" lIns="0" tIns="0" rIns="0" bIns="0" rtlCol="0" anchor="ctr"/>
          <a:lstStyle/>
          <a:p>
            <a:pPr marL="0" indent="0" algn="ctr">
              <a:buNone/>
            </a:pPr>
            <a:r>
              <a:rPr lang="en-US" sz="1300" b="1" dirty="0">
                <a:solidFill>
                  <a:srgbClr val="FFFFFF"/>
                </a:solidFill>
              </a:rPr>
              <a:t>jobs_cleaned.csv</a:t>
            </a:r>
            <a:endParaRPr lang="en-US" sz="1400" dirty="0"/>
          </a:p>
          <a:p>
            <a:pPr marL="0" indent="0" algn="ctr">
              <a:buNone/>
            </a:pPr>
            <a:r>
              <a:rPr lang="en-US" sz="1100" dirty="0">
                <a:solidFill>
                  <a:srgbClr val="FFFFFF"/>
                </a:solidFill>
              </a:rPr>
              <a:t>logical dataset</a:t>
            </a:r>
            <a:endParaRPr lang="en-US" sz="1400" dirty="0"/>
          </a:p>
        </p:txBody>
      </p:sp>
      <p:sp>
        <p:nvSpPr>
          <p:cNvPr id="11" name="NameNode"/>
          <p:cNvSpPr/>
          <p:nvPr/>
        </p:nvSpPr>
        <p:spPr>
          <a:xfrm>
            <a:off x="3657600" y="1874520"/>
            <a:ext cx="2377440" cy="868680"/>
          </a:xfrm>
          <a:prstGeom prst="roundRect">
            <a:avLst>
              <a:gd name="adj" fmla="val 10526"/>
            </a:avLst>
          </a:prstGeom>
          <a:solidFill>
            <a:schemeClr val="tx2"/>
          </a:solidFill>
          <a:ln/>
        </p:spPr>
      </p:sp>
      <p:sp>
        <p:nvSpPr>
          <p:cNvPr id="12" name="Text 10"/>
          <p:cNvSpPr txBox="1"/>
          <p:nvPr/>
        </p:nvSpPr>
        <p:spPr>
          <a:xfrm>
            <a:off x="3657600" y="1874520"/>
            <a:ext cx="2377440" cy="868680"/>
          </a:xfrm>
          <a:prstGeom prst="rect">
            <a:avLst/>
          </a:prstGeom>
          <a:noFill/>
          <a:ln/>
        </p:spPr>
        <p:txBody>
          <a:bodyPr wrap="square" lIns="0" tIns="0" rIns="0" bIns="0" rtlCol="0" anchor="ctr"/>
          <a:lstStyle/>
          <a:p>
            <a:pPr marL="0" indent="0" algn="ctr">
              <a:buNone/>
            </a:pPr>
            <a:r>
              <a:rPr lang="en-US" sz="1600" b="1" dirty="0">
                <a:solidFill>
                  <a:srgbClr val="FFFFFF"/>
                </a:solidFill>
              </a:rPr>
              <a:t>NameNode</a:t>
            </a:r>
            <a:endParaRPr lang="en-US" sz="1400" dirty="0"/>
          </a:p>
          <a:p>
            <a:pPr marL="0" indent="0" algn="ctr">
              <a:buNone/>
            </a:pPr>
            <a:r>
              <a:rPr lang="en-US" sz="1200" dirty="0">
                <a:solidFill>
                  <a:srgbClr val="BFD3E6"/>
                </a:solidFill>
              </a:rPr>
              <a:t>metadata and block map</a:t>
            </a:r>
            <a:endParaRPr lang="en-US" sz="1400" dirty="0"/>
          </a:p>
        </p:txBody>
      </p:sp>
      <p:sp>
        <p:nvSpPr>
          <p:cNvPr id="13" name="Shape 11"/>
          <p:cNvSpPr/>
          <p:nvPr/>
        </p:nvSpPr>
        <p:spPr>
          <a:xfrm>
            <a:off x="2377440" y="3383280"/>
            <a:ext cx="685800" cy="822960"/>
          </a:xfrm>
          <a:prstGeom prst="line">
            <a:avLst/>
          </a:prstGeom>
          <a:noFill/>
          <a:ln w="19050">
            <a:solidFill>
              <a:schemeClr val="accent4"/>
            </a:solidFill>
            <a:prstDash val="solid"/>
            <a:tailEnd type="triangle"/>
          </a:ln>
        </p:spPr>
      </p:sp>
      <p:sp>
        <p:nvSpPr>
          <p:cNvPr id="14" name="Shape 12"/>
          <p:cNvSpPr/>
          <p:nvPr/>
        </p:nvSpPr>
        <p:spPr>
          <a:xfrm flipH="1">
            <a:off x="3520440" y="2743200"/>
            <a:ext cx="1325880" cy="1005840"/>
          </a:xfrm>
          <a:prstGeom prst="line">
            <a:avLst/>
          </a:prstGeom>
          <a:noFill/>
          <a:ln w="15875">
            <a:solidFill>
              <a:schemeClr val="accent4"/>
            </a:solidFill>
            <a:prstDash val="solid"/>
            <a:tailEnd type="triangle"/>
          </a:ln>
        </p:spPr>
      </p:sp>
      <p:sp>
        <p:nvSpPr>
          <p:cNvPr id="15" name="DataNode"/>
          <p:cNvSpPr/>
          <p:nvPr/>
        </p:nvSpPr>
        <p:spPr>
          <a:xfrm>
            <a:off x="2880360" y="3749040"/>
            <a:ext cx="1280160" cy="1737360"/>
          </a:xfrm>
          <a:prstGeom prst="roundRect">
            <a:avLst>
              <a:gd name="adj" fmla="val 5714"/>
            </a:avLst>
          </a:prstGeom>
          <a:solidFill>
            <a:schemeClr val="accent1">
              <a:alpha val="15000"/>
            </a:schemeClr>
          </a:solidFill>
          <a:ln w="15875">
            <a:solidFill>
              <a:schemeClr val="accent1"/>
            </a:solidFill>
            <a:prstDash val="solid"/>
          </a:ln>
        </p:spPr>
      </p:sp>
      <p:sp>
        <p:nvSpPr>
          <p:cNvPr id="16" name="Text 14"/>
          <p:cNvSpPr txBox="1"/>
          <p:nvPr/>
        </p:nvSpPr>
        <p:spPr>
          <a:xfrm>
            <a:off x="2880360" y="3794760"/>
            <a:ext cx="1280160" cy="274320"/>
          </a:xfrm>
          <a:prstGeom prst="rect">
            <a:avLst/>
          </a:prstGeom>
          <a:noFill/>
          <a:ln/>
        </p:spPr>
        <p:txBody>
          <a:bodyPr wrap="square" lIns="0" tIns="0" rIns="0" bIns="0" rtlCol="0" anchor="t"/>
          <a:lstStyle/>
          <a:p>
            <a:pPr marL="0" indent="0" algn="ctr">
              <a:buNone/>
            </a:pPr>
            <a:r>
              <a:rPr lang="en-US" sz="1200" b="1" dirty="0">
                <a:solidFill>
                  <a:schemeClr val="tx2"/>
                </a:solidFill>
              </a:rPr>
              <a:t>DataNode 1</a:t>
            </a:r>
            <a:endParaRPr lang="en-US" sz="1200" dirty="0"/>
          </a:p>
        </p:txBody>
      </p:sp>
      <p:sp>
        <p:nvSpPr>
          <p:cNvPr id="17" name="Shape 15"/>
          <p:cNvSpPr/>
          <p:nvPr/>
        </p:nvSpPr>
        <p:spPr>
          <a:xfrm>
            <a:off x="3063240" y="4160520"/>
            <a:ext cx="914400" cy="329184"/>
          </a:xfrm>
          <a:prstGeom prst="roundRect">
            <a:avLst>
              <a:gd name="adj" fmla="val 13889"/>
            </a:avLst>
          </a:prstGeom>
          <a:solidFill>
            <a:schemeClr val="accent1"/>
          </a:solidFill>
          <a:ln/>
        </p:spPr>
      </p:sp>
      <p:sp>
        <p:nvSpPr>
          <p:cNvPr id="18" name="Text 16"/>
          <p:cNvSpPr txBox="1"/>
          <p:nvPr/>
        </p:nvSpPr>
        <p:spPr>
          <a:xfrm>
            <a:off x="3063240" y="4160520"/>
            <a:ext cx="914400" cy="329184"/>
          </a:xfrm>
          <a:prstGeom prst="rect">
            <a:avLst/>
          </a:prstGeom>
          <a:noFill/>
          <a:ln/>
        </p:spPr>
        <p:txBody>
          <a:bodyPr wrap="square" lIns="0" tIns="0" rIns="0" bIns="0" rtlCol="0" anchor="ctr"/>
          <a:lstStyle/>
          <a:p>
            <a:pPr marL="0" indent="0" algn="ctr">
              <a:buNone/>
            </a:pPr>
            <a:r>
              <a:rPr lang="en-US" sz="1100" b="1" dirty="0">
                <a:solidFill>
                  <a:srgbClr val="FFFFFF"/>
                </a:solidFill>
              </a:rPr>
              <a:t>Block A</a:t>
            </a:r>
            <a:endParaRPr lang="en-US" sz="1100" dirty="0"/>
          </a:p>
        </p:txBody>
      </p:sp>
      <p:sp>
        <p:nvSpPr>
          <p:cNvPr id="19" name="Shape 17"/>
          <p:cNvSpPr/>
          <p:nvPr/>
        </p:nvSpPr>
        <p:spPr>
          <a:xfrm>
            <a:off x="3063240" y="4572000"/>
            <a:ext cx="914400" cy="329184"/>
          </a:xfrm>
          <a:prstGeom prst="roundRect">
            <a:avLst>
              <a:gd name="adj" fmla="val 13889"/>
            </a:avLst>
          </a:prstGeom>
          <a:solidFill>
            <a:schemeClr val="accent1"/>
          </a:solidFill>
          <a:ln/>
        </p:spPr>
      </p:sp>
      <p:sp>
        <p:nvSpPr>
          <p:cNvPr id="20" name="Text 18"/>
          <p:cNvSpPr txBox="1"/>
          <p:nvPr/>
        </p:nvSpPr>
        <p:spPr>
          <a:xfrm>
            <a:off x="3063240" y="4572000"/>
            <a:ext cx="914400" cy="329184"/>
          </a:xfrm>
          <a:prstGeom prst="rect">
            <a:avLst/>
          </a:prstGeom>
          <a:noFill/>
          <a:ln/>
        </p:spPr>
        <p:txBody>
          <a:bodyPr wrap="square" lIns="0" tIns="0" rIns="0" bIns="0" rtlCol="0" anchor="ctr"/>
          <a:lstStyle/>
          <a:p>
            <a:pPr marL="0" indent="0" algn="ctr">
              <a:buNone/>
            </a:pPr>
            <a:r>
              <a:rPr lang="en-US" sz="1100" b="1" dirty="0">
                <a:solidFill>
                  <a:srgbClr val="FFFFFF"/>
                </a:solidFill>
              </a:rPr>
              <a:t>Block B</a:t>
            </a:r>
            <a:endParaRPr lang="en-US" sz="1100" dirty="0"/>
          </a:p>
        </p:txBody>
      </p:sp>
      <p:sp>
        <p:nvSpPr>
          <p:cNvPr id="21" name="Shape 19"/>
          <p:cNvSpPr/>
          <p:nvPr/>
        </p:nvSpPr>
        <p:spPr>
          <a:xfrm>
            <a:off x="3063240" y="4983480"/>
            <a:ext cx="914400" cy="329184"/>
          </a:xfrm>
          <a:prstGeom prst="roundRect">
            <a:avLst>
              <a:gd name="adj" fmla="val 13889"/>
            </a:avLst>
          </a:prstGeom>
          <a:solidFill>
            <a:schemeClr val="accent1"/>
          </a:solidFill>
          <a:ln/>
        </p:spPr>
      </p:sp>
      <p:sp>
        <p:nvSpPr>
          <p:cNvPr id="22" name="Text 20"/>
          <p:cNvSpPr txBox="1"/>
          <p:nvPr/>
        </p:nvSpPr>
        <p:spPr>
          <a:xfrm>
            <a:off x="3063240" y="4983480"/>
            <a:ext cx="914400" cy="329184"/>
          </a:xfrm>
          <a:prstGeom prst="rect">
            <a:avLst/>
          </a:prstGeom>
          <a:noFill/>
          <a:ln/>
        </p:spPr>
        <p:txBody>
          <a:bodyPr wrap="square" lIns="0" tIns="0" rIns="0" bIns="0" rtlCol="0" anchor="ctr"/>
          <a:lstStyle/>
          <a:p>
            <a:pPr marL="0" indent="0" algn="ctr">
              <a:buNone/>
            </a:pPr>
            <a:r>
              <a:rPr lang="en-US" sz="1100" b="1" dirty="0">
                <a:solidFill>
                  <a:srgbClr val="FFFFFF"/>
                </a:solidFill>
              </a:rPr>
              <a:t>Block C</a:t>
            </a:r>
            <a:endParaRPr lang="en-US" sz="1100" dirty="0"/>
          </a:p>
        </p:txBody>
      </p:sp>
      <p:sp>
        <p:nvSpPr>
          <p:cNvPr id="23" name="Shape 21"/>
          <p:cNvSpPr/>
          <p:nvPr/>
        </p:nvSpPr>
        <p:spPr>
          <a:xfrm>
            <a:off x="4846320" y="2743200"/>
            <a:ext cx="137160" cy="1005840"/>
          </a:xfrm>
          <a:prstGeom prst="line">
            <a:avLst/>
          </a:prstGeom>
          <a:noFill/>
          <a:ln w="15875">
            <a:solidFill>
              <a:schemeClr val="accent4"/>
            </a:solidFill>
            <a:prstDash val="solid"/>
            <a:tailEnd type="triangle"/>
          </a:ln>
        </p:spPr>
      </p:sp>
      <p:sp>
        <p:nvSpPr>
          <p:cNvPr id="24" name="DataNode"/>
          <p:cNvSpPr/>
          <p:nvPr/>
        </p:nvSpPr>
        <p:spPr>
          <a:xfrm>
            <a:off x="4343400" y="3749040"/>
            <a:ext cx="1280160" cy="1737360"/>
          </a:xfrm>
          <a:prstGeom prst="roundRect">
            <a:avLst>
              <a:gd name="adj" fmla="val 5714"/>
            </a:avLst>
          </a:prstGeom>
          <a:solidFill>
            <a:schemeClr val="accent1">
              <a:alpha val="15000"/>
            </a:schemeClr>
          </a:solidFill>
          <a:ln w="15875">
            <a:solidFill>
              <a:schemeClr val="accent1"/>
            </a:solidFill>
            <a:prstDash val="solid"/>
          </a:ln>
        </p:spPr>
      </p:sp>
      <p:sp>
        <p:nvSpPr>
          <p:cNvPr id="25" name="Text 23"/>
          <p:cNvSpPr txBox="1"/>
          <p:nvPr/>
        </p:nvSpPr>
        <p:spPr>
          <a:xfrm>
            <a:off x="4343400" y="3794760"/>
            <a:ext cx="1280160" cy="274320"/>
          </a:xfrm>
          <a:prstGeom prst="rect">
            <a:avLst/>
          </a:prstGeom>
          <a:noFill/>
          <a:ln/>
        </p:spPr>
        <p:txBody>
          <a:bodyPr wrap="square" lIns="0" tIns="0" rIns="0" bIns="0" rtlCol="0" anchor="t"/>
          <a:lstStyle/>
          <a:p>
            <a:pPr marL="0" indent="0" algn="ctr">
              <a:buNone/>
            </a:pPr>
            <a:r>
              <a:rPr lang="en-US" sz="1200" b="1" dirty="0">
                <a:solidFill>
                  <a:schemeClr val="tx2"/>
                </a:solidFill>
              </a:rPr>
              <a:t>DataNode 2</a:t>
            </a:r>
            <a:endParaRPr lang="en-US" sz="1200" dirty="0"/>
          </a:p>
        </p:txBody>
      </p:sp>
      <p:sp>
        <p:nvSpPr>
          <p:cNvPr id="26" name="Shape 24"/>
          <p:cNvSpPr/>
          <p:nvPr/>
        </p:nvSpPr>
        <p:spPr>
          <a:xfrm>
            <a:off x="4526280" y="4160520"/>
            <a:ext cx="914400" cy="329184"/>
          </a:xfrm>
          <a:prstGeom prst="roundRect">
            <a:avLst>
              <a:gd name="adj" fmla="val 13889"/>
            </a:avLst>
          </a:prstGeom>
          <a:solidFill>
            <a:schemeClr val="accent1"/>
          </a:solidFill>
          <a:ln/>
        </p:spPr>
      </p:sp>
      <p:sp>
        <p:nvSpPr>
          <p:cNvPr id="27" name="Text 25"/>
          <p:cNvSpPr txBox="1"/>
          <p:nvPr/>
        </p:nvSpPr>
        <p:spPr>
          <a:xfrm>
            <a:off x="4526280" y="4160520"/>
            <a:ext cx="914400" cy="329184"/>
          </a:xfrm>
          <a:prstGeom prst="rect">
            <a:avLst/>
          </a:prstGeom>
          <a:noFill/>
          <a:ln/>
        </p:spPr>
        <p:txBody>
          <a:bodyPr wrap="square" lIns="0" tIns="0" rIns="0" bIns="0" rtlCol="0" anchor="ctr"/>
          <a:lstStyle/>
          <a:p>
            <a:pPr marL="0" indent="0" algn="ctr">
              <a:buNone/>
            </a:pPr>
            <a:r>
              <a:rPr lang="en-US" sz="1100" b="1" dirty="0">
                <a:solidFill>
                  <a:srgbClr val="FFFFFF"/>
                </a:solidFill>
              </a:rPr>
              <a:t>Block A</a:t>
            </a:r>
            <a:endParaRPr lang="en-US" sz="1100" dirty="0"/>
          </a:p>
        </p:txBody>
      </p:sp>
      <p:sp>
        <p:nvSpPr>
          <p:cNvPr id="28" name="Shape 26"/>
          <p:cNvSpPr/>
          <p:nvPr/>
        </p:nvSpPr>
        <p:spPr>
          <a:xfrm>
            <a:off x="4526280" y="4572000"/>
            <a:ext cx="914400" cy="329184"/>
          </a:xfrm>
          <a:prstGeom prst="roundRect">
            <a:avLst>
              <a:gd name="adj" fmla="val 13889"/>
            </a:avLst>
          </a:prstGeom>
          <a:solidFill>
            <a:schemeClr val="accent1"/>
          </a:solidFill>
          <a:ln/>
        </p:spPr>
      </p:sp>
      <p:sp>
        <p:nvSpPr>
          <p:cNvPr id="29" name="Text 27"/>
          <p:cNvSpPr txBox="1"/>
          <p:nvPr/>
        </p:nvSpPr>
        <p:spPr>
          <a:xfrm>
            <a:off x="4526280" y="4572000"/>
            <a:ext cx="914400" cy="329184"/>
          </a:xfrm>
          <a:prstGeom prst="rect">
            <a:avLst/>
          </a:prstGeom>
          <a:noFill/>
          <a:ln/>
        </p:spPr>
        <p:txBody>
          <a:bodyPr wrap="square" lIns="0" tIns="0" rIns="0" bIns="0" rtlCol="0" anchor="ctr"/>
          <a:lstStyle/>
          <a:p>
            <a:pPr marL="0" indent="0" algn="ctr">
              <a:buNone/>
            </a:pPr>
            <a:r>
              <a:rPr lang="en-US" sz="1100" b="1" dirty="0">
                <a:solidFill>
                  <a:srgbClr val="FFFFFF"/>
                </a:solidFill>
              </a:rPr>
              <a:t>Block B</a:t>
            </a:r>
            <a:endParaRPr lang="en-US" sz="1100" dirty="0"/>
          </a:p>
        </p:txBody>
      </p:sp>
      <p:sp>
        <p:nvSpPr>
          <p:cNvPr id="30" name="Shape 28"/>
          <p:cNvSpPr/>
          <p:nvPr/>
        </p:nvSpPr>
        <p:spPr>
          <a:xfrm>
            <a:off x="4526280" y="4983480"/>
            <a:ext cx="914400" cy="329184"/>
          </a:xfrm>
          <a:prstGeom prst="roundRect">
            <a:avLst>
              <a:gd name="adj" fmla="val 13889"/>
            </a:avLst>
          </a:prstGeom>
          <a:solidFill>
            <a:schemeClr val="accent1"/>
          </a:solidFill>
          <a:ln/>
        </p:spPr>
      </p:sp>
      <p:sp>
        <p:nvSpPr>
          <p:cNvPr id="31" name="Text 29"/>
          <p:cNvSpPr txBox="1"/>
          <p:nvPr/>
        </p:nvSpPr>
        <p:spPr>
          <a:xfrm>
            <a:off x="4526280" y="4983480"/>
            <a:ext cx="914400" cy="329184"/>
          </a:xfrm>
          <a:prstGeom prst="rect">
            <a:avLst/>
          </a:prstGeom>
          <a:noFill/>
          <a:ln/>
        </p:spPr>
        <p:txBody>
          <a:bodyPr wrap="square" lIns="0" tIns="0" rIns="0" bIns="0" rtlCol="0" anchor="ctr"/>
          <a:lstStyle/>
          <a:p>
            <a:pPr marL="0" indent="0" algn="ctr">
              <a:buNone/>
            </a:pPr>
            <a:r>
              <a:rPr lang="en-US" sz="1100" b="1" dirty="0">
                <a:solidFill>
                  <a:srgbClr val="FFFFFF"/>
                </a:solidFill>
              </a:rPr>
              <a:t>Block C</a:t>
            </a:r>
            <a:endParaRPr lang="en-US" sz="1100" dirty="0"/>
          </a:p>
        </p:txBody>
      </p:sp>
      <p:sp>
        <p:nvSpPr>
          <p:cNvPr id="32" name="Shape 30"/>
          <p:cNvSpPr/>
          <p:nvPr/>
        </p:nvSpPr>
        <p:spPr>
          <a:xfrm>
            <a:off x="4846320" y="2743200"/>
            <a:ext cx="1600200" cy="1005840"/>
          </a:xfrm>
          <a:prstGeom prst="line">
            <a:avLst/>
          </a:prstGeom>
          <a:noFill/>
          <a:ln w="15875">
            <a:solidFill>
              <a:schemeClr val="accent4"/>
            </a:solidFill>
            <a:prstDash val="solid"/>
            <a:tailEnd type="triangle"/>
          </a:ln>
        </p:spPr>
      </p:sp>
      <p:sp>
        <p:nvSpPr>
          <p:cNvPr id="33" name="DataNode"/>
          <p:cNvSpPr/>
          <p:nvPr/>
        </p:nvSpPr>
        <p:spPr>
          <a:xfrm>
            <a:off x="5806440" y="3749040"/>
            <a:ext cx="1280160" cy="1737360"/>
          </a:xfrm>
          <a:prstGeom prst="roundRect">
            <a:avLst>
              <a:gd name="adj" fmla="val 5714"/>
            </a:avLst>
          </a:prstGeom>
          <a:solidFill>
            <a:schemeClr val="accent1">
              <a:alpha val="15000"/>
            </a:schemeClr>
          </a:solidFill>
          <a:ln w="15875">
            <a:solidFill>
              <a:schemeClr val="accent1"/>
            </a:solidFill>
            <a:prstDash val="solid"/>
          </a:ln>
        </p:spPr>
      </p:sp>
      <p:sp>
        <p:nvSpPr>
          <p:cNvPr id="34" name="Text 32"/>
          <p:cNvSpPr txBox="1"/>
          <p:nvPr/>
        </p:nvSpPr>
        <p:spPr>
          <a:xfrm>
            <a:off x="5806440" y="3794760"/>
            <a:ext cx="1280160" cy="274320"/>
          </a:xfrm>
          <a:prstGeom prst="rect">
            <a:avLst/>
          </a:prstGeom>
          <a:noFill/>
          <a:ln/>
        </p:spPr>
        <p:txBody>
          <a:bodyPr wrap="square" lIns="0" tIns="0" rIns="0" bIns="0" rtlCol="0" anchor="t"/>
          <a:lstStyle/>
          <a:p>
            <a:pPr marL="0" indent="0" algn="ctr">
              <a:buNone/>
            </a:pPr>
            <a:r>
              <a:rPr lang="en-US" sz="1200" b="1" dirty="0">
                <a:solidFill>
                  <a:schemeClr val="tx2"/>
                </a:solidFill>
              </a:rPr>
              <a:t>DataNode 3</a:t>
            </a:r>
            <a:endParaRPr lang="en-US" sz="1200" dirty="0"/>
          </a:p>
        </p:txBody>
      </p:sp>
      <p:sp>
        <p:nvSpPr>
          <p:cNvPr id="35" name="Shape 33"/>
          <p:cNvSpPr/>
          <p:nvPr/>
        </p:nvSpPr>
        <p:spPr>
          <a:xfrm>
            <a:off x="5989320" y="4160520"/>
            <a:ext cx="914400" cy="329184"/>
          </a:xfrm>
          <a:prstGeom prst="roundRect">
            <a:avLst>
              <a:gd name="adj" fmla="val 13889"/>
            </a:avLst>
          </a:prstGeom>
          <a:solidFill>
            <a:schemeClr val="accent1"/>
          </a:solidFill>
          <a:ln/>
        </p:spPr>
      </p:sp>
      <p:sp>
        <p:nvSpPr>
          <p:cNvPr id="36" name="Text 34"/>
          <p:cNvSpPr txBox="1"/>
          <p:nvPr/>
        </p:nvSpPr>
        <p:spPr>
          <a:xfrm>
            <a:off x="5989320" y="4160520"/>
            <a:ext cx="914400" cy="329184"/>
          </a:xfrm>
          <a:prstGeom prst="rect">
            <a:avLst/>
          </a:prstGeom>
          <a:noFill/>
          <a:ln/>
        </p:spPr>
        <p:txBody>
          <a:bodyPr wrap="square" lIns="0" tIns="0" rIns="0" bIns="0" rtlCol="0" anchor="ctr"/>
          <a:lstStyle/>
          <a:p>
            <a:pPr marL="0" indent="0" algn="ctr">
              <a:buNone/>
            </a:pPr>
            <a:r>
              <a:rPr lang="en-US" sz="1100" b="1" dirty="0">
                <a:solidFill>
                  <a:srgbClr val="FFFFFF"/>
                </a:solidFill>
              </a:rPr>
              <a:t>Block A</a:t>
            </a:r>
            <a:endParaRPr lang="en-US" sz="1100" dirty="0"/>
          </a:p>
        </p:txBody>
      </p:sp>
      <p:sp>
        <p:nvSpPr>
          <p:cNvPr id="37" name="Shape 35"/>
          <p:cNvSpPr/>
          <p:nvPr/>
        </p:nvSpPr>
        <p:spPr>
          <a:xfrm>
            <a:off x="5989320" y="4572000"/>
            <a:ext cx="914400" cy="329184"/>
          </a:xfrm>
          <a:prstGeom prst="roundRect">
            <a:avLst>
              <a:gd name="adj" fmla="val 13889"/>
            </a:avLst>
          </a:prstGeom>
          <a:solidFill>
            <a:schemeClr val="accent1"/>
          </a:solidFill>
          <a:ln/>
        </p:spPr>
      </p:sp>
      <p:sp>
        <p:nvSpPr>
          <p:cNvPr id="38" name="Text 36"/>
          <p:cNvSpPr txBox="1"/>
          <p:nvPr/>
        </p:nvSpPr>
        <p:spPr>
          <a:xfrm>
            <a:off x="5989320" y="4572000"/>
            <a:ext cx="914400" cy="329184"/>
          </a:xfrm>
          <a:prstGeom prst="rect">
            <a:avLst/>
          </a:prstGeom>
          <a:noFill/>
          <a:ln/>
        </p:spPr>
        <p:txBody>
          <a:bodyPr wrap="square" lIns="0" tIns="0" rIns="0" bIns="0" rtlCol="0" anchor="ctr"/>
          <a:lstStyle/>
          <a:p>
            <a:pPr marL="0" indent="0" algn="ctr">
              <a:buNone/>
            </a:pPr>
            <a:r>
              <a:rPr lang="en-US" sz="1100" b="1" dirty="0">
                <a:solidFill>
                  <a:srgbClr val="FFFFFF"/>
                </a:solidFill>
              </a:rPr>
              <a:t>Block B</a:t>
            </a:r>
            <a:endParaRPr lang="en-US" sz="1100" dirty="0"/>
          </a:p>
        </p:txBody>
      </p:sp>
      <p:sp>
        <p:nvSpPr>
          <p:cNvPr id="39" name="Shape 37"/>
          <p:cNvSpPr/>
          <p:nvPr/>
        </p:nvSpPr>
        <p:spPr>
          <a:xfrm>
            <a:off x="5989320" y="4983480"/>
            <a:ext cx="914400" cy="329184"/>
          </a:xfrm>
          <a:prstGeom prst="roundRect">
            <a:avLst>
              <a:gd name="adj" fmla="val 13889"/>
            </a:avLst>
          </a:prstGeom>
          <a:solidFill>
            <a:schemeClr val="accent1"/>
          </a:solidFill>
          <a:ln/>
        </p:spPr>
      </p:sp>
      <p:sp>
        <p:nvSpPr>
          <p:cNvPr id="40" name="Text 38"/>
          <p:cNvSpPr txBox="1"/>
          <p:nvPr/>
        </p:nvSpPr>
        <p:spPr>
          <a:xfrm>
            <a:off x="5989320" y="4983480"/>
            <a:ext cx="914400" cy="329184"/>
          </a:xfrm>
          <a:prstGeom prst="rect">
            <a:avLst/>
          </a:prstGeom>
          <a:noFill/>
          <a:ln/>
        </p:spPr>
        <p:txBody>
          <a:bodyPr wrap="square" lIns="0" tIns="0" rIns="0" bIns="0" rtlCol="0" anchor="ctr"/>
          <a:lstStyle/>
          <a:p>
            <a:pPr marL="0" indent="0" algn="ctr">
              <a:buNone/>
            </a:pPr>
            <a:r>
              <a:rPr lang="en-US" sz="1100" b="1" dirty="0">
                <a:solidFill>
                  <a:srgbClr val="FFFFFF"/>
                </a:solidFill>
              </a:rPr>
              <a:t>Block C</a:t>
            </a:r>
            <a:endParaRPr lang="en-US" sz="1100" dirty="0"/>
          </a:p>
        </p:txBody>
      </p:sp>
      <p:sp>
        <p:nvSpPr>
          <p:cNvPr id="41" name="Text 39"/>
          <p:cNvSpPr txBox="1"/>
          <p:nvPr/>
        </p:nvSpPr>
        <p:spPr>
          <a:xfrm>
            <a:off x="2880360" y="5596128"/>
            <a:ext cx="4297680" cy="365760"/>
          </a:xfrm>
          <a:prstGeom prst="rect">
            <a:avLst/>
          </a:prstGeom>
          <a:noFill/>
          <a:ln/>
        </p:spPr>
        <p:txBody>
          <a:bodyPr wrap="square" lIns="0" tIns="0" rIns="0" bIns="0" rtlCol="0" anchor="t"/>
          <a:lstStyle/>
          <a:p>
            <a:pPr marL="0" indent="0" algn="ctr">
              <a:buNone/>
            </a:pPr>
            <a:r>
              <a:rPr lang="en-US" sz="1200" dirty="0">
                <a:solidFill>
                  <a:schemeClr val="accent4"/>
                </a:solidFill>
              </a:rPr>
              <a:t>File is split into blocks stored across DataNodes</a:t>
            </a:r>
            <a:endParaRPr lang="en-US" sz="1200" dirty="0"/>
          </a:p>
        </p:txBody>
      </p:sp>
      <p:sp>
        <p:nvSpPr>
          <p:cNvPr id="42" name="HDFS role card"/>
          <p:cNvSpPr/>
          <p:nvPr/>
        </p:nvSpPr>
        <p:spPr>
          <a:xfrm>
            <a:off x="7589520" y="1417320"/>
            <a:ext cx="4069080" cy="1042416"/>
          </a:xfrm>
          <a:prstGeom prst="roundRect">
            <a:avLst>
              <a:gd name="adj" fmla="val 7018"/>
            </a:avLst>
          </a:prstGeom>
          <a:solidFill>
            <a:schemeClr val="bg2"/>
          </a:solidFill>
          <a:ln/>
        </p:spPr>
      </p:sp>
      <p:sp>
        <p:nvSpPr>
          <p:cNvPr id="43" name="Text 41"/>
          <p:cNvSpPr txBox="1"/>
          <p:nvPr/>
        </p:nvSpPr>
        <p:spPr>
          <a:xfrm>
            <a:off x="7772400" y="1508760"/>
            <a:ext cx="3703320" cy="896112"/>
          </a:xfrm>
          <a:prstGeom prst="rect">
            <a:avLst/>
          </a:prstGeom>
          <a:noFill/>
          <a:ln/>
        </p:spPr>
        <p:txBody>
          <a:bodyPr wrap="square" lIns="0" tIns="0" rIns="0" bIns="0" rtlCol="0" anchor="ctr"/>
          <a:lstStyle/>
          <a:p>
            <a:pPr marL="0" indent="0">
              <a:buNone/>
            </a:pPr>
            <a:r>
              <a:rPr lang="en-US" sz="1600" b="1" dirty="0">
                <a:solidFill>
                  <a:schemeClr val="tx2"/>
                </a:solidFill>
              </a:rPr>
              <a:t>NameNode</a:t>
            </a:r>
            <a:endParaRPr lang="en-US" sz="1400" dirty="0"/>
          </a:p>
          <a:p>
            <a:pPr marL="0" indent="0">
              <a:buNone/>
            </a:pPr>
            <a:r>
              <a:rPr lang="en-US" sz="1300" dirty="0">
                <a:solidFill>
                  <a:schemeClr val="tx1"/>
                </a:solidFill>
              </a:rPr>
              <a:t>Keeps the file system namespace and knows which blocks live where</a:t>
            </a:r>
            <a:endParaRPr lang="en-US" sz="1400" dirty="0"/>
          </a:p>
        </p:txBody>
      </p:sp>
      <p:sp>
        <p:nvSpPr>
          <p:cNvPr id="44" name="HDFS role card"/>
          <p:cNvSpPr/>
          <p:nvPr/>
        </p:nvSpPr>
        <p:spPr>
          <a:xfrm>
            <a:off x="7589520" y="2587752"/>
            <a:ext cx="4069080" cy="1042416"/>
          </a:xfrm>
          <a:prstGeom prst="roundRect">
            <a:avLst>
              <a:gd name="adj" fmla="val 7018"/>
            </a:avLst>
          </a:prstGeom>
          <a:solidFill>
            <a:schemeClr val="bg2"/>
          </a:solidFill>
          <a:ln/>
        </p:spPr>
      </p:sp>
      <p:sp>
        <p:nvSpPr>
          <p:cNvPr id="45" name="Text 43"/>
          <p:cNvSpPr txBox="1"/>
          <p:nvPr/>
        </p:nvSpPr>
        <p:spPr>
          <a:xfrm>
            <a:off x="7772400" y="2679192"/>
            <a:ext cx="3703320" cy="896112"/>
          </a:xfrm>
          <a:prstGeom prst="rect">
            <a:avLst/>
          </a:prstGeom>
          <a:noFill/>
          <a:ln/>
        </p:spPr>
        <p:txBody>
          <a:bodyPr wrap="square" lIns="0" tIns="0" rIns="0" bIns="0" rtlCol="0" anchor="ctr"/>
          <a:lstStyle/>
          <a:p>
            <a:pPr marL="0" indent="0">
              <a:buNone/>
            </a:pPr>
            <a:r>
              <a:rPr lang="en-US" sz="1600" b="1" dirty="0">
                <a:solidFill>
                  <a:schemeClr val="tx2"/>
                </a:solidFill>
              </a:rPr>
              <a:t>DataNode</a:t>
            </a:r>
            <a:endParaRPr lang="en-US" sz="1400" dirty="0"/>
          </a:p>
          <a:p>
            <a:pPr marL="0" indent="0">
              <a:buNone/>
            </a:pPr>
            <a:r>
              <a:rPr lang="en-US" sz="1300" dirty="0">
                <a:solidFill>
                  <a:schemeClr val="tx1"/>
                </a:solidFill>
              </a:rPr>
              <a:t>Stores the actual data blocks and serves read/write requests</a:t>
            </a:r>
            <a:endParaRPr lang="en-US" sz="1400" dirty="0"/>
          </a:p>
        </p:txBody>
      </p:sp>
      <p:sp>
        <p:nvSpPr>
          <p:cNvPr id="46" name="HDFS role card"/>
          <p:cNvSpPr/>
          <p:nvPr/>
        </p:nvSpPr>
        <p:spPr>
          <a:xfrm>
            <a:off x="7589520" y="3758184"/>
            <a:ext cx="4069080" cy="1042416"/>
          </a:xfrm>
          <a:prstGeom prst="roundRect">
            <a:avLst>
              <a:gd name="adj" fmla="val 7018"/>
            </a:avLst>
          </a:prstGeom>
          <a:solidFill>
            <a:schemeClr val="bg2"/>
          </a:solidFill>
          <a:ln/>
        </p:spPr>
      </p:sp>
      <p:sp>
        <p:nvSpPr>
          <p:cNvPr id="47" name="Text 45"/>
          <p:cNvSpPr txBox="1"/>
          <p:nvPr/>
        </p:nvSpPr>
        <p:spPr>
          <a:xfrm>
            <a:off x="7772400" y="3849624"/>
            <a:ext cx="3703320" cy="896112"/>
          </a:xfrm>
          <a:prstGeom prst="rect">
            <a:avLst/>
          </a:prstGeom>
          <a:noFill/>
          <a:ln/>
        </p:spPr>
        <p:txBody>
          <a:bodyPr wrap="square" lIns="0" tIns="0" rIns="0" bIns="0" rtlCol="0" anchor="ctr"/>
          <a:lstStyle/>
          <a:p>
            <a:pPr marL="0" indent="0">
              <a:buNone/>
            </a:pPr>
            <a:r>
              <a:rPr lang="en-US" sz="1600" b="1" dirty="0">
                <a:solidFill>
                  <a:schemeClr val="tx2"/>
                </a:solidFill>
              </a:rPr>
              <a:t>Why distributed</a:t>
            </a:r>
            <a:endParaRPr lang="en-US" sz="1400" dirty="0"/>
          </a:p>
          <a:p>
            <a:pPr marL="0" indent="0">
              <a:buNone/>
            </a:pPr>
            <a:r>
              <a:rPr lang="en-US" sz="1300" dirty="0">
                <a:solidFill>
                  <a:schemeClr val="tx1"/>
                </a:solidFill>
              </a:rPr>
              <a:t>Scale storage and processing across machines; replicate blocks for fault tolerance</a:t>
            </a:r>
            <a:endParaRPr lang="en-US" sz="1400" dirty="0"/>
          </a:p>
        </p:txBody>
      </p:sp>
      <p:sp>
        <p:nvSpPr>
          <p:cNvPr id="48" name="Shape 46"/>
          <p:cNvSpPr/>
          <p:nvPr/>
        </p:nvSpPr>
        <p:spPr>
          <a:xfrm>
            <a:off x="7589520" y="4983480"/>
            <a:ext cx="4069080" cy="1097280"/>
          </a:xfrm>
          <a:prstGeom prst="roundRect">
            <a:avLst>
              <a:gd name="adj" fmla="val 8333"/>
            </a:avLst>
          </a:prstGeom>
          <a:solidFill>
            <a:schemeClr val="tx2"/>
          </a:solidFill>
          <a:ln/>
        </p:spPr>
      </p:sp>
      <p:sp>
        <p:nvSpPr>
          <p:cNvPr id="49" name="Text 47"/>
          <p:cNvSpPr txBox="1"/>
          <p:nvPr/>
        </p:nvSpPr>
        <p:spPr>
          <a:xfrm>
            <a:off x="7772400" y="4983480"/>
            <a:ext cx="3703320" cy="1097280"/>
          </a:xfrm>
          <a:prstGeom prst="rect">
            <a:avLst/>
          </a:prstGeom>
          <a:noFill/>
          <a:ln/>
        </p:spPr>
        <p:txBody>
          <a:bodyPr wrap="square" lIns="0" tIns="0" rIns="0" bIns="0" rtlCol="0" anchor="ctr"/>
          <a:lstStyle/>
          <a:p>
            <a:pPr marL="0" indent="0">
              <a:buNone/>
            </a:pPr>
            <a:r>
              <a:rPr lang="en-US" sz="1600" b="1" dirty="0">
                <a:solidFill>
                  <a:srgbClr val="FFFFFF"/>
                </a:solidFill>
              </a:rPr>
              <a:t>HDFS stores. Pig transforms.</a:t>
            </a:r>
            <a:endParaRPr lang="en-US" sz="1400" dirty="0"/>
          </a:p>
          <a:p>
            <a:pPr marL="0" indent="0">
              <a:buNone/>
            </a:pPr>
            <a:r>
              <a:rPr lang="en-US" sz="1300" dirty="0">
                <a:solidFill>
                  <a:srgbClr val="BFD3E6"/>
                </a:solidFill>
              </a:rPr>
              <a:t>The cleaned CSV becomes the shared input for Task 2</a:t>
            </a:r>
            <a:endParaRPr lang="en-US" sz="1400" dirty="0"/>
          </a:p>
        </p:txBody>
      </p:sp>
      <p:sp>
        <p:nvSpPr>
          <p:cNvPr id="50" name="Slide Number Placeholder 0"/>
          <p:cNvSpPr>
            <a:spLocks noGrp="1"/>
          </p:cNvSpPr>
          <p:nvPr>
            <p:ph type="sldNum" sz="quarter" idx="4294967295"/>
          </p:nvPr>
        </p:nvSpPr>
        <p:spPr>
          <a:xfrm>
            <a:off x="10972800" y="6446520"/>
            <a:ext cx="64008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4" name="Text 2"/>
          <p:cNvSpPr txBox="1"/>
          <p:nvPr/>
        </p:nvSpPr>
        <p:spPr>
          <a:xfrm>
            <a:off x="640080" y="1234440"/>
            <a:ext cx="4572000" cy="274320"/>
          </a:xfrm>
          <a:prstGeom prst="rect">
            <a:avLst/>
          </a:prstGeom>
          <a:noFill/>
          <a:ln/>
        </p:spPr>
        <p:txBody>
          <a:bodyPr wrap="square" lIns="0" tIns="0" rIns="0" bIns="0" rtlCol="0" anchor="t"/>
          <a:lstStyle/>
          <a:p>
            <a:pPr marL="0" indent="0">
              <a:buNone/>
            </a:pPr>
            <a:r>
              <a:rPr lang="en-US" sz="1300" b="1" kern="0" spc="300" dirty="0">
                <a:solidFill>
                  <a:srgbClr val="0E9AA7"/>
                </a:solidFill>
              </a:rPr>
              <a:t>SECTION II</a:t>
            </a:r>
            <a:endParaRPr lang="en-US" sz="1300" dirty="0"/>
          </a:p>
        </p:txBody>
      </p:sp>
      <p:sp>
        <p:nvSpPr>
          <p:cNvPr id="5" name="Text 3"/>
          <p:cNvSpPr txBox="1"/>
          <p:nvPr/>
        </p:nvSpPr>
        <p:spPr>
          <a:xfrm>
            <a:off x="640080" y="1600200"/>
            <a:ext cx="5669280" cy="182880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Task 2: Large-Scale Transformation with Apache Pig</a:t>
            </a:r>
            <a:endParaRPr lang="en-US" sz="3600" dirty="0"/>
          </a:p>
        </p:txBody>
      </p:sp>
      <p:sp>
        <p:nvSpPr>
          <p:cNvPr id="6" name="Text 4"/>
          <p:cNvSpPr txBox="1"/>
          <p:nvPr/>
        </p:nvSpPr>
        <p:spPr>
          <a:xfrm>
            <a:off x="640080" y="3657600"/>
            <a:ext cx="5303520" cy="822960"/>
          </a:xfrm>
          <a:prstGeom prst="rect">
            <a:avLst/>
          </a:prstGeom>
          <a:noFill/>
          <a:ln/>
        </p:spPr>
        <p:txBody>
          <a:bodyPr wrap="square" lIns="0" tIns="0" rIns="0" bIns="0" rtlCol="0" anchor="t"/>
          <a:lstStyle/>
          <a:p>
            <a:pPr marL="0" indent="0">
              <a:buNone/>
            </a:pPr>
            <a:r>
              <a:rPr lang="en-US" sz="1800" dirty="0">
                <a:solidFill>
                  <a:srgbClr val="CADCFC"/>
                </a:solidFill>
              </a:rPr>
              <a:t>Objective: convert cleaned postings into normalized, analysis-ready datasets.</a:t>
            </a:r>
            <a:endParaRPr lang="en-US" sz="1800" dirty="0"/>
          </a:p>
        </p:txBody>
      </p:sp>
      <p:sp>
        <p:nvSpPr>
          <p:cNvPr id="7" name="Shape 5"/>
          <p:cNvSpPr/>
          <p:nvPr/>
        </p:nvSpPr>
        <p:spPr>
          <a:xfrm>
            <a:off x="6492240" y="1280160"/>
            <a:ext cx="1828800" cy="4206240"/>
          </a:xfrm>
          <a:prstGeom prst="roundRect">
            <a:avLst>
              <a:gd name="adj" fmla="val 5000"/>
            </a:avLst>
          </a:prstGeom>
          <a:solidFill>
            <a:srgbClr val="FFFFFF">
              <a:alpha val="10000"/>
            </a:srgbClr>
          </a:solidFill>
          <a:ln w="15875">
            <a:solidFill>
              <a:srgbClr val="9FB3C8"/>
            </a:solidFill>
            <a:prstDash val="solid"/>
          </a:ln>
        </p:spPr>
      </p:sp>
      <p:sp>
        <p:nvSpPr>
          <p:cNvPr id="8" name="Text 6"/>
          <p:cNvSpPr txBox="1"/>
          <p:nvPr/>
        </p:nvSpPr>
        <p:spPr>
          <a:xfrm>
            <a:off x="6492240" y="1371600"/>
            <a:ext cx="1828800" cy="274320"/>
          </a:xfrm>
          <a:prstGeom prst="rect">
            <a:avLst/>
          </a:prstGeom>
          <a:noFill/>
          <a:ln/>
        </p:spPr>
        <p:txBody>
          <a:bodyPr wrap="square" lIns="0" tIns="0" rIns="0" bIns="0" rtlCol="0" anchor="t"/>
          <a:lstStyle/>
          <a:p>
            <a:pPr marL="0" indent="0" algn="ctr">
              <a:buNone/>
            </a:pPr>
            <a:r>
              <a:rPr lang="en-US" sz="1200" b="1" dirty="0">
                <a:solidFill>
                  <a:srgbClr val="9FB3C8"/>
                </a:solidFill>
              </a:rPr>
              <a:t>Input</a:t>
            </a:r>
            <a:endParaRPr lang="en-US" sz="1200" dirty="0"/>
          </a:p>
        </p:txBody>
      </p:sp>
      <p:sp>
        <p:nvSpPr>
          <p:cNvPr id="9" name="Text 7"/>
          <p:cNvSpPr txBox="1"/>
          <p:nvPr/>
        </p:nvSpPr>
        <p:spPr>
          <a:xfrm>
            <a:off x="6537960" y="1737360"/>
            <a:ext cx="1737360" cy="640080"/>
          </a:xfrm>
          <a:prstGeom prst="rect">
            <a:avLst/>
          </a:prstGeom>
          <a:noFill/>
          <a:ln/>
        </p:spPr>
        <p:txBody>
          <a:bodyPr wrap="square" lIns="0" tIns="0" rIns="0" bIns="0" rtlCol="0" anchor="t"/>
          <a:lstStyle/>
          <a:p>
            <a:pPr marL="0" indent="0" algn="ctr">
              <a:buNone/>
            </a:pPr>
            <a:r>
              <a:rPr lang="en-US" sz="1000" dirty="0">
                <a:solidFill>
                  <a:srgbClr val="FFFFFF"/>
                </a:solidFill>
                <a:latin typeface="Courier New" pitchFamily="34" charset="0"/>
                <a:ea typeface="Courier New" pitchFamily="34" charset="-122"/>
                <a:cs typeface="Courier New" pitchFamily="34" charset="-120"/>
              </a:rPr>
              <a:t>/jobmarket/cleaned/</a:t>
            </a:r>
            <a:endParaRPr lang="en-US" sz="1000" dirty="0"/>
          </a:p>
          <a:p>
            <a:pPr marL="0" indent="0" algn="ctr">
              <a:buNone/>
            </a:pPr>
            <a:r>
              <a:rPr lang="en-US" sz="1000" dirty="0">
                <a:solidFill>
                  <a:srgbClr val="FFFFFF"/>
                </a:solidFill>
                <a:latin typeface="Courier New" pitchFamily="34" charset="0"/>
                <a:ea typeface="Courier New" pitchFamily="34" charset="-122"/>
                <a:cs typeface="Courier New" pitchFamily="34" charset="-120"/>
              </a:rPr>
              <a:t>jobs_cleaned.csv</a:t>
            </a:r>
            <a:endParaRPr lang="en-US" sz="1000" dirty="0"/>
          </a:p>
        </p:txBody>
      </p:sp>
      <p:sp>
        <p:nvSpPr>
          <p:cNvPr id="10" name="Shape 8"/>
          <p:cNvSpPr/>
          <p:nvPr/>
        </p:nvSpPr>
        <p:spPr>
          <a:xfrm>
            <a:off x="6720840" y="2560320"/>
            <a:ext cx="1371600" cy="237744"/>
          </a:xfrm>
          <a:prstGeom prst="roundRect">
            <a:avLst>
              <a:gd name="adj" fmla="val 19231"/>
            </a:avLst>
          </a:prstGeom>
          <a:solidFill>
            <a:srgbClr val="9FB3C8">
              <a:alpha val="40000"/>
            </a:srgbClr>
          </a:solidFill>
          <a:ln/>
        </p:spPr>
      </p:sp>
      <p:sp>
        <p:nvSpPr>
          <p:cNvPr id="11" name="Shape 9"/>
          <p:cNvSpPr/>
          <p:nvPr/>
        </p:nvSpPr>
        <p:spPr>
          <a:xfrm>
            <a:off x="6720840" y="2926080"/>
            <a:ext cx="1371600" cy="237744"/>
          </a:xfrm>
          <a:prstGeom prst="roundRect">
            <a:avLst>
              <a:gd name="adj" fmla="val 19231"/>
            </a:avLst>
          </a:prstGeom>
          <a:solidFill>
            <a:srgbClr val="9FB3C8">
              <a:alpha val="40000"/>
            </a:srgbClr>
          </a:solidFill>
          <a:ln/>
        </p:spPr>
      </p:sp>
      <p:sp>
        <p:nvSpPr>
          <p:cNvPr id="12" name="Shape 10"/>
          <p:cNvSpPr/>
          <p:nvPr/>
        </p:nvSpPr>
        <p:spPr>
          <a:xfrm>
            <a:off x="6720840" y="3291840"/>
            <a:ext cx="1371600" cy="237744"/>
          </a:xfrm>
          <a:prstGeom prst="roundRect">
            <a:avLst>
              <a:gd name="adj" fmla="val 19231"/>
            </a:avLst>
          </a:prstGeom>
          <a:solidFill>
            <a:srgbClr val="9FB3C8">
              <a:alpha val="40000"/>
            </a:srgbClr>
          </a:solidFill>
          <a:ln/>
        </p:spPr>
      </p:sp>
      <p:sp>
        <p:nvSpPr>
          <p:cNvPr id="13" name="Shape 11"/>
          <p:cNvSpPr/>
          <p:nvPr/>
        </p:nvSpPr>
        <p:spPr>
          <a:xfrm>
            <a:off x="6720840" y="3657600"/>
            <a:ext cx="1371600" cy="237744"/>
          </a:xfrm>
          <a:prstGeom prst="roundRect">
            <a:avLst>
              <a:gd name="adj" fmla="val 19231"/>
            </a:avLst>
          </a:prstGeom>
          <a:solidFill>
            <a:srgbClr val="9FB3C8">
              <a:alpha val="40000"/>
            </a:srgbClr>
          </a:solidFill>
          <a:ln/>
        </p:spPr>
      </p:sp>
      <p:sp>
        <p:nvSpPr>
          <p:cNvPr id="14" name="Shape 12"/>
          <p:cNvSpPr/>
          <p:nvPr/>
        </p:nvSpPr>
        <p:spPr>
          <a:xfrm>
            <a:off x="6720840" y="4023360"/>
            <a:ext cx="1371600" cy="237744"/>
          </a:xfrm>
          <a:prstGeom prst="roundRect">
            <a:avLst>
              <a:gd name="adj" fmla="val 19231"/>
            </a:avLst>
          </a:prstGeom>
          <a:solidFill>
            <a:srgbClr val="9FB3C8">
              <a:alpha val="40000"/>
            </a:srgbClr>
          </a:solidFill>
          <a:ln/>
        </p:spPr>
      </p:sp>
      <p:sp>
        <p:nvSpPr>
          <p:cNvPr id="15" name="Shape 13"/>
          <p:cNvSpPr/>
          <p:nvPr/>
        </p:nvSpPr>
        <p:spPr>
          <a:xfrm>
            <a:off x="6720840" y="4389120"/>
            <a:ext cx="1371600" cy="237744"/>
          </a:xfrm>
          <a:prstGeom prst="roundRect">
            <a:avLst>
              <a:gd name="adj" fmla="val 19231"/>
            </a:avLst>
          </a:prstGeom>
          <a:solidFill>
            <a:srgbClr val="9FB3C8">
              <a:alpha val="40000"/>
            </a:srgbClr>
          </a:solidFill>
          <a:ln/>
        </p:spPr>
      </p:sp>
      <p:sp>
        <p:nvSpPr>
          <p:cNvPr id="16" name="Shape 14"/>
          <p:cNvSpPr/>
          <p:nvPr/>
        </p:nvSpPr>
        <p:spPr>
          <a:xfrm>
            <a:off x="6720840" y="4754880"/>
            <a:ext cx="1371600" cy="237744"/>
          </a:xfrm>
          <a:prstGeom prst="roundRect">
            <a:avLst>
              <a:gd name="adj" fmla="val 19231"/>
            </a:avLst>
          </a:prstGeom>
          <a:solidFill>
            <a:srgbClr val="9FB3C8">
              <a:alpha val="40000"/>
            </a:srgbClr>
          </a:solidFill>
          <a:ln/>
        </p:spPr>
      </p:sp>
      <p:sp>
        <p:nvSpPr>
          <p:cNvPr id="17" name="Shape 15"/>
          <p:cNvSpPr/>
          <p:nvPr/>
        </p:nvSpPr>
        <p:spPr>
          <a:xfrm>
            <a:off x="8366760" y="3383280"/>
            <a:ext cx="594360" cy="0"/>
          </a:xfrm>
          <a:prstGeom prst="line">
            <a:avLst/>
          </a:prstGeom>
          <a:noFill/>
          <a:ln w="31750">
            <a:solidFill>
              <a:srgbClr val="9FB3C8"/>
            </a:solidFill>
            <a:prstDash val="solid"/>
            <a:tailEnd type="triangle"/>
          </a:ln>
        </p:spPr>
      </p:sp>
      <p:sp>
        <p:nvSpPr>
          <p:cNvPr id="18" name="Shape 16"/>
          <p:cNvSpPr/>
          <p:nvPr/>
        </p:nvSpPr>
        <p:spPr>
          <a:xfrm>
            <a:off x="8961120" y="2880360"/>
            <a:ext cx="1005840" cy="1005840"/>
          </a:xfrm>
          <a:prstGeom prst="roundRect">
            <a:avLst>
              <a:gd name="adj" fmla="val 50000"/>
            </a:avLst>
          </a:prstGeom>
          <a:solidFill>
            <a:schemeClr val="accent2"/>
          </a:solidFill>
          <a:ln/>
        </p:spPr>
      </p:sp>
      <p:sp>
        <p:nvSpPr>
          <p:cNvPr id="19" name="Text 17"/>
          <p:cNvSpPr txBox="1"/>
          <p:nvPr/>
        </p:nvSpPr>
        <p:spPr>
          <a:xfrm>
            <a:off x="8961120" y="2880360"/>
            <a:ext cx="1005840" cy="1005840"/>
          </a:xfrm>
          <a:prstGeom prst="rect">
            <a:avLst/>
          </a:prstGeom>
          <a:noFill/>
          <a:ln/>
        </p:spPr>
        <p:txBody>
          <a:bodyPr wrap="square" lIns="0" tIns="0" rIns="0" bIns="0" rtlCol="0" anchor="ctr"/>
          <a:lstStyle/>
          <a:p>
            <a:pPr marL="0" indent="0" algn="ctr">
              <a:buNone/>
            </a:pPr>
            <a:r>
              <a:rPr lang="en-US" sz="1800" b="1" dirty="0">
                <a:solidFill>
                  <a:srgbClr val="FFFFFF"/>
                </a:solidFill>
              </a:rPr>
              <a:t>Pig</a:t>
            </a:r>
            <a:endParaRPr lang="en-US" sz="1800" dirty="0"/>
          </a:p>
        </p:txBody>
      </p:sp>
      <p:sp>
        <p:nvSpPr>
          <p:cNvPr id="20" name="Shape 18"/>
          <p:cNvSpPr/>
          <p:nvPr/>
        </p:nvSpPr>
        <p:spPr>
          <a:xfrm>
            <a:off x="9966960" y="3383280"/>
            <a:ext cx="274320" cy="0"/>
          </a:xfrm>
          <a:prstGeom prst="line">
            <a:avLst/>
          </a:prstGeom>
          <a:noFill/>
          <a:ln w="31750">
            <a:solidFill>
              <a:srgbClr val="9FB3C8"/>
            </a:solidFill>
            <a:prstDash val="solid"/>
            <a:tailEnd type="triangle"/>
          </a:ln>
        </p:spPr>
      </p:sp>
      <p:sp>
        <p:nvSpPr>
          <p:cNvPr id="21" name="Shape 19"/>
          <p:cNvSpPr/>
          <p:nvPr/>
        </p:nvSpPr>
        <p:spPr>
          <a:xfrm>
            <a:off x="10241280" y="1280160"/>
            <a:ext cx="1508760" cy="457200"/>
          </a:xfrm>
          <a:prstGeom prst="roundRect">
            <a:avLst>
              <a:gd name="adj" fmla="val 12000"/>
            </a:avLst>
          </a:prstGeom>
          <a:solidFill>
            <a:schemeClr val="accent1">
              <a:alpha val="30000"/>
            </a:schemeClr>
          </a:solidFill>
          <a:ln w="15875">
            <a:solidFill>
              <a:schemeClr val="accent1"/>
            </a:solidFill>
            <a:prstDash val="solid"/>
          </a:ln>
        </p:spPr>
      </p:sp>
      <p:sp>
        <p:nvSpPr>
          <p:cNvPr id="22" name="Text 20"/>
          <p:cNvSpPr txBox="1"/>
          <p:nvPr/>
        </p:nvSpPr>
        <p:spPr>
          <a:xfrm>
            <a:off x="10241280" y="1280160"/>
            <a:ext cx="1508760" cy="457200"/>
          </a:xfrm>
          <a:prstGeom prst="rect">
            <a:avLst/>
          </a:prstGeom>
          <a:noFill/>
          <a:ln/>
        </p:spPr>
        <p:txBody>
          <a:bodyPr wrap="square" lIns="0" tIns="0" rIns="0" bIns="0" rtlCol="0" anchor="ctr"/>
          <a:lstStyle/>
          <a:p>
            <a:pPr marL="0" indent="0" algn="ctr">
              <a:buNone/>
            </a:pPr>
            <a:r>
              <a:rPr lang="en-US" sz="1100" dirty="0">
                <a:solidFill>
                  <a:srgbClr val="FFFFFF"/>
                </a:solidFill>
                <a:latin typeface="Courier New" pitchFamily="34" charset="0"/>
                <a:ea typeface="Courier New" pitchFamily="34" charset="-122"/>
                <a:cs typeface="Courier New" pitchFamily="34" charset="-120"/>
              </a:rPr>
              <a:t>jobs</a:t>
            </a:r>
            <a:endParaRPr lang="en-US" sz="1100" dirty="0"/>
          </a:p>
        </p:txBody>
      </p:sp>
      <p:sp>
        <p:nvSpPr>
          <p:cNvPr id="23" name="Shape 21"/>
          <p:cNvSpPr/>
          <p:nvPr/>
        </p:nvSpPr>
        <p:spPr>
          <a:xfrm>
            <a:off x="10241280" y="1883664"/>
            <a:ext cx="1508760" cy="457200"/>
          </a:xfrm>
          <a:prstGeom prst="roundRect">
            <a:avLst>
              <a:gd name="adj" fmla="val 12000"/>
            </a:avLst>
          </a:prstGeom>
          <a:solidFill>
            <a:schemeClr val="accent1">
              <a:alpha val="30000"/>
            </a:schemeClr>
          </a:solidFill>
          <a:ln w="15875">
            <a:solidFill>
              <a:schemeClr val="accent1"/>
            </a:solidFill>
            <a:prstDash val="solid"/>
          </a:ln>
        </p:spPr>
      </p:sp>
      <p:sp>
        <p:nvSpPr>
          <p:cNvPr id="24" name="Text 22"/>
          <p:cNvSpPr txBox="1"/>
          <p:nvPr/>
        </p:nvSpPr>
        <p:spPr>
          <a:xfrm>
            <a:off x="10241280" y="1883664"/>
            <a:ext cx="1508760" cy="457200"/>
          </a:xfrm>
          <a:prstGeom prst="rect">
            <a:avLst/>
          </a:prstGeom>
          <a:noFill/>
          <a:ln/>
        </p:spPr>
        <p:txBody>
          <a:bodyPr wrap="square" lIns="0" tIns="0" rIns="0" bIns="0" rtlCol="0" anchor="ctr"/>
          <a:lstStyle/>
          <a:p>
            <a:pPr marL="0" indent="0" algn="ctr">
              <a:buNone/>
            </a:pPr>
            <a:r>
              <a:rPr lang="en-US" sz="1100" dirty="0">
                <a:solidFill>
                  <a:srgbClr val="FFFFFF"/>
                </a:solidFill>
                <a:latin typeface="Courier New" pitchFamily="34" charset="0"/>
                <a:ea typeface="Courier New" pitchFamily="34" charset="-122"/>
                <a:cs typeface="Courier New" pitchFamily="34" charset="-120"/>
              </a:rPr>
              <a:t>skills</a:t>
            </a:r>
            <a:endParaRPr lang="en-US" sz="1100" dirty="0"/>
          </a:p>
        </p:txBody>
      </p:sp>
      <p:sp>
        <p:nvSpPr>
          <p:cNvPr id="25" name="Shape 23"/>
          <p:cNvSpPr/>
          <p:nvPr/>
        </p:nvSpPr>
        <p:spPr>
          <a:xfrm>
            <a:off x="10241280" y="2487168"/>
            <a:ext cx="1508760" cy="457200"/>
          </a:xfrm>
          <a:prstGeom prst="roundRect">
            <a:avLst>
              <a:gd name="adj" fmla="val 12000"/>
            </a:avLst>
          </a:prstGeom>
          <a:solidFill>
            <a:schemeClr val="accent1">
              <a:alpha val="30000"/>
            </a:schemeClr>
          </a:solidFill>
          <a:ln w="15875">
            <a:solidFill>
              <a:schemeClr val="accent1"/>
            </a:solidFill>
            <a:prstDash val="solid"/>
          </a:ln>
        </p:spPr>
      </p:sp>
      <p:sp>
        <p:nvSpPr>
          <p:cNvPr id="26" name="Text 24"/>
          <p:cNvSpPr txBox="1"/>
          <p:nvPr/>
        </p:nvSpPr>
        <p:spPr>
          <a:xfrm>
            <a:off x="10241280" y="2487168"/>
            <a:ext cx="1508760" cy="457200"/>
          </a:xfrm>
          <a:prstGeom prst="rect">
            <a:avLst/>
          </a:prstGeom>
          <a:noFill/>
          <a:ln/>
        </p:spPr>
        <p:txBody>
          <a:bodyPr wrap="square" lIns="0" tIns="0" rIns="0" bIns="0" rtlCol="0" anchor="ctr"/>
          <a:lstStyle/>
          <a:p>
            <a:pPr marL="0" indent="0" algn="ctr">
              <a:buNone/>
            </a:pPr>
            <a:r>
              <a:rPr lang="en-US" sz="1100" dirty="0">
                <a:solidFill>
                  <a:srgbClr val="FFFFFF"/>
                </a:solidFill>
                <a:latin typeface="Courier New" pitchFamily="34" charset="0"/>
                <a:ea typeface="Courier New" pitchFamily="34" charset="-122"/>
                <a:cs typeface="Courier New" pitchFamily="34" charset="-120"/>
              </a:rPr>
              <a:t>skills_demand</a:t>
            </a:r>
            <a:endParaRPr lang="en-US" sz="1100" dirty="0"/>
          </a:p>
        </p:txBody>
      </p:sp>
      <p:sp>
        <p:nvSpPr>
          <p:cNvPr id="27" name="Shape 25"/>
          <p:cNvSpPr/>
          <p:nvPr/>
        </p:nvSpPr>
        <p:spPr>
          <a:xfrm>
            <a:off x="10241280" y="3090672"/>
            <a:ext cx="1508760" cy="457200"/>
          </a:xfrm>
          <a:prstGeom prst="roundRect">
            <a:avLst>
              <a:gd name="adj" fmla="val 12000"/>
            </a:avLst>
          </a:prstGeom>
          <a:solidFill>
            <a:schemeClr val="accent1">
              <a:alpha val="30000"/>
            </a:schemeClr>
          </a:solidFill>
          <a:ln w="15875">
            <a:solidFill>
              <a:schemeClr val="accent1"/>
            </a:solidFill>
            <a:prstDash val="solid"/>
          </a:ln>
        </p:spPr>
      </p:sp>
      <p:sp>
        <p:nvSpPr>
          <p:cNvPr id="28" name="Text 26"/>
          <p:cNvSpPr txBox="1"/>
          <p:nvPr/>
        </p:nvSpPr>
        <p:spPr>
          <a:xfrm>
            <a:off x="10241280" y="3090672"/>
            <a:ext cx="1508760" cy="457200"/>
          </a:xfrm>
          <a:prstGeom prst="rect">
            <a:avLst/>
          </a:prstGeom>
          <a:noFill/>
          <a:ln/>
        </p:spPr>
        <p:txBody>
          <a:bodyPr wrap="square" lIns="0" tIns="0" rIns="0" bIns="0" rtlCol="0" anchor="ctr"/>
          <a:lstStyle/>
          <a:p>
            <a:pPr marL="0" indent="0" algn="ctr">
              <a:buNone/>
            </a:pPr>
            <a:r>
              <a:rPr lang="en-US" sz="1100" dirty="0">
                <a:solidFill>
                  <a:srgbClr val="FFFFFF"/>
                </a:solidFill>
                <a:latin typeface="Courier New" pitchFamily="34" charset="0"/>
                <a:ea typeface="Courier New" pitchFamily="34" charset="-122"/>
                <a:cs typeface="Courier New" pitchFamily="34" charset="-120"/>
              </a:rPr>
              <a:t>location</a:t>
            </a:r>
            <a:endParaRPr lang="en-US" sz="1100" dirty="0"/>
          </a:p>
        </p:txBody>
      </p:sp>
      <p:sp>
        <p:nvSpPr>
          <p:cNvPr id="29" name="Shape 27"/>
          <p:cNvSpPr/>
          <p:nvPr/>
        </p:nvSpPr>
        <p:spPr>
          <a:xfrm>
            <a:off x="10241280" y="3694176"/>
            <a:ext cx="1508760" cy="457200"/>
          </a:xfrm>
          <a:prstGeom prst="roundRect">
            <a:avLst>
              <a:gd name="adj" fmla="val 12000"/>
            </a:avLst>
          </a:prstGeom>
          <a:solidFill>
            <a:schemeClr val="accent1">
              <a:alpha val="30000"/>
            </a:schemeClr>
          </a:solidFill>
          <a:ln w="15875">
            <a:solidFill>
              <a:schemeClr val="accent1"/>
            </a:solidFill>
            <a:prstDash val="solid"/>
          </a:ln>
        </p:spPr>
      </p:sp>
      <p:sp>
        <p:nvSpPr>
          <p:cNvPr id="30" name="Text 28"/>
          <p:cNvSpPr txBox="1"/>
          <p:nvPr/>
        </p:nvSpPr>
        <p:spPr>
          <a:xfrm>
            <a:off x="10241280" y="3694176"/>
            <a:ext cx="1508760" cy="457200"/>
          </a:xfrm>
          <a:prstGeom prst="rect">
            <a:avLst/>
          </a:prstGeom>
          <a:noFill/>
          <a:ln/>
        </p:spPr>
        <p:txBody>
          <a:bodyPr wrap="square" lIns="0" tIns="0" rIns="0" bIns="0" rtlCol="0" anchor="ctr"/>
          <a:lstStyle/>
          <a:p>
            <a:pPr marL="0" indent="0" algn="ctr">
              <a:buNone/>
            </a:pPr>
            <a:r>
              <a:rPr lang="en-US" sz="1100" dirty="0">
                <a:solidFill>
                  <a:srgbClr val="FFFFFF"/>
                </a:solidFill>
                <a:latin typeface="Courier New" pitchFamily="34" charset="0"/>
                <a:ea typeface="Courier New" pitchFamily="34" charset="-122"/>
                <a:cs typeface="Courier New" pitchFamily="34" charset="-120"/>
              </a:rPr>
              <a:t>salary</a:t>
            </a:r>
            <a:endParaRPr lang="en-US" sz="1100" dirty="0"/>
          </a:p>
        </p:txBody>
      </p:sp>
      <p:sp>
        <p:nvSpPr>
          <p:cNvPr id="31" name="Shape 29"/>
          <p:cNvSpPr/>
          <p:nvPr/>
        </p:nvSpPr>
        <p:spPr>
          <a:xfrm>
            <a:off x="10241280" y="4297680"/>
            <a:ext cx="1508760" cy="457200"/>
          </a:xfrm>
          <a:prstGeom prst="roundRect">
            <a:avLst>
              <a:gd name="adj" fmla="val 12000"/>
            </a:avLst>
          </a:prstGeom>
          <a:solidFill>
            <a:schemeClr val="accent1">
              <a:alpha val="30000"/>
            </a:schemeClr>
          </a:solidFill>
          <a:ln w="15875">
            <a:solidFill>
              <a:schemeClr val="accent1"/>
            </a:solidFill>
            <a:prstDash val="solid"/>
          </a:ln>
        </p:spPr>
      </p:sp>
      <p:sp>
        <p:nvSpPr>
          <p:cNvPr id="32" name="Text 30"/>
          <p:cNvSpPr txBox="1"/>
          <p:nvPr/>
        </p:nvSpPr>
        <p:spPr>
          <a:xfrm>
            <a:off x="10241280" y="4297680"/>
            <a:ext cx="1508760" cy="457200"/>
          </a:xfrm>
          <a:prstGeom prst="rect">
            <a:avLst/>
          </a:prstGeom>
          <a:noFill/>
          <a:ln/>
        </p:spPr>
        <p:txBody>
          <a:bodyPr wrap="square" lIns="0" tIns="0" rIns="0" bIns="0" rtlCol="0" anchor="ctr"/>
          <a:lstStyle/>
          <a:p>
            <a:pPr marL="0" indent="0" algn="ctr">
              <a:buNone/>
            </a:pPr>
            <a:r>
              <a:rPr lang="en-US" sz="1100" dirty="0">
                <a:solidFill>
                  <a:srgbClr val="FFFFFF"/>
                </a:solidFill>
                <a:latin typeface="Courier New" pitchFamily="34" charset="0"/>
                <a:ea typeface="Courier New" pitchFamily="34" charset="-122"/>
                <a:cs typeface="Courier New" pitchFamily="34" charset="-120"/>
              </a:rPr>
              <a:t>salary_location</a:t>
            </a:r>
            <a:endParaRPr lang="en-US" sz="1100" dirty="0"/>
          </a:p>
        </p:txBody>
      </p:sp>
      <p:sp>
        <p:nvSpPr>
          <p:cNvPr id="33" name="Shape 31"/>
          <p:cNvSpPr/>
          <p:nvPr/>
        </p:nvSpPr>
        <p:spPr>
          <a:xfrm>
            <a:off x="10241280" y="4901184"/>
            <a:ext cx="1508760" cy="457200"/>
          </a:xfrm>
          <a:prstGeom prst="roundRect">
            <a:avLst>
              <a:gd name="adj" fmla="val 12000"/>
            </a:avLst>
          </a:prstGeom>
          <a:solidFill>
            <a:schemeClr val="accent1">
              <a:alpha val="30000"/>
            </a:schemeClr>
          </a:solidFill>
          <a:ln w="15875">
            <a:solidFill>
              <a:schemeClr val="accent1"/>
            </a:solidFill>
            <a:prstDash val="solid"/>
          </a:ln>
        </p:spPr>
      </p:sp>
      <p:sp>
        <p:nvSpPr>
          <p:cNvPr id="34" name="Text 32"/>
          <p:cNvSpPr txBox="1"/>
          <p:nvPr/>
        </p:nvSpPr>
        <p:spPr>
          <a:xfrm>
            <a:off x="10241280" y="4901184"/>
            <a:ext cx="1508760" cy="457200"/>
          </a:xfrm>
          <a:prstGeom prst="rect">
            <a:avLst/>
          </a:prstGeom>
          <a:noFill/>
          <a:ln/>
        </p:spPr>
        <p:txBody>
          <a:bodyPr wrap="square" lIns="0" tIns="0" rIns="0" bIns="0" rtlCol="0" anchor="ctr"/>
          <a:lstStyle/>
          <a:p>
            <a:pPr marL="0" indent="0" algn="ctr">
              <a:buNone/>
            </a:pPr>
            <a:r>
              <a:rPr lang="en-US" sz="1100" dirty="0">
                <a:solidFill>
                  <a:srgbClr val="FFFFFF"/>
                </a:solidFill>
                <a:latin typeface="Courier New" pitchFamily="34" charset="0"/>
                <a:ea typeface="Courier New" pitchFamily="34" charset="-122"/>
                <a:cs typeface="Courier New" pitchFamily="34" charset="-120"/>
              </a:rPr>
              <a:t>time_based</a:t>
            </a:r>
            <a:endParaRPr lang="en-US" sz="1100" dirty="0"/>
          </a:p>
        </p:txBody>
      </p:sp>
      <p:sp>
        <p:nvSpPr>
          <p:cNvPr id="35" name="Text 33"/>
          <p:cNvSpPr txBox="1"/>
          <p:nvPr/>
        </p:nvSpPr>
        <p:spPr>
          <a:xfrm>
            <a:off x="6492240" y="5669280"/>
            <a:ext cx="5212080" cy="365760"/>
          </a:xfrm>
          <a:prstGeom prst="rect">
            <a:avLst/>
          </a:prstGeom>
          <a:noFill/>
          <a:ln/>
        </p:spPr>
        <p:txBody>
          <a:bodyPr wrap="square" lIns="0" tIns="0" rIns="0" bIns="0" rtlCol="0" anchor="t"/>
          <a:lstStyle/>
          <a:p>
            <a:pPr marL="0" indent="0">
              <a:buNone/>
            </a:pPr>
            <a:r>
              <a:rPr lang="en-US" sz="1400" dirty="0">
                <a:solidFill>
                  <a:srgbClr val="CADCFC"/>
                </a:solidFill>
              </a:rPr>
              <a:t>Output: multiple directories under /jobmarket/processed/</a:t>
            </a:r>
            <a:endParaRPr lang="en-US" sz="1400" dirty="0"/>
          </a:p>
        </p:txBody>
      </p:sp>
      <p:sp>
        <p:nvSpPr>
          <p:cNvPr id="36"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3C8"/>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TASK 2</a:t>
            </a:r>
            <a:endParaRPr lang="en-US" sz="1200" dirty="0"/>
          </a:p>
        </p:txBody>
      </p:sp>
      <p:sp>
        <p:nvSpPr>
          <p:cNvPr id="3" name="Text 0"/>
          <p:cNvSpPr>
            <a:spLocks noGrp="1"/>
          </p:cNvSpPr>
          <p:nvPr>
            <p:ph type="title" idx="100" hasCustomPrompt="1"/>
          </p:nvPr>
        </p:nvSpPr>
        <p:spPr>
          <a:xfrm>
            <a:off x="548640" y="566928"/>
            <a:ext cx="9418320" cy="685800"/>
          </a:xfrm>
          <a:prstGeom prst="rect">
            <a:avLst/>
          </a:prstGeom>
          <a:noFill/>
          <a:ln/>
        </p:spPr>
        <p:txBody>
          <a:bodyPr wrap="square" lIns="0" tIns="0" rIns="0" bIns="0" rtlCol="0" anchor="ctr"/>
          <a:lstStyle/>
          <a:p>
            <a:pPr marL="0" indent="0" algn="l">
              <a:buNone/>
            </a:pPr>
            <a:r>
              <a:rPr lang="en-US" sz="3200" b="1" dirty="0">
                <a:solidFill>
                  <a:schemeClr val="tx2"/>
                </a:solidFill>
              </a:rPr>
              <a:t>Why Apache Pig?</a:t>
            </a:r>
            <a:endParaRPr lang="en-US" sz="3200" dirty="0"/>
          </a:p>
        </p:txBody>
      </p:sp>
      <p:sp>
        <p:nvSpPr>
          <p:cNvPr id="6" name="Pig operator"/>
          <p:cNvSpPr/>
          <p:nvPr/>
        </p:nvSpPr>
        <p:spPr>
          <a:xfrm>
            <a:off x="548640" y="1463040"/>
            <a:ext cx="1600200" cy="1051560"/>
          </a:xfrm>
          <a:prstGeom prst="roundRect">
            <a:avLst>
              <a:gd name="adj" fmla="val 8696"/>
            </a:avLst>
          </a:prstGeom>
          <a:solidFill>
            <a:schemeClr val="accent2">
              <a:alpha val="88000"/>
            </a:schemeClr>
          </a:solidFill>
          <a:ln/>
        </p:spPr>
      </p:sp>
      <p:sp>
        <p:nvSpPr>
          <p:cNvPr id="7" name="Text 5"/>
          <p:cNvSpPr txBox="1"/>
          <p:nvPr/>
        </p:nvSpPr>
        <p:spPr>
          <a:xfrm>
            <a:off x="548640" y="1463040"/>
            <a:ext cx="1600200" cy="1051560"/>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LOAD</a:t>
            </a:r>
            <a:endParaRPr lang="en-US" sz="1400" dirty="0"/>
          </a:p>
          <a:p>
            <a:pPr marL="0" indent="0" algn="ctr">
              <a:buNone/>
            </a:pPr>
            <a:r>
              <a:rPr lang="en-US" sz="1200" dirty="0">
                <a:solidFill>
                  <a:srgbClr val="E3EEF7"/>
                </a:solidFill>
              </a:rPr>
              <a:t>read data</a:t>
            </a:r>
            <a:endParaRPr lang="en-US" sz="1400" dirty="0"/>
          </a:p>
        </p:txBody>
      </p:sp>
      <p:sp>
        <p:nvSpPr>
          <p:cNvPr id="8" name="Shape 6"/>
          <p:cNvSpPr/>
          <p:nvPr/>
        </p:nvSpPr>
        <p:spPr>
          <a:xfrm>
            <a:off x="2148840" y="1984248"/>
            <a:ext cx="274320" cy="0"/>
          </a:xfrm>
          <a:prstGeom prst="line">
            <a:avLst/>
          </a:prstGeom>
          <a:noFill/>
          <a:ln w="22225">
            <a:solidFill>
              <a:schemeClr val="tx2"/>
            </a:solidFill>
            <a:prstDash val="solid"/>
            <a:tailEnd type="triangle"/>
          </a:ln>
        </p:spPr>
      </p:sp>
      <p:sp>
        <p:nvSpPr>
          <p:cNvPr id="9" name="Pig operator"/>
          <p:cNvSpPr/>
          <p:nvPr/>
        </p:nvSpPr>
        <p:spPr>
          <a:xfrm>
            <a:off x="2423160" y="1463040"/>
            <a:ext cx="1600200" cy="1051560"/>
          </a:xfrm>
          <a:prstGeom prst="roundRect">
            <a:avLst>
              <a:gd name="adj" fmla="val 8696"/>
            </a:avLst>
          </a:prstGeom>
          <a:solidFill>
            <a:schemeClr val="accent2">
              <a:alpha val="88000"/>
            </a:schemeClr>
          </a:solidFill>
          <a:ln/>
        </p:spPr>
      </p:sp>
      <p:sp>
        <p:nvSpPr>
          <p:cNvPr id="10" name="Text 8"/>
          <p:cNvSpPr txBox="1"/>
          <p:nvPr/>
        </p:nvSpPr>
        <p:spPr>
          <a:xfrm>
            <a:off x="2423160" y="1463040"/>
            <a:ext cx="1600200" cy="1051560"/>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FILTER</a:t>
            </a:r>
            <a:endParaRPr lang="en-US" sz="1400" dirty="0"/>
          </a:p>
          <a:p>
            <a:pPr marL="0" indent="0" algn="ctr">
              <a:buNone/>
            </a:pPr>
            <a:r>
              <a:rPr lang="en-US" sz="1200" dirty="0">
                <a:solidFill>
                  <a:srgbClr val="E3EEF7"/>
                </a:solidFill>
              </a:rPr>
              <a:t>keep rows</a:t>
            </a:r>
            <a:endParaRPr lang="en-US" sz="1400" dirty="0"/>
          </a:p>
        </p:txBody>
      </p:sp>
      <p:sp>
        <p:nvSpPr>
          <p:cNvPr id="11" name="Shape 9"/>
          <p:cNvSpPr/>
          <p:nvPr/>
        </p:nvSpPr>
        <p:spPr>
          <a:xfrm>
            <a:off x="4023360" y="1984248"/>
            <a:ext cx="274320" cy="0"/>
          </a:xfrm>
          <a:prstGeom prst="line">
            <a:avLst/>
          </a:prstGeom>
          <a:noFill/>
          <a:ln w="22225">
            <a:solidFill>
              <a:schemeClr val="tx2"/>
            </a:solidFill>
            <a:prstDash val="solid"/>
            <a:tailEnd type="triangle"/>
          </a:ln>
        </p:spPr>
      </p:sp>
      <p:sp>
        <p:nvSpPr>
          <p:cNvPr id="12" name="Pig operator"/>
          <p:cNvSpPr/>
          <p:nvPr/>
        </p:nvSpPr>
        <p:spPr>
          <a:xfrm>
            <a:off x="4297680" y="1463040"/>
            <a:ext cx="1600200" cy="1051560"/>
          </a:xfrm>
          <a:prstGeom prst="roundRect">
            <a:avLst>
              <a:gd name="adj" fmla="val 8696"/>
            </a:avLst>
          </a:prstGeom>
          <a:solidFill>
            <a:schemeClr val="accent2">
              <a:alpha val="88000"/>
            </a:schemeClr>
          </a:solidFill>
          <a:ln/>
        </p:spPr>
      </p:sp>
      <p:sp>
        <p:nvSpPr>
          <p:cNvPr id="13" name="Text 11"/>
          <p:cNvSpPr txBox="1"/>
          <p:nvPr/>
        </p:nvSpPr>
        <p:spPr>
          <a:xfrm>
            <a:off x="4297680" y="1463040"/>
            <a:ext cx="1600200" cy="1051560"/>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FOREACH</a:t>
            </a:r>
            <a:endParaRPr lang="en-US" sz="1400" dirty="0"/>
          </a:p>
          <a:p>
            <a:pPr marL="0" indent="0" algn="ctr">
              <a:buNone/>
            </a:pPr>
            <a:r>
              <a:rPr lang="en-US" sz="1200" dirty="0">
                <a:solidFill>
                  <a:srgbClr val="E3EEF7"/>
                </a:solidFill>
              </a:rPr>
              <a:t>compute fields</a:t>
            </a:r>
            <a:endParaRPr lang="en-US" sz="1400" dirty="0"/>
          </a:p>
        </p:txBody>
      </p:sp>
      <p:sp>
        <p:nvSpPr>
          <p:cNvPr id="14" name="Shape 12"/>
          <p:cNvSpPr/>
          <p:nvPr/>
        </p:nvSpPr>
        <p:spPr>
          <a:xfrm>
            <a:off x="5897880" y="1984248"/>
            <a:ext cx="274320" cy="0"/>
          </a:xfrm>
          <a:prstGeom prst="line">
            <a:avLst/>
          </a:prstGeom>
          <a:noFill/>
          <a:ln w="22225">
            <a:solidFill>
              <a:schemeClr val="tx2"/>
            </a:solidFill>
            <a:prstDash val="solid"/>
            <a:tailEnd type="triangle"/>
          </a:ln>
        </p:spPr>
      </p:sp>
      <p:sp>
        <p:nvSpPr>
          <p:cNvPr id="15" name="Pig operator"/>
          <p:cNvSpPr/>
          <p:nvPr/>
        </p:nvSpPr>
        <p:spPr>
          <a:xfrm>
            <a:off x="6172200" y="1463040"/>
            <a:ext cx="1600200" cy="1051560"/>
          </a:xfrm>
          <a:prstGeom prst="roundRect">
            <a:avLst>
              <a:gd name="adj" fmla="val 8696"/>
            </a:avLst>
          </a:prstGeom>
          <a:solidFill>
            <a:schemeClr val="accent2">
              <a:alpha val="88000"/>
            </a:schemeClr>
          </a:solidFill>
          <a:ln/>
        </p:spPr>
      </p:sp>
      <p:sp>
        <p:nvSpPr>
          <p:cNvPr id="16" name="Text 14"/>
          <p:cNvSpPr txBox="1"/>
          <p:nvPr/>
        </p:nvSpPr>
        <p:spPr>
          <a:xfrm>
            <a:off x="6172200" y="1463040"/>
            <a:ext cx="1600200" cy="1051560"/>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GROUP</a:t>
            </a:r>
            <a:endParaRPr lang="en-US" sz="1400" dirty="0"/>
          </a:p>
          <a:p>
            <a:pPr marL="0" indent="0" algn="ctr">
              <a:buNone/>
            </a:pPr>
            <a:r>
              <a:rPr lang="en-US" sz="1200" dirty="0">
                <a:solidFill>
                  <a:srgbClr val="E3EEF7"/>
                </a:solidFill>
              </a:rPr>
              <a:t>bucket by key</a:t>
            </a:r>
            <a:endParaRPr lang="en-US" sz="1400" dirty="0"/>
          </a:p>
        </p:txBody>
      </p:sp>
      <p:sp>
        <p:nvSpPr>
          <p:cNvPr id="17" name="Shape 15"/>
          <p:cNvSpPr/>
          <p:nvPr/>
        </p:nvSpPr>
        <p:spPr>
          <a:xfrm>
            <a:off x="7772400" y="1984248"/>
            <a:ext cx="274320" cy="0"/>
          </a:xfrm>
          <a:prstGeom prst="line">
            <a:avLst/>
          </a:prstGeom>
          <a:noFill/>
          <a:ln w="22225">
            <a:solidFill>
              <a:schemeClr val="tx2"/>
            </a:solidFill>
            <a:prstDash val="solid"/>
            <a:tailEnd type="triangle"/>
          </a:ln>
        </p:spPr>
      </p:sp>
      <p:sp>
        <p:nvSpPr>
          <p:cNvPr id="18" name="Pig operator"/>
          <p:cNvSpPr/>
          <p:nvPr/>
        </p:nvSpPr>
        <p:spPr>
          <a:xfrm>
            <a:off x="8046720" y="1463040"/>
            <a:ext cx="1600200" cy="1051560"/>
          </a:xfrm>
          <a:prstGeom prst="roundRect">
            <a:avLst>
              <a:gd name="adj" fmla="val 8696"/>
            </a:avLst>
          </a:prstGeom>
          <a:solidFill>
            <a:schemeClr val="accent2">
              <a:alpha val="88000"/>
            </a:schemeClr>
          </a:solidFill>
          <a:ln/>
        </p:spPr>
      </p:sp>
      <p:sp>
        <p:nvSpPr>
          <p:cNvPr id="19" name="Text 17"/>
          <p:cNvSpPr txBox="1"/>
          <p:nvPr/>
        </p:nvSpPr>
        <p:spPr>
          <a:xfrm>
            <a:off x="8046720" y="1463040"/>
            <a:ext cx="1600200" cy="1051560"/>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DISTINCT</a:t>
            </a:r>
            <a:endParaRPr lang="en-US" sz="1400" dirty="0"/>
          </a:p>
          <a:p>
            <a:pPr marL="0" indent="0" algn="ctr">
              <a:buNone/>
            </a:pPr>
            <a:r>
              <a:rPr lang="en-US" sz="1200" dirty="0">
                <a:solidFill>
                  <a:srgbClr val="E3EEF7"/>
                </a:solidFill>
              </a:rPr>
              <a:t>remove duplicates</a:t>
            </a:r>
            <a:endParaRPr lang="en-US" sz="1400" dirty="0"/>
          </a:p>
        </p:txBody>
      </p:sp>
      <p:sp>
        <p:nvSpPr>
          <p:cNvPr id="20" name="Shape 18"/>
          <p:cNvSpPr/>
          <p:nvPr/>
        </p:nvSpPr>
        <p:spPr>
          <a:xfrm>
            <a:off x="9646920" y="1984248"/>
            <a:ext cx="274320" cy="0"/>
          </a:xfrm>
          <a:prstGeom prst="line">
            <a:avLst/>
          </a:prstGeom>
          <a:noFill/>
          <a:ln w="22225">
            <a:solidFill>
              <a:schemeClr val="tx2"/>
            </a:solidFill>
            <a:prstDash val="solid"/>
            <a:tailEnd type="triangle"/>
          </a:ln>
        </p:spPr>
      </p:sp>
      <p:sp>
        <p:nvSpPr>
          <p:cNvPr id="21" name="Pig operator"/>
          <p:cNvSpPr/>
          <p:nvPr/>
        </p:nvSpPr>
        <p:spPr>
          <a:xfrm>
            <a:off x="9921240" y="1463040"/>
            <a:ext cx="1600200" cy="1051560"/>
          </a:xfrm>
          <a:prstGeom prst="roundRect">
            <a:avLst>
              <a:gd name="adj" fmla="val 8696"/>
            </a:avLst>
          </a:prstGeom>
          <a:solidFill>
            <a:schemeClr val="accent2">
              <a:alpha val="88000"/>
            </a:schemeClr>
          </a:solidFill>
          <a:ln/>
        </p:spPr>
      </p:sp>
      <p:sp>
        <p:nvSpPr>
          <p:cNvPr id="22" name="Text 20"/>
          <p:cNvSpPr txBox="1"/>
          <p:nvPr/>
        </p:nvSpPr>
        <p:spPr>
          <a:xfrm>
            <a:off x="9921240" y="1463040"/>
            <a:ext cx="1600200" cy="1051560"/>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STORE</a:t>
            </a:r>
            <a:endParaRPr lang="en-US" sz="1400" dirty="0"/>
          </a:p>
          <a:p>
            <a:pPr marL="0" indent="0" algn="ctr">
              <a:buNone/>
            </a:pPr>
            <a:r>
              <a:rPr lang="en-US" sz="1200" dirty="0">
                <a:solidFill>
                  <a:srgbClr val="E3EEF7"/>
                </a:solidFill>
              </a:rPr>
              <a:t>write to HDFS</a:t>
            </a:r>
            <a:endParaRPr lang="en-US" sz="1400" dirty="0"/>
          </a:p>
        </p:txBody>
      </p:sp>
      <p:sp>
        <p:nvSpPr>
          <p:cNvPr id="23" name="Pig reason"/>
          <p:cNvSpPr/>
          <p:nvPr/>
        </p:nvSpPr>
        <p:spPr>
          <a:xfrm>
            <a:off x="548640" y="2834640"/>
            <a:ext cx="3566160" cy="2148840"/>
          </a:xfrm>
          <a:prstGeom prst="roundRect">
            <a:avLst>
              <a:gd name="adj" fmla="val 3404"/>
            </a:avLst>
          </a:prstGeom>
          <a:solidFill>
            <a:schemeClr val="bg2"/>
          </a:solidFill>
          <a:ln/>
        </p:spPr>
      </p:sp>
      <p:sp>
        <p:nvSpPr>
          <p:cNvPr id="24" name="Shape 22"/>
          <p:cNvSpPr/>
          <p:nvPr/>
        </p:nvSpPr>
        <p:spPr>
          <a:xfrm>
            <a:off x="731520" y="2999232"/>
            <a:ext cx="420624" cy="420624"/>
          </a:xfrm>
          <a:prstGeom prst="ellipse">
            <a:avLst/>
          </a:prstGeom>
          <a:solidFill>
            <a:schemeClr val="accent2"/>
          </a:solidFill>
          <a:ln/>
        </p:spPr>
      </p:sp>
      <p:sp>
        <p:nvSpPr>
          <p:cNvPr id="25" name="Text 23"/>
          <p:cNvSpPr txBox="1"/>
          <p:nvPr/>
        </p:nvSpPr>
        <p:spPr>
          <a:xfrm>
            <a:off x="731520" y="2999232"/>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26" name="Text 24"/>
          <p:cNvSpPr txBox="1"/>
          <p:nvPr/>
        </p:nvSpPr>
        <p:spPr>
          <a:xfrm>
            <a:off x="1325880" y="2999232"/>
            <a:ext cx="2651760" cy="420624"/>
          </a:xfrm>
          <a:prstGeom prst="rect">
            <a:avLst/>
          </a:prstGeom>
          <a:noFill/>
          <a:ln/>
        </p:spPr>
        <p:txBody>
          <a:bodyPr wrap="square" lIns="0" tIns="0" rIns="0" bIns="0" rtlCol="0" anchor="ctr"/>
          <a:lstStyle/>
          <a:p>
            <a:pPr marL="0" indent="0">
              <a:buNone/>
            </a:pPr>
            <a:r>
              <a:rPr lang="en-US" sz="1600" b="1" dirty="0">
                <a:solidFill>
                  <a:schemeClr val="tx2"/>
                </a:solidFill>
              </a:rPr>
              <a:t>Data-flow language</a:t>
            </a:r>
            <a:endParaRPr lang="en-US" sz="1600" dirty="0"/>
          </a:p>
        </p:txBody>
      </p:sp>
      <p:sp>
        <p:nvSpPr>
          <p:cNvPr id="27" name="Text 25"/>
          <p:cNvSpPr txBox="1"/>
          <p:nvPr/>
        </p:nvSpPr>
        <p:spPr>
          <a:xfrm>
            <a:off x="731520" y="3611880"/>
            <a:ext cx="3200400" cy="1280160"/>
          </a:xfrm>
          <a:prstGeom prst="rect">
            <a:avLst/>
          </a:prstGeom>
          <a:noFill/>
          <a:ln/>
        </p:spPr>
        <p:txBody>
          <a:bodyPr wrap="square" lIns="0" tIns="0" rIns="0" bIns="0" rtlCol="0" anchor="t"/>
          <a:lstStyle/>
          <a:p>
            <a:pPr marL="0" indent="0">
              <a:buNone/>
            </a:pPr>
            <a:r>
              <a:rPr lang="en-US" sz="1400" dirty="0">
                <a:solidFill>
                  <a:schemeClr val="tx1"/>
                </a:solidFill>
              </a:rPr>
              <a:t>Pig Latin describes a pipeline as named steps; each step produces a relation used by the next.</a:t>
            </a:r>
            <a:endParaRPr lang="en-US" sz="1400" dirty="0"/>
          </a:p>
        </p:txBody>
      </p:sp>
      <p:sp>
        <p:nvSpPr>
          <p:cNvPr id="28" name="Pig reason"/>
          <p:cNvSpPr/>
          <p:nvPr/>
        </p:nvSpPr>
        <p:spPr>
          <a:xfrm>
            <a:off x="4297680" y="2834640"/>
            <a:ext cx="3566160" cy="2148840"/>
          </a:xfrm>
          <a:prstGeom prst="roundRect">
            <a:avLst>
              <a:gd name="adj" fmla="val 3404"/>
            </a:avLst>
          </a:prstGeom>
          <a:solidFill>
            <a:schemeClr val="bg2"/>
          </a:solidFill>
          <a:ln/>
        </p:spPr>
      </p:sp>
      <p:sp>
        <p:nvSpPr>
          <p:cNvPr id="29" name="Shape 27"/>
          <p:cNvSpPr/>
          <p:nvPr/>
        </p:nvSpPr>
        <p:spPr>
          <a:xfrm>
            <a:off x="4480560" y="2999232"/>
            <a:ext cx="420624" cy="420624"/>
          </a:xfrm>
          <a:prstGeom prst="ellipse">
            <a:avLst/>
          </a:prstGeom>
          <a:solidFill>
            <a:schemeClr val="accent2"/>
          </a:solidFill>
          <a:ln/>
        </p:spPr>
      </p:sp>
      <p:sp>
        <p:nvSpPr>
          <p:cNvPr id="30" name="Text 28"/>
          <p:cNvSpPr txBox="1"/>
          <p:nvPr/>
        </p:nvSpPr>
        <p:spPr>
          <a:xfrm>
            <a:off x="4480560" y="2999232"/>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31" name="Text 29"/>
          <p:cNvSpPr txBox="1"/>
          <p:nvPr/>
        </p:nvSpPr>
        <p:spPr>
          <a:xfrm>
            <a:off x="5074920" y="2999232"/>
            <a:ext cx="2651760" cy="420624"/>
          </a:xfrm>
          <a:prstGeom prst="rect">
            <a:avLst/>
          </a:prstGeom>
          <a:noFill/>
          <a:ln/>
        </p:spPr>
        <p:txBody>
          <a:bodyPr wrap="square" lIns="0" tIns="0" rIns="0" bIns="0" rtlCol="0" anchor="ctr"/>
          <a:lstStyle/>
          <a:p>
            <a:pPr marL="0" indent="0">
              <a:buNone/>
            </a:pPr>
            <a:r>
              <a:rPr lang="en-US" sz="1600" b="1" dirty="0">
                <a:solidFill>
                  <a:schemeClr val="tx2"/>
                </a:solidFill>
              </a:rPr>
              <a:t>Runs on Hadoop</a:t>
            </a:r>
            <a:endParaRPr lang="en-US" sz="1600" dirty="0"/>
          </a:p>
        </p:txBody>
      </p:sp>
      <p:sp>
        <p:nvSpPr>
          <p:cNvPr id="32" name="Text 30"/>
          <p:cNvSpPr txBox="1"/>
          <p:nvPr/>
        </p:nvSpPr>
        <p:spPr>
          <a:xfrm>
            <a:off x="4480560" y="3611880"/>
            <a:ext cx="3200400" cy="1280160"/>
          </a:xfrm>
          <a:prstGeom prst="rect">
            <a:avLst/>
          </a:prstGeom>
          <a:noFill/>
          <a:ln/>
        </p:spPr>
        <p:txBody>
          <a:bodyPr wrap="square" lIns="0" tIns="0" rIns="0" bIns="0" rtlCol="0" anchor="t"/>
          <a:lstStyle/>
          <a:p>
            <a:pPr marL="0" indent="0">
              <a:buNone/>
            </a:pPr>
            <a:r>
              <a:rPr lang="en-US" sz="1400" dirty="0">
                <a:solidFill>
                  <a:schemeClr val="tx1"/>
                </a:solidFill>
              </a:rPr>
              <a:t>Scripts execute using Hadoop's processing infrastructure, reading and writing HDFS.</a:t>
            </a:r>
            <a:endParaRPr lang="en-US" sz="1400" dirty="0"/>
          </a:p>
        </p:txBody>
      </p:sp>
      <p:sp>
        <p:nvSpPr>
          <p:cNvPr id="33" name="Pig reason"/>
          <p:cNvSpPr/>
          <p:nvPr/>
        </p:nvSpPr>
        <p:spPr>
          <a:xfrm>
            <a:off x="8046720" y="2834640"/>
            <a:ext cx="3566160" cy="2148840"/>
          </a:xfrm>
          <a:prstGeom prst="roundRect">
            <a:avLst>
              <a:gd name="adj" fmla="val 3404"/>
            </a:avLst>
          </a:prstGeom>
          <a:solidFill>
            <a:schemeClr val="bg2"/>
          </a:solidFill>
          <a:ln/>
        </p:spPr>
      </p:sp>
      <p:sp>
        <p:nvSpPr>
          <p:cNvPr id="34" name="Shape 32"/>
          <p:cNvSpPr/>
          <p:nvPr/>
        </p:nvSpPr>
        <p:spPr>
          <a:xfrm>
            <a:off x="8229600" y="2999232"/>
            <a:ext cx="420624" cy="420624"/>
          </a:xfrm>
          <a:prstGeom prst="ellipse">
            <a:avLst/>
          </a:prstGeom>
          <a:solidFill>
            <a:schemeClr val="accent2"/>
          </a:solidFill>
          <a:ln/>
        </p:spPr>
      </p:sp>
      <p:sp>
        <p:nvSpPr>
          <p:cNvPr id="35" name="Text 33"/>
          <p:cNvSpPr txBox="1"/>
          <p:nvPr/>
        </p:nvSpPr>
        <p:spPr>
          <a:xfrm>
            <a:off x="8229600" y="2999232"/>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36" name="Text 34"/>
          <p:cNvSpPr txBox="1"/>
          <p:nvPr/>
        </p:nvSpPr>
        <p:spPr>
          <a:xfrm>
            <a:off x="8823960" y="2999232"/>
            <a:ext cx="2651760" cy="420624"/>
          </a:xfrm>
          <a:prstGeom prst="rect">
            <a:avLst/>
          </a:prstGeom>
          <a:noFill/>
          <a:ln/>
        </p:spPr>
        <p:txBody>
          <a:bodyPr wrap="square" lIns="0" tIns="0" rIns="0" bIns="0" rtlCol="0" anchor="ctr"/>
          <a:lstStyle/>
          <a:p>
            <a:pPr marL="0" indent="0">
              <a:buNone/>
            </a:pPr>
            <a:r>
              <a:rPr lang="en-US" sz="1600" b="1" dirty="0">
                <a:solidFill>
                  <a:schemeClr val="tx2"/>
                </a:solidFill>
              </a:rPr>
              <a:t>Less code than MapReduce</a:t>
            </a:r>
            <a:endParaRPr lang="en-US" sz="1600" dirty="0"/>
          </a:p>
        </p:txBody>
      </p:sp>
      <p:sp>
        <p:nvSpPr>
          <p:cNvPr id="37" name="Text 35"/>
          <p:cNvSpPr txBox="1"/>
          <p:nvPr/>
        </p:nvSpPr>
        <p:spPr>
          <a:xfrm>
            <a:off x="8229600" y="3611880"/>
            <a:ext cx="3200400" cy="1280160"/>
          </a:xfrm>
          <a:prstGeom prst="rect">
            <a:avLst/>
          </a:prstGeom>
          <a:noFill/>
          <a:ln/>
        </p:spPr>
        <p:txBody>
          <a:bodyPr wrap="square" lIns="0" tIns="0" rIns="0" bIns="0" rtlCol="0" anchor="t"/>
          <a:lstStyle/>
          <a:p>
            <a:pPr marL="0" indent="0">
              <a:buNone/>
            </a:pPr>
            <a:r>
              <a:rPr lang="en-US" sz="1400" dirty="0">
                <a:solidFill>
                  <a:schemeClr val="tx1"/>
                </a:solidFill>
              </a:rPr>
              <a:t>A multi-step transform takes a few readable lines instead of custom mapper and reducer classes.</a:t>
            </a:r>
            <a:endParaRPr lang="en-US" sz="1400" dirty="0"/>
          </a:p>
        </p:txBody>
      </p:sp>
      <p:sp>
        <p:nvSpPr>
          <p:cNvPr id="38" name="Shape 36"/>
          <p:cNvSpPr/>
          <p:nvPr/>
        </p:nvSpPr>
        <p:spPr>
          <a:xfrm>
            <a:off x="548640" y="5212080"/>
            <a:ext cx="11109960" cy="868680"/>
          </a:xfrm>
          <a:prstGeom prst="roundRect">
            <a:avLst>
              <a:gd name="adj" fmla="val 10526"/>
            </a:avLst>
          </a:prstGeom>
          <a:solidFill>
            <a:schemeClr val="tx2"/>
          </a:solidFill>
          <a:ln/>
        </p:spPr>
      </p:sp>
      <p:sp>
        <p:nvSpPr>
          <p:cNvPr id="39" name="Text 37"/>
          <p:cNvSpPr txBox="1"/>
          <p:nvPr/>
        </p:nvSpPr>
        <p:spPr>
          <a:xfrm>
            <a:off x="777240" y="5212080"/>
            <a:ext cx="10698480" cy="868680"/>
          </a:xfrm>
          <a:prstGeom prst="rect">
            <a:avLst/>
          </a:prstGeom>
          <a:noFill/>
          <a:ln/>
        </p:spPr>
        <p:txBody>
          <a:bodyPr wrap="square" lIns="0" tIns="0" rIns="0" bIns="0" rtlCol="0" anchor="ctr"/>
          <a:lstStyle/>
          <a:p>
            <a:pPr marL="0" indent="0">
              <a:buNone/>
            </a:pPr>
            <a:r>
              <a:rPr lang="en-US" sz="1600" b="1" dirty="0">
                <a:solidFill>
                  <a:srgbClr val="F2A93B"/>
                </a:solidFill>
              </a:rPr>
              <a:t>Fit for this project: </a:t>
            </a:r>
            <a:r>
              <a:rPr lang="en-US" sz="1600" dirty="0">
                <a:solidFill>
                  <a:srgbClr val="FFFFFF"/>
                </a:solidFill>
              </a:rPr>
              <a:t>our workload is load, clean, split skills, group, count, store, a classic multi-step data flow.</a:t>
            </a:r>
            <a:endParaRPr lang="en-US" sz="1600" dirty="0"/>
          </a:p>
        </p:txBody>
      </p:sp>
      <p:sp>
        <p:nvSpPr>
          <p:cNvPr id="40" name="Slide Number Placeholder 0"/>
          <p:cNvSpPr>
            <a:spLocks noGrp="1"/>
          </p:cNvSpPr>
          <p:nvPr>
            <p:ph type="sldNum" sz="quarter" idx="4294967295"/>
          </p:nvPr>
        </p:nvSpPr>
        <p:spPr>
          <a:xfrm>
            <a:off x="10972800" y="6446520"/>
            <a:ext cx="64008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TASK 2: LOAD</a:t>
            </a:r>
            <a:endParaRPr lang="en-US" sz="1200" dirty="0"/>
          </a:p>
        </p:txBody>
      </p:sp>
      <p:sp>
        <p:nvSpPr>
          <p:cNvPr id="3" name="Text 0"/>
          <p:cNvSpPr>
            <a:spLocks noGrp="1"/>
          </p:cNvSpPr>
          <p:nvPr>
            <p:ph type="title" idx="100" hasCustomPrompt="1"/>
          </p:nvPr>
        </p:nvSpPr>
        <p:spPr>
          <a:xfrm>
            <a:off x="548640" y="566928"/>
            <a:ext cx="9418320" cy="685800"/>
          </a:xfrm>
          <a:prstGeom prst="rect">
            <a:avLst/>
          </a:prstGeom>
          <a:noFill/>
          <a:ln/>
        </p:spPr>
        <p:txBody>
          <a:bodyPr wrap="square" lIns="0" tIns="0" rIns="0" bIns="0" rtlCol="0" anchor="ctr"/>
          <a:lstStyle/>
          <a:p>
            <a:pPr marL="0" indent="0" algn="l">
              <a:buNone/>
            </a:pPr>
            <a:r>
              <a:rPr lang="en-US" sz="3200" b="1" dirty="0">
                <a:solidFill>
                  <a:schemeClr val="tx2"/>
                </a:solidFill>
              </a:rPr>
              <a:t>Loading Data and Defining the Schema</a:t>
            </a:r>
            <a:endParaRPr lang="en-US" sz="3200" dirty="0"/>
          </a:p>
        </p:txBody>
      </p:sp>
      <p:sp>
        <p:nvSpPr>
          <p:cNvPr id="6" name="Code block"/>
          <p:cNvSpPr/>
          <p:nvPr/>
        </p:nvSpPr>
        <p:spPr>
          <a:xfrm>
            <a:off x="548640" y="1463040"/>
            <a:ext cx="7223760" cy="3977640"/>
          </a:xfrm>
          <a:prstGeom prst="roundRect">
            <a:avLst>
              <a:gd name="adj" fmla="val 2299"/>
            </a:avLst>
          </a:prstGeom>
          <a:solidFill>
            <a:srgbClr val="0B1F3A"/>
          </a:solidFill>
          <a:ln/>
        </p:spPr>
      </p:sp>
      <p:sp>
        <p:nvSpPr>
          <p:cNvPr id="7" name="Text 5"/>
          <p:cNvSpPr txBox="1"/>
          <p:nvPr/>
        </p:nvSpPr>
        <p:spPr>
          <a:xfrm>
            <a:off x="731520" y="1554480"/>
            <a:ext cx="6858000" cy="228600"/>
          </a:xfrm>
          <a:prstGeom prst="rect">
            <a:avLst/>
          </a:prstGeom>
          <a:noFill/>
          <a:ln/>
        </p:spPr>
        <p:txBody>
          <a:bodyPr wrap="square" lIns="0" tIns="0" rIns="0" bIns="0" rtlCol="0" anchor="t"/>
          <a:lstStyle/>
          <a:p>
            <a:pPr marL="0" indent="0">
              <a:buNone/>
            </a:pPr>
            <a:r>
              <a:rPr lang="en-US" sz="1000" b="1" dirty="0">
                <a:solidFill>
                  <a:srgbClr val="8FA3B8"/>
                </a:solidFill>
              </a:rPr>
              <a:t>task2_pig/scripts/task2_jobmarket.pig  (simplified excerpt)</a:t>
            </a:r>
            <a:endParaRPr lang="en-US" sz="1000" dirty="0"/>
          </a:p>
        </p:txBody>
      </p:sp>
      <p:sp>
        <p:nvSpPr>
          <p:cNvPr id="8" name="Text 6"/>
          <p:cNvSpPr txBox="1"/>
          <p:nvPr/>
        </p:nvSpPr>
        <p:spPr>
          <a:xfrm>
            <a:off x="749808" y="1828800"/>
            <a:ext cx="6821424" cy="3474720"/>
          </a:xfrm>
          <a:prstGeom prst="rect">
            <a:avLst/>
          </a:prstGeom>
          <a:noFill/>
          <a:ln/>
        </p:spPr>
        <p:txBody>
          <a:bodyPr wrap="square" lIns="0" tIns="0" rIns="0" bIns="0" rtlCol="0" anchor="t"/>
          <a:lstStyle/>
          <a:p>
            <a:pPr marL="0" indent="0">
              <a:buNone/>
            </a:pPr>
            <a:r>
              <a:rPr lang="en-US" sz="1400" dirty="0">
                <a:solidFill>
                  <a:srgbClr val="7CC4FF"/>
                </a:solidFill>
                <a:latin typeface="Courier New" pitchFamily="34" charset="0"/>
                <a:ea typeface="Courier New" pitchFamily="34" charset="-122"/>
                <a:cs typeface="Courier New" pitchFamily="34" charset="-120"/>
              </a:rPr>
              <a:t>REGISTER</a:t>
            </a:r>
            <a:r>
              <a:rPr lang="en-US" sz="1400" dirty="0">
                <a:solidFill>
                  <a:srgbClr val="E6EEF7"/>
                </a:solidFill>
                <a:latin typeface="Courier New" pitchFamily="34" charset="0"/>
                <a:ea typeface="Courier New" pitchFamily="34" charset="-122"/>
                <a:cs typeface="Courier New" pitchFamily="34" charset="-120"/>
              </a:rPr>
              <a:t> piggybank.jar;</a:t>
            </a:r>
            <a:r>
              <a:rPr lang="en-US" sz="1400" dirty="0">
                <a:solidFill>
                  <a:srgbClr val="000000"/>
                </a:solidFill>
                <a:latin typeface="Courier New" pitchFamily="34" charset="0"/>
                <a:ea typeface="Courier New" pitchFamily="34" charset="-122"/>
                <a:cs typeface="Courier New" pitchFamily="34" charset="-120"/>
              </a:rPr>
              <a:t>
</a:t>
            </a:r>
            <a:r>
              <a:rPr lang="en-US" sz="1400" dirty="0">
                <a:solidFill>
                  <a:srgbClr val="7CC4FF"/>
                </a:solidFill>
                <a:latin typeface="Courier New" pitchFamily="34" charset="0"/>
                <a:ea typeface="Courier New" pitchFamily="34" charset="-122"/>
                <a:cs typeface="Courier New" pitchFamily="34" charset="-120"/>
              </a:rPr>
              <a:t>DEFINE</a:t>
            </a:r>
            <a:r>
              <a:rPr lang="en-US" sz="1400" dirty="0">
                <a:solidFill>
                  <a:srgbClr val="E6EEF7"/>
                </a:solidFill>
                <a:latin typeface="Courier New" pitchFamily="34" charset="0"/>
                <a:ea typeface="Courier New" pitchFamily="34" charset="-122"/>
                <a:cs typeface="Courier New" pitchFamily="34" charset="-120"/>
              </a:rPr>
              <a:t> CSV org.apache.pig.piggybank.storage.CSVExcelStorage();</a:t>
            </a:r>
            <a:r>
              <a:rPr lang="en-US" sz="1400" dirty="0">
                <a:solidFill>
                  <a:srgbClr val="000000"/>
                </a:solidFill>
                <a:latin typeface="Courier New" pitchFamily="34" charset="0"/>
                <a:ea typeface="Courier New" pitchFamily="34" charset="-122"/>
                <a:cs typeface="Courier New" pitchFamily="34" charset="-120"/>
              </a:rPr>
              <a:t>
</a:t>
            </a:r>
            <a:r>
              <a:rPr lang="en-US" sz="1400" dirty="0">
                <a:solidFill>
                  <a:srgbClr val="E6EEF7"/>
                </a:solidFill>
                <a:latin typeface="Courier New" pitchFamily="34" charset="0"/>
                <a:ea typeface="Courier New" pitchFamily="34" charset="-122"/>
                <a:cs typeface="Courier New" pitchFamily="34" charset="-120"/>
              </a:rPr>
              <a:t>raw = </a:t>
            </a:r>
            <a:r>
              <a:rPr lang="en-US" sz="1400" dirty="0">
                <a:solidFill>
                  <a:srgbClr val="7CC4FF"/>
                </a:solidFill>
                <a:latin typeface="Courier New" pitchFamily="34" charset="0"/>
                <a:ea typeface="Courier New" pitchFamily="34" charset="-122"/>
                <a:cs typeface="Courier New" pitchFamily="34" charset="-120"/>
              </a:rPr>
              <a:t>LOAD</a:t>
            </a:r>
            <a:r>
              <a:rPr lang="en-US" sz="1400" dirty="0">
                <a:solidFill>
                  <a:srgbClr val="E6EEF7"/>
                </a:solidFill>
                <a:latin typeface="Courier New" pitchFamily="34" charset="0"/>
                <a:ea typeface="Courier New" pitchFamily="34" charset="-122"/>
                <a:cs typeface="Courier New" pitchFamily="34" charset="-120"/>
              </a:rPr>
              <a:t> </a:t>
            </a:r>
            <a:r>
              <a:rPr lang="en-US" sz="1400" dirty="0">
                <a:solidFill>
                  <a:srgbClr val="9BE3A8"/>
                </a:solidFill>
                <a:latin typeface="Courier New" pitchFamily="34" charset="0"/>
                <a:ea typeface="Courier New" pitchFamily="34" charset="-122"/>
                <a:cs typeface="Courier New" pitchFamily="34" charset="-120"/>
              </a:rPr>
              <a:t>'/jobmarket/cleaned/jobs_cleaned.csv'</a:t>
            </a:r>
            <a:r>
              <a:rPr lang="en-US" sz="1400" dirty="0">
                <a:solidFill>
                  <a:srgbClr val="000000"/>
                </a:solidFill>
                <a:latin typeface="Courier New" pitchFamily="34" charset="0"/>
                <a:ea typeface="Courier New" pitchFamily="34" charset="-122"/>
                <a:cs typeface="Courier New" pitchFamily="34" charset="-120"/>
              </a:rPr>
              <a:t>
</a:t>
            </a:r>
            <a:r>
              <a:rPr lang="en-US" sz="1400" dirty="0">
                <a:solidFill>
                  <a:srgbClr val="E6EEF7"/>
                </a:solidFill>
                <a:latin typeface="Courier New" pitchFamily="34" charset="0"/>
                <a:ea typeface="Courier New" pitchFamily="34" charset="-122"/>
                <a:cs typeface="Courier New" pitchFamily="34" charset="-120"/>
              </a:rPr>
              <a:t>      </a:t>
            </a:r>
            <a:r>
              <a:rPr lang="en-US" sz="1400" dirty="0">
                <a:solidFill>
                  <a:srgbClr val="7CC4FF"/>
                </a:solidFill>
                <a:latin typeface="Courier New" pitchFamily="34" charset="0"/>
                <a:ea typeface="Courier New" pitchFamily="34" charset="-122"/>
                <a:cs typeface="Courier New" pitchFamily="34" charset="-120"/>
              </a:rPr>
              <a:t>USING</a:t>
            </a:r>
            <a:r>
              <a:rPr lang="en-US" sz="1400" dirty="0">
                <a:solidFill>
                  <a:srgbClr val="E6EEF7"/>
                </a:solidFill>
                <a:latin typeface="Courier New" pitchFamily="34" charset="0"/>
                <a:ea typeface="Courier New" pitchFamily="34" charset="-122"/>
                <a:cs typeface="Courier New" pitchFamily="34" charset="-120"/>
              </a:rPr>
              <a:t> CSV()</a:t>
            </a:r>
            <a:r>
              <a:rPr lang="en-US" sz="1400" dirty="0">
                <a:solidFill>
                  <a:srgbClr val="000000"/>
                </a:solidFill>
                <a:latin typeface="Courier New" pitchFamily="34" charset="0"/>
                <a:ea typeface="Courier New" pitchFamily="34" charset="-122"/>
                <a:cs typeface="Courier New" pitchFamily="34" charset="-120"/>
              </a:rPr>
              <a:t>
</a:t>
            </a:r>
            <a:r>
              <a:rPr lang="en-US" sz="1400" dirty="0">
                <a:solidFill>
                  <a:srgbClr val="E6EEF7"/>
                </a:solidFill>
                <a:latin typeface="Courier New" pitchFamily="34" charset="0"/>
                <a:ea typeface="Courier New" pitchFamily="34" charset="-122"/>
                <a:cs typeface="Courier New" pitchFamily="34" charset="-120"/>
              </a:rPr>
              <a:t>      </a:t>
            </a:r>
            <a:r>
              <a:rPr lang="en-US" sz="1400" dirty="0">
                <a:solidFill>
                  <a:srgbClr val="7CC4FF"/>
                </a:solidFill>
                <a:latin typeface="Courier New" pitchFamily="34" charset="0"/>
                <a:ea typeface="Courier New" pitchFamily="34" charset="-122"/>
                <a:cs typeface="Courier New" pitchFamily="34" charset="-120"/>
              </a:rPr>
              <a:t>AS</a:t>
            </a:r>
            <a:r>
              <a:rPr lang="en-US" sz="1400" dirty="0">
                <a:solidFill>
                  <a:srgbClr val="E6EEF7"/>
                </a:solidFill>
                <a:latin typeface="Courier New" pitchFamily="34" charset="0"/>
                <a:ea typeface="Courier New" pitchFamily="34" charset="-122"/>
                <a:cs typeface="Courier New" pitchFamily="34" charset="-120"/>
              </a:rPr>
              <a:t> (job_id:chararray, job_title:chararray,</a:t>
            </a:r>
            <a:r>
              <a:rPr lang="en-US" sz="1400" dirty="0">
                <a:solidFill>
                  <a:srgbClr val="000000"/>
                </a:solidFill>
                <a:latin typeface="Courier New" pitchFamily="34" charset="0"/>
                <a:ea typeface="Courier New" pitchFamily="34" charset="-122"/>
                <a:cs typeface="Courier New" pitchFamily="34" charset="-120"/>
              </a:rPr>
              <a:t>
</a:t>
            </a:r>
            <a:r>
              <a:rPr lang="en-US" sz="1400" dirty="0">
                <a:solidFill>
                  <a:srgbClr val="E6EEF7"/>
                </a:solidFill>
                <a:latin typeface="Courier New" pitchFamily="34" charset="0"/>
                <a:ea typeface="Courier New" pitchFamily="34" charset="-122"/>
                <a:cs typeface="Courier New" pitchFamily="34" charset="-120"/>
              </a:rPr>
              <a:t>          location:chararray, ... </a:t>
            </a:r>
            <a:r>
              <a:rPr lang="en-US" sz="1400" i="1" dirty="0">
                <a:solidFill>
                  <a:srgbClr val="8FA3B8"/>
                </a:solidFill>
                <a:latin typeface="Courier New" pitchFamily="34" charset="0"/>
                <a:ea typeface="Courier New" pitchFamily="34" charset="-122"/>
                <a:cs typeface="Courier New" pitchFamily="34" charset="-120"/>
              </a:rPr>
              <a:t>-- 17 fields</a:t>
            </a:r>
            <a:r>
              <a:rPr lang="en-US" sz="1400" dirty="0">
                <a:solidFill>
                  <a:srgbClr val="000000"/>
                </a:solidFill>
                <a:latin typeface="Courier New" pitchFamily="34" charset="0"/>
                <a:ea typeface="Courier New" pitchFamily="34" charset="-122"/>
                <a:cs typeface="Courier New" pitchFamily="34" charset="-120"/>
              </a:rPr>
              <a:t>
</a:t>
            </a:r>
            <a:r>
              <a:rPr lang="en-US" sz="1400" dirty="0">
                <a:solidFill>
                  <a:srgbClr val="E6EEF7"/>
                </a:solidFill>
                <a:latin typeface="Courier New" pitchFamily="34" charset="0"/>
                <a:ea typeface="Courier New" pitchFamily="34" charset="-122"/>
                <a:cs typeface="Courier New" pitchFamily="34" charset="-120"/>
              </a:rPr>
              <a:t>          skills:chararray, posted_raw:chararray);</a:t>
            </a:r>
            <a:r>
              <a:rPr lang="en-US" sz="1400" dirty="0">
                <a:solidFill>
                  <a:srgbClr val="000000"/>
                </a:solidFill>
                <a:latin typeface="Courier New" pitchFamily="34" charset="0"/>
                <a:ea typeface="Courier New" pitchFamily="34" charset="-122"/>
                <a:cs typeface="Courier New" pitchFamily="34" charset="-120"/>
              </a:rPr>
              <a:t>
</a:t>
            </a:r>
            <a:r>
              <a:rPr lang="en-US" sz="1400" dirty="0">
                <a:solidFill>
                  <a:srgbClr val="E6EEF7"/>
                </a:solidFill>
                <a:latin typeface="Courier New" pitchFamily="34" charset="0"/>
                <a:ea typeface="Courier New" pitchFamily="34" charset="-122"/>
                <a:cs typeface="Courier New" pitchFamily="34" charset="-120"/>
              </a:rPr>
              <a:t>jobs_raw = </a:t>
            </a:r>
            <a:r>
              <a:rPr lang="en-US" sz="1400" dirty="0">
                <a:solidFill>
                  <a:srgbClr val="7CC4FF"/>
                </a:solidFill>
                <a:latin typeface="Courier New" pitchFamily="34" charset="0"/>
                <a:ea typeface="Courier New" pitchFamily="34" charset="-122"/>
                <a:cs typeface="Courier New" pitchFamily="34" charset="-120"/>
              </a:rPr>
              <a:t>FILTER</a:t>
            </a:r>
            <a:r>
              <a:rPr lang="en-US" sz="1400" dirty="0">
                <a:solidFill>
                  <a:srgbClr val="E6EEF7"/>
                </a:solidFill>
                <a:latin typeface="Courier New" pitchFamily="34" charset="0"/>
                <a:ea typeface="Courier New" pitchFamily="34" charset="-122"/>
                <a:cs typeface="Courier New" pitchFamily="34" charset="-120"/>
              </a:rPr>
              <a:t> raw </a:t>
            </a:r>
            <a:r>
              <a:rPr lang="en-US" sz="1400" dirty="0">
                <a:solidFill>
                  <a:srgbClr val="7CC4FF"/>
                </a:solidFill>
                <a:latin typeface="Courier New" pitchFamily="34" charset="0"/>
                <a:ea typeface="Courier New" pitchFamily="34" charset="-122"/>
                <a:cs typeface="Courier New" pitchFamily="34" charset="-120"/>
              </a:rPr>
              <a:t>BY</a:t>
            </a:r>
            <a:r>
              <a:rPr lang="en-US" sz="1400" dirty="0">
                <a:solidFill>
                  <a:srgbClr val="E6EEF7"/>
                </a:solidFill>
                <a:latin typeface="Courier New" pitchFamily="34" charset="0"/>
                <a:ea typeface="Courier New" pitchFamily="34" charset="-122"/>
                <a:cs typeface="Courier New" pitchFamily="34" charset="-120"/>
              </a:rPr>
              <a:t> job_id != </a:t>
            </a:r>
            <a:r>
              <a:rPr lang="en-US" sz="1400" dirty="0">
                <a:solidFill>
                  <a:srgbClr val="9BE3A8"/>
                </a:solidFill>
                <a:latin typeface="Courier New" pitchFamily="34" charset="0"/>
                <a:ea typeface="Courier New" pitchFamily="34" charset="-122"/>
                <a:cs typeface="Courier New" pitchFamily="34" charset="-120"/>
              </a:rPr>
              <a:t>'job_id'</a:t>
            </a:r>
            <a:r>
              <a:rPr lang="en-US" sz="1400" dirty="0">
                <a:solidFill>
                  <a:srgbClr val="E6EEF7"/>
                </a:solidFill>
                <a:latin typeface="Courier New" pitchFamily="34" charset="0"/>
                <a:ea typeface="Courier New" pitchFamily="34" charset="-122"/>
                <a:cs typeface="Courier New" pitchFamily="34" charset="-120"/>
              </a:rPr>
              <a:t>;</a:t>
            </a:r>
            <a:endParaRPr lang="en-US" sz="1400" dirty="0"/>
          </a:p>
        </p:txBody>
      </p:sp>
      <p:sp>
        <p:nvSpPr>
          <p:cNvPr id="9" name="Text 7"/>
          <p:cNvSpPr txBox="1"/>
          <p:nvPr/>
        </p:nvSpPr>
        <p:spPr>
          <a:xfrm>
            <a:off x="548640" y="5577840"/>
            <a:ext cx="7223760" cy="274320"/>
          </a:xfrm>
          <a:prstGeom prst="rect">
            <a:avLst/>
          </a:prstGeom>
          <a:noFill/>
          <a:ln/>
        </p:spPr>
        <p:txBody>
          <a:bodyPr wrap="square" lIns="0" tIns="0" rIns="0" bIns="0" rtlCol="0" anchor="t"/>
          <a:lstStyle/>
          <a:p>
            <a:pPr marL="0" indent="0">
              <a:buNone/>
            </a:pPr>
            <a:r>
              <a:rPr lang="en-US" sz="1100" i="1" dirty="0">
                <a:solidFill>
                  <a:schemeClr val="accent4"/>
                </a:solidFill>
              </a:rPr>
              <a:t>Excerpt is simplified; verify against the actual script.</a:t>
            </a:r>
            <a:endParaRPr lang="en-US" sz="1100" dirty="0"/>
          </a:p>
        </p:txBody>
      </p:sp>
      <p:sp>
        <p:nvSpPr>
          <p:cNvPr id="10" name="Annotation"/>
          <p:cNvSpPr/>
          <p:nvPr/>
        </p:nvSpPr>
        <p:spPr>
          <a:xfrm>
            <a:off x="8046720" y="1463040"/>
            <a:ext cx="3611880" cy="868680"/>
          </a:xfrm>
          <a:prstGeom prst="roundRect">
            <a:avLst>
              <a:gd name="adj" fmla="val 8421"/>
            </a:avLst>
          </a:prstGeom>
          <a:solidFill>
            <a:schemeClr val="bg2"/>
          </a:solidFill>
          <a:ln/>
        </p:spPr>
      </p:sp>
      <p:sp>
        <p:nvSpPr>
          <p:cNvPr id="11" name="Shape 9"/>
          <p:cNvSpPr/>
          <p:nvPr/>
        </p:nvSpPr>
        <p:spPr>
          <a:xfrm>
            <a:off x="8183880" y="1682496"/>
            <a:ext cx="420624" cy="420624"/>
          </a:xfrm>
          <a:prstGeom prst="ellipse">
            <a:avLst/>
          </a:prstGeom>
          <a:solidFill>
            <a:schemeClr val="accent3"/>
          </a:solidFill>
          <a:ln/>
        </p:spPr>
      </p:sp>
      <p:sp>
        <p:nvSpPr>
          <p:cNvPr id="12" name="Text 10"/>
          <p:cNvSpPr txBox="1"/>
          <p:nvPr/>
        </p:nvSpPr>
        <p:spPr>
          <a:xfrm>
            <a:off x="8183880" y="1682496"/>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13" name="Text 11"/>
          <p:cNvSpPr txBox="1"/>
          <p:nvPr/>
        </p:nvSpPr>
        <p:spPr>
          <a:xfrm>
            <a:off x="8732520" y="1536192"/>
            <a:ext cx="2834640" cy="731520"/>
          </a:xfrm>
          <a:prstGeom prst="rect">
            <a:avLst/>
          </a:prstGeom>
          <a:noFill/>
          <a:ln/>
        </p:spPr>
        <p:txBody>
          <a:bodyPr wrap="square" lIns="0" tIns="0" rIns="0" bIns="0" rtlCol="0" anchor="ctr"/>
          <a:lstStyle/>
          <a:p>
            <a:pPr marL="0" indent="0">
              <a:buNone/>
            </a:pPr>
            <a:r>
              <a:rPr lang="en-US" sz="1400" b="1" dirty="0">
                <a:solidFill>
                  <a:schemeClr val="tx2"/>
                </a:solidFill>
              </a:rPr>
              <a:t>Piggybank CSVExcelStorage</a:t>
            </a:r>
            <a:endParaRPr lang="en-US" sz="1400" dirty="0"/>
          </a:p>
          <a:p>
            <a:pPr marL="0" indent="0">
              <a:buNone/>
            </a:pPr>
            <a:r>
              <a:rPr lang="en-US" sz="1200" dirty="0">
                <a:solidFill>
                  <a:schemeClr val="accent4"/>
                </a:solidFill>
              </a:rPr>
              <a:t>Parses quoted CSV fields correctly</a:t>
            </a:r>
            <a:endParaRPr lang="en-US" sz="1400" dirty="0"/>
          </a:p>
        </p:txBody>
      </p:sp>
      <p:sp>
        <p:nvSpPr>
          <p:cNvPr id="14" name="Annotation"/>
          <p:cNvSpPr/>
          <p:nvPr/>
        </p:nvSpPr>
        <p:spPr>
          <a:xfrm>
            <a:off x="8046720" y="2468880"/>
            <a:ext cx="3611880" cy="868680"/>
          </a:xfrm>
          <a:prstGeom prst="roundRect">
            <a:avLst>
              <a:gd name="adj" fmla="val 8421"/>
            </a:avLst>
          </a:prstGeom>
          <a:solidFill>
            <a:schemeClr val="bg2"/>
          </a:solidFill>
          <a:ln/>
        </p:spPr>
      </p:sp>
      <p:sp>
        <p:nvSpPr>
          <p:cNvPr id="15" name="Shape 13"/>
          <p:cNvSpPr/>
          <p:nvPr/>
        </p:nvSpPr>
        <p:spPr>
          <a:xfrm>
            <a:off x="8183880" y="2688336"/>
            <a:ext cx="420624" cy="420624"/>
          </a:xfrm>
          <a:prstGeom prst="ellipse">
            <a:avLst/>
          </a:prstGeom>
          <a:solidFill>
            <a:schemeClr val="accent3"/>
          </a:solidFill>
          <a:ln/>
        </p:spPr>
      </p:sp>
      <p:sp>
        <p:nvSpPr>
          <p:cNvPr id="16" name="Text 14"/>
          <p:cNvSpPr txBox="1"/>
          <p:nvPr/>
        </p:nvSpPr>
        <p:spPr>
          <a:xfrm>
            <a:off x="8183880" y="2688336"/>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7" name="Text 15"/>
          <p:cNvSpPr txBox="1"/>
          <p:nvPr/>
        </p:nvSpPr>
        <p:spPr>
          <a:xfrm>
            <a:off x="8732520" y="2542032"/>
            <a:ext cx="2834640" cy="731520"/>
          </a:xfrm>
          <a:prstGeom prst="rect">
            <a:avLst/>
          </a:prstGeom>
          <a:noFill/>
          <a:ln/>
        </p:spPr>
        <p:txBody>
          <a:bodyPr wrap="square" lIns="0" tIns="0" rIns="0" bIns="0" rtlCol="0" anchor="ctr"/>
          <a:lstStyle/>
          <a:p>
            <a:pPr marL="0" indent="0">
              <a:buNone/>
            </a:pPr>
            <a:r>
              <a:rPr lang="en-US" sz="1400" b="1" dirty="0">
                <a:solidFill>
                  <a:schemeClr val="tx2"/>
                </a:solidFill>
              </a:rPr>
              <a:t>Load from HDFS</a:t>
            </a:r>
            <a:endParaRPr lang="en-US" sz="1400" dirty="0"/>
          </a:p>
          <a:p>
            <a:pPr marL="0" indent="0">
              <a:buNone/>
            </a:pPr>
            <a:r>
              <a:rPr lang="en-US" sz="1200" dirty="0">
                <a:solidFill>
                  <a:schemeClr val="accent4"/>
                </a:solidFill>
              </a:rPr>
              <a:t>Reads the cleaned file from Task 1</a:t>
            </a:r>
            <a:endParaRPr lang="en-US" sz="1400" dirty="0"/>
          </a:p>
        </p:txBody>
      </p:sp>
      <p:sp>
        <p:nvSpPr>
          <p:cNvPr id="18" name="Annotation"/>
          <p:cNvSpPr/>
          <p:nvPr/>
        </p:nvSpPr>
        <p:spPr>
          <a:xfrm>
            <a:off x="8046720" y="3474720"/>
            <a:ext cx="3611880" cy="868680"/>
          </a:xfrm>
          <a:prstGeom prst="roundRect">
            <a:avLst>
              <a:gd name="adj" fmla="val 8421"/>
            </a:avLst>
          </a:prstGeom>
          <a:solidFill>
            <a:schemeClr val="bg2"/>
          </a:solidFill>
          <a:ln/>
        </p:spPr>
      </p:sp>
      <p:sp>
        <p:nvSpPr>
          <p:cNvPr id="19" name="Shape 17"/>
          <p:cNvSpPr/>
          <p:nvPr/>
        </p:nvSpPr>
        <p:spPr>
          <a:xfrm>
            <a:off x="8183880" y="3694176"/>
            <a:ext cx="420624" cy="420624"/>
          </a:xfrm>
          <a:prstGeom prst="ellipse">
            <a:avLst/>
          </a:prstGeom>
          <a:solidFill>
            <a:schemeClr val="accent3"/>
          </a:solidFill>
          <a:ln/>
        </p:spPr>
      </p:sp>
      <p:sp>
        <p:nvSpPr>
          <p:cNvPr id="20" name="Text 18"/>
          <p:cNvSpPr txBox="1"/>
          <p:nvPr/>
        </p:nvSpPr>
        <p:spPr>
          <a:xfrm>
            <a:off x="8183880" y="3694176"/>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21" name="Text 19"/>
          <p:cNvSpPr txBox="1"/>
          <p:nvPr/>
        </p:nvSpPr>
        <p:spPr>
          <a:xfrm>
            <a:off x="8732520" y="3547872"/>
            <a:ext cx="2834640" cy="731520"/>
          </a:xfrm>
          <a:prstGeom prst="rect">
            <a:avLst/>
          </a:prstGeom>
          <a:noFill/>
          <a:ln/>
        </p:spPr>
        <p:txBody>
          <a:bodyPr wrap="square" lIns="0" tIns="0" rIns="0" bIns="0" rtlCol="0" anchor="ctr"/>
          <a:lstStyle/>
          <a:p>
            <a:pPr marL="0" indent="0">
              <a:buNone/>
            </a:pPr>
            <a:r>
              <a:rPr lang="en-US" sz="1400" b="1" dirty="0">
                <a:solidFill>
                  <a:schemeClr val="tx2"/>
                </a:solidFill>
              </a:rPr>
              <a:t>Explicit 17-field schema</a:t>
            </a:r>
            <a:endParaRPr lang="en-US" sz="1400" dirty="0"/>
          </a:p>
          <a:p>
            <a:pPr marL="0" indent="0">
              <a:buNone/>
            </a:pPr>
            <a:r>
              <a:rPr lang="en-US" sz="1200" dirty="0">
                <a:solidFill>
                  <a:schemeClr val="accent4"/>
                </a:solidFill>
              </a:rPr>
              <a:t>Named, typed fields for every later step</a:t>
            </a:r>
            <a:endParaRPr lang="en-US" sz="1400" dirty="0"/>
          </a:p>
        </p:txBody>
      </p:sp>
      <p:sp>
        <p:nvSpPr>
          <p:cNvPr id="22" name="Annotation"/>
          <p:cNvSpPr/>
          <p:nvPr/>
        </p:nvSpPr>
        <p:spPr>
          <a:xfrm>
            <a:off x="8046720" y="4480560"/>
            <a:ext cx="3611880" cy="868680"/>
          </a:xfrm>
          <a:prstGeom prst="roundRect">
            <a:avLst>
              <a:gd name="adj" fmla="val 8421"/>
            </a:avLst>
          </a:prstGeom>
          <a:solidFill>
            <a:schemeClr val="bg2"/>
          </a:solidFill>
          <a:ln/>
        </p:spPr>
      </p:sp>
      <p:sp>
        <p:nvSpPr>
          <p:cNvPr id="23" name="Shape 21"/>
          <p:cNvSpPr/>
          <p:nvPr/>
        </p:nvSpPr>
        <p:spPr>
          <a:xfrm>
            <a:off x="8183880" y="4700016"/>
            <a:ext cx="420624" cy="420624"/>
          </a:xfrm>
          <a:prstGeom prst="ellipse">
            <a:avLst/>
          </a:prstGeom>
          <a:solidFill>
            <a:schemeClr val="accent3"/>
          </a:solidFill>
          <a:ln/>
        </p:spPr>
      </p:sp>
      <p:sp>
        <p:nvSpPr>
          <p:cNvPr id="24" name="Text 22"/>
          <p:cNvSpPr txBox="1"/>
          <p:nvPr/>
        </p:nvSpPr>
        <p:spPr>
          <a:xfrm>
            <a:off x="8183880" y="4700016"/>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5" name="Text 23"/>
          <p:cNvSpPr txBox="1"/>
          <p:nvPr/>
        </p:nvSpPr>
        <p:spPr>
          <a:xfrm>
            <a:off x="8732520" y="4553712"/>
            <a:ext cx="2834640" cy="731520"/>
          </a:xfrm>
          <a:prstGeom prst="rect">
            <a:avLst/>
          </a:prstGeom>
          <a:noFill/>
          <a:ln/>
        </p:spPr>
        <p:txBody>
          <a:bodyPr wrap="square" lIns="0" tIns="0" rIns="0" bIns="0" rtlCol="0" anchor="ctr"/>
          <a:lstStyle/>
          <a:p>
            <a:pPr marL="0" indent="0">
              <a:buNone/>
            </a:pPr>
            <a:r>
              <a:rPr lang="en-US" sz="1400" b="1" dirty="0">
                <a:solidFill>
                  <a:schemeClr val="tx2"/>
                </a:solidFill>
              </a:rPr>
              <a:t>Header filter</a:t>
            </a:r>
            <a:endParaRPr lang="en-US" sz="1400" dirty="0"/>
          </a:p>
          <a:p>
            <a:pPr marL="0" indent="0">
              <a:buNone/>
            </a:pPr>
            <a:r>
              <a:rPr lang="en-US" sz="1200" dirty="0">
                <a:solidFill>
                  <a:schemeClr val="accent4"/>
                </a:solidFill>
              </a:rPr>
              <a:t>Drops the CSV header row from the data</a:t>
            </a:r>
            <a:endParaRPr lang="en-US" sz="1400" dirty="0"/>
          </a:p>
        </p:txBody>
      </p:sp>
      <p:sp>
        <p:nvSpPr>
          <p:cNvPr id="26" name="Shape 24"/>
          <p:cNvSpPr/>
          <p:nvPr/>
        </p:nvSpPr>
        <p:spPr>
          <a:xfrm>
            <a:off x="8046720" y="5532120"/>
            <a:ext cx="3611880" cy="548640"/>
          </a:xfrm>
          <a:prstGeom prst="roundRect">
            <a:avLst>
              <a:gd name="adj" fmla="val 13333"/>
            </a:avLst>
          </a:prstGeom>
          <a:solidFill>
            <a:schemeClr val="accent1">
              <a:alpha val="15000"/>
            </a:schemeClr>
          </a:solidFill>
          <a:ln w="15875">
            <a:solidFill>
              <a:schemeClr val="accent1"/>
            </a:solidFill>
            <a:prstDash val="solid"/>
          </a:ln>
        </p:spPr>
      </p:sp>
      <p:sp>
        <p:nvSpPr>
          <p:cNvPr id="27" name="Text 25"/>
          <p:cNvSpPr txBox="1"/>
          <p:nvPr/>
        </p:nvSpPr>
        <p:spPr>
          <a:xfrm>
            <a:off x="8183880" y="5532120"/>
            <a:ext cx="3383280" cy="548640"/>
          </a:xfrm>
          <a:prstGeom prst="rect">
            <a:avLst/>
          </a:prstGeom>
          <a:noFill/>
          <a:ln/>
        </p:spPr>
        <p:txBody>
          <a:bodyPr wrap="square" lIns="0" tIns="0" rIns="0" bIns="0" rtlCol="0" anchor="ctr"/>
          <a:lstStyle/>
          <a:p>
            <a:pPr marL="0" indent="0">
              <a:buNone/>
            </a:pPr>
            <a:r>
              <a:rPr lang="en-US" sz="1200" b="1" dirty="0">
                <a:solidFill>
                  <a:schemeClr val="tx2"/>
                </a:solidFill>
              </a:rPr>
              <a:t>Why schema? Fields are referred to by name and type</a:t>
            </a:r>
            <a:endParaRPr lang="en-US" sz="1200" dirty="0"/>
          </a:p>
        </p:txBody>
      </p:sp>
      <p:sp>
        <p:nvSpPr>
          <p:cNvPr id="28" name="Slide Number Placeholder 0"/>
          <p:cNvSpPr>
            <a:spLocks noGrp="1"/>
          </p:cNvSpPr>
          <p:nvPr>
            <p:ph type="sldNum" sz="quarter" idx="4294967295"/>
          </p:nvPr>
        </p:nvSpPr>
        <p:spPr>
          <a:xfrm>
            <a:off x="10972800" y="6446520"/>
            <a:ext cx="64008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TASK 2: NORMALIZE</a:t>
            </a:r>
            <a:endParaRPr lang="en-US" sz="1200" dirty="0"/>
          </a:p>
        </p:txBody>
      </p:sp>
      <p:sp>
        <p:nvSpPr>
          <p:cNvPr id="3" name="Text 0"/>
          <p:cNvSpPr>
            <a:spLocks noGrp="1"/>
          </p:cNvSpPr>
          <p:nvPr>
            <p:ph type="title" idx="100" hasCustomPrompt="1"/>
          </p:nvPr>
        </p:nvSpPr>
        <p:spPr>
          <a:xfrm>
            <a:off x="548640" y="566928"/>
            <a:ext cx="9418320" cy="685800"/>
          </a:xfrm>
          <a:prstGeom prst="rect">
            <a:avLst/>
          </a:prstGeom>
          <a:noFill/>
          <a:ln/>
        </p:spPr>
        <p:txBody>
          <a:bodyPr wrap="square" lIns="0" tIns="0" rIns="0" bIns="0" rtlCol="0" anchor="ctr"/>
          <a:lstStyle/>
          <a:p>
            <a:pPr marL="0" indent="0" algn="l">
              <a:buNone/>
            </a:pPr>
            <a:r>
              <a:rPr lang="en-US" sz="3200" b="1" dirty="0">
                <a:solidFill>
                  <a:schemeClr val="tx2"/>
                </a:solidFill>
              </a:rPr>
              <a:t>Normalizing Job Titles and Locations</a:t>
            </a:r>
            <a:endParaRPr lang="en-US" sz="3200" dirty="0"/>
          </a:p>
        </p:txBody>
      </p:sp>
      <p:sp>
        <p:nvSpPr>
          <p:cNvPr id="6" name="Text 4"/>
          <p:cNvSpPr txBox="1"/>
          <p:nvPr/>
        </p:nvSpPr>
        <p:spPr>
          <a:xfrm>
            <a:off x="548640" y="1463040"/>
            <a:ext cx="1828800" cy="274320"/>
          </a:xfrm>
          <a:prstGeom prst="rect">
            <a:avLst/>
          </a:prstGeom>
          <a:noFill/>
          <a:ln/>
        </p:spPr>
        <p:txBody>
          <a:bodyPr wrap="square" lIns="0" tIns="0" rIns="0" bIns="0" rtlCol="0" anchor="t"/>
          <a:lstStyle/>
          <a:p>
            <a:pPr marL="0" indent="0">
              <a:buNone/>
            </a:pPr>
            <a:r>
              <a:rPr lang="en-US" sz="1300" b="1" dirty="0">
                <a:solidFill>
                  <a:schemeClr val="accent4"/>
                </a:solidFill>
                <a:latin typeface="Courier New" pitchFamily="34" charset="0"/>
                <a:ea typeface="Courier New" pitchFamily="34" charset="-122"/>
                <a:cs typeface="Courier New" pitchFamily="34" charset="-120"/>
              </a:rPr>
              <a:t>job_title</a:t>
            </a:r>
            <a:endParaRPr lang="en-US" sz="1300" dirty="0"/>
          </a:p>
        </p:txBody>
      </p:sp>
      <p:sp>
        <p:nvSpPr>
          <p:cNvPr id="7" name="Shape 5"/>
          <p:cNvSpPr/>
          <p:nvPr/>
        </p:nvSpPr>
        <p:spPr>
          <a:xfrm>
            <a:off x="548640" y="1783080"/>
            <a:ext cx="3931920" cy="822960"/>
          </a:xfrm>
          <a:prstGeom prst="roundRect">
            <a:avLst>
              <a:gd name="adj" fmla="val 8889"/>
            </a:avLst>
          </a:prstGeom>
          <a:solidFill>
            <a:schemeClr val="accent5">
              <a:alpha val="12000"/>
            </a:schemeClr>
          </a:solidFill>
          <a:ln w="15875">
            <a:solidFill>
              <a:schemeClr val="accent5"/>
            </a:solidFill>
            <a:prstDash val="solid"/>
          </a:ln>
        </p:spPr>
      </p:sp>
      <p:sp>
        <p:nvSpPr>
          <p:cNvPr id="8" name="Text 6"/>
          <p:cNvSpPr txBox="1"/>
          <p:nvPr/>
        </p:nvSpPr>
        <p:spPr>
          <a:xfrm>
            <a:off x="548640" y="1783080"/>
            <a:ext cx="3931920" cy="822960"/>
          </a:xfrm>
          <a:prstGeom prst="rect">
            <a:avLst/>
          </a:prstGeom>
          <a:noFill/>
          <a:ln/>
        </p:spPr>
        <p:txBody>
          <a:bodyPr wrap="square" lIns="0" tIns="0" rIns="0" bIns="0" rtlCol="0" anchor="ctr"/>
          <a:lstStyle/>
          <a:p>
            <a:pPr marL="0" indent="0" algn="ctr">
              <a:buNone/>
            </a:pPr>
            <a:r>
              <a:rPr lang="en-US" sz="1600" dirty="0">
                <a:solidFill>
                  <a:schemeClr val="tx1"/>
                </a:solidFill>
                <a:latin typeface="Courier New" pitchFamily="34" charset="0"/>
                <a:ea typeface="Courier New" pitchFamily="34" charset="-122"/>
                <a:cs typeface="Courier New" pitchFamily="34" charset="-120"/>
              </a:rPr>
              <a:t>" Application Developer "</a:t>
            </a:r>
            <a:endParaRPr lang="en-US" sz="1600" dirty="0"/>
          </a:p>
        </p:txBody>
      </p:sp>
      <p:sp>
        <p:nvSpPr>
          <p:cNvPr id="9" name="Shape 7"/>
          <p:cNvSpPr/>
          <p:nvPr/>
        </p:nvSpPr>
        <p:spPr>
          <a:xfrm>
            <a:off x="4846320" y="1783080"/>
            <a:ext cx="2103120" cy="822960"/>
          </a:xfrm>
          <a:prstGeom prst="roundRect">
            <a:avLst>
              <a:gd name="adj" fmla="val 11111"/>
            </a:avLst>
          </a:prstGeom>
          <a:solidFill>
            <a:schemeClr val="accent2"/>
          </a:solidFill>
          <a:ln/>
        </p:spPr>
      </p:sp>
      <p:sp>
        <p:nvSpPr>
          <p:cNvPr id="10" name="Text 8"/>
          <p:cNvSpPr txBox="1"/>
          <p:nvPr/>
        </p:nvSpPr>
        <p:spPr>
          <a:xfrm>
            <a:off x="4846320" y="1783080"/>
            <a:ext cx="2103120" cy="82296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LOWER(TRIM(x))</a:t>
            </a:r>
            <a:endParaRPr lang="en-US" sz="1300" dirty="0"/>
          </a:p>
        </p:txBody>
      </p:sp>
      <p:sp>
        <p:nvSpPr>
          <p:cNvPr id="11" name="Shape 9"/>
          <p:cNvSpPr/>
          <p:nvPr/>
        </p:nvSpPr>
        <p:spPr>
          <a:xfrm>
            <a:off x="4480560" y="2194560"/>
            <a:ext cx="365760" cy="0"/>
          </a:xfrm>
          <a:prstGeom prst="line">
            <a:avLst/>
          </a:prstGeom>
          <a:noFill/>
          <a:ln w="25400">
            <a:solidFill>
              <a:schemeClr val="tx2"/>
            </a:solidFill>
            <a:prstDash val="solid"/>
            <a:tailEnd type="triangle"/>
          </a:ln>
        </p:spPr>
      </p:sp>
      <p:sp>
        <p:nvSpPr>
          <p:cNvPr id="12" name="Shape 10"/>
          <p:cNvSpPr/>
          <p:nvPr/>
        </p:nvSpPr>
        <p:spPr>
          <a:xfrm>
            <a:off x="6949440" y="2194560"/>
            <a:ext cx="365760" cy="0"/>
          </a:xfrm>
          <a:prstGeom prst="line">
            <a:avLst/>
          </a:prstGeom>
          <a:noFill/>
          <a:ln w="25400">
            <a:solidFill>
              <a:schemeClr val="tx2"/>
            </a:solidFill>
            <a:prstDash val="solid"/>
            <a:tailEnd type="triangle"/>
          </a:ln>
        </p:spPr>
      </p:sp>
      <p:sp>
        <p:nvSpPr>
          <p:cNvPr id="13" name="Shape 11"/>
          <p:cNvSpPr/>
          <p:nvPr/>
        </p:nvSpPr>
        <p:spPr>
          <a:xfrm>
            <a:off x="7315200" y="1783080"/>
            <a:ext cx="4343400" cy="822960"/>
          </a:xfrm>
          <a:prstGeom prst="roundRect">
            <a:avLst>
              <a:gd name="adj" fmla="val 8889"/>
            </a:avLst>
          </a:prstGeom>
          <a:solidFill>
            <a:schemeClr val="accent6">
              <a:alpha val="15000"/>
            </a:schemeClr>
          </a:solidFill>
          <a:ln w="15875">
            <a:solidFill>
              <a:schemeClr val="accent6"/>
            </a:solidFill>
            <a:prstDash val="solid"/>
          </a:ln>
        </p:spPr>
      </p:sp>
      <p:sp>
        <p:nvSpPr>
          <p:cNvPr id="14" name="Text 12"/>
          <p:cNvSpPr txBox="1"/>
          <p:nvPr/>
        </p:nvSpPr>
        <p:spPr>
          <a:xfrm>
            <a:off x="7315200" y="1783080"/>
            <a:ext cx="4343400" cy="822960"/>
          </a:xfrm>
          <a:prstGeom prst="rect">
            <a:avLst/>
          </a:prstGeom>
          <a:noFill/>
          <a:ln/>
        </p:spPr>
        <p:txBody>
          <a:bodyPr wrap="square" lIns="0" tIns="0" rIns="0" bIns="0" rtlCol="0" anchor="ctr"/>
          <a:lstStyle/>
          <a:p>
            <a:pPr marL="0" indent="0" algn="ctr">
              <a:buNone/>
            </a:pPr>
            <a:r>
              <a:rPr lang="en-US" sz="1600" b="1" dirty="0">
                <a:solidFill>
                  <a:schemeClr val="tx1"/>
                </a:solidFill>
                <a:latin typeface="Courier New" pitchFamily="34" charset="0"/>
                <a:ea typeface="Courier New" pitchFamily="34" charset="-122"/>
                <a:cs typeface="Courier New" pitchFamily="34" charset="-120"/>
              </a:rPr>
              <a:t>application developer</a:t>
            </a:r>
            <a:endParaRPr lang="en-US" sz="1600" dirty="0"/>
          </a:p>
        </p:txBody>
      </p:sp>
      <p:sp>
        <p:nvSpPr>
          <p:cNvPr id="15" name="Text 13"/>
          <p:cNvSpPr txBox="1"/>
          <p:nvPr/>
        </p:nvSpPr>
        <p:spPr>
          <a:xfrm>
            <a:off x="548640" y="2971800"/>
            <a:ext cx="1828800" cy="274320"/>
          </a:xfrm>
          <a:prstGeom prst="rect">
            <a:avLst/>
          </a:prstGeom>
          <a:noFill/>
          <a:ln/>
        </p:spPr>
        <p:txBody>
          <a:bodyPr wrap="square" lIns="0" tIns="0" rIns="0" bIns="0" rtlCol="0" anchor="t"/>
          <a:lstStyle/>
          <a:p>
            <a:pPr marL="0" indent="0">
              <a:buNone/>
            </a:pPr>
            <a:r>
              <a:rPr lang="en-US" sz="1300" b="1" dirty="0">
                <a:solidFill>
                  <a:schemeClr val="accent4"/>
                </a:solidFill>
                <a:latin typeface="Courier New" pitchFamily="34" charset="0"/>
                <a:ea typeface="Courier New" pitchFamily="34" charset="-122"/>
                <a:cs typeface="Courier New" pitchFamily="34" charset="-120"/>
              </a:rPr>
              <a:t>location</a:t>
            </a:r>
            <a:endParaRPr lang="en-US" sz="1300" dirty="0"/>
          </a:p>
        </p:txBody>
      </p:sp>
      <p:sp>
        <p:nvSpPr>
          <p:cNvPr id="16" name="Shape 14"/>
          <p:cNvSpPr/>
          <p:nvPr/>
        </p:nvSpPr>
        <p:spPr>
          <a:xfrm>
            <a:off x="548640" y="3291840"/>
            <a:ext cx="3931920" cy="822960"/>
          </a:xfrm>
          <a:prstGeom prst="roundRect">
            <a:avLst>
              <a:gd name="adj" fmla="val 8889"/>
            </a:avLst>
          </a:prstGeom>
          <a:solidFill>
            <a:schemeClr val="accent5">
              <a:alpha val="12000"/>
            </a:schemeClr>
          </a:solidFill>
          <a:ln w="15875">
            <a:solidFill>
              <a:schemeClr val="accent5"/>
            </a:solidFill>
            <a:prstDash val="solid"/>
          </a:ln>
        </p:spPr>
      </p:sp>
      <p:sp>
        <p:nvSpPr>
          <p:cNvPr id="17" name="Text 15"/>
          <p:cNvSpPr txBox="1"/>
          <p:nvPr/>
        </p:nvSpPr>
        <p:spPr>
          <a:xfrm>
            <a:off x="548640" y="3291840"/>
            <a:ext cx="3931920" cy="822960"/>
          </a:xfrm>
          <a:prstGeom prst="rect">
            <a:avLst/>
          </a:prstGeom>
          <a:noFill/>
          <a:ln/>
        </p:spPr>
        <p:txBody>
          <a:bodyPr wrap="square" lIns="0" tIns="0" rIns="0" bIns="0" rtlCol="0" anchor="ctr"/>
          <a:lstStyle/>
          <a:p>
            <a:pPr marL="0" indent="0" algn="ctr">
              <a:buNone/>
            </a:pPr>
            <a:r>
              <a:rPr lang="en-US" sz="1600" dirty="0">
                <a:solidFill>
                  <a:schemeClr val="tx1"/>
                </a:solidFill>
                <a:latin typeface="Courier New" pitchFamily="34" charset="0"/>
                <a:ea typeface="Courier New" pitchFamily="34" charset="-122"/>
                <a:cs typeface="Courier New" pitchFamily="34" charset="-120"/>
              </a:rPr>
              <a:t>" BENGALURU "</a:t>
            </a:r>
            <a:endParaRPr lang="en-US" sz="1600" dirty="0"/>
          </a:p>
        </p:txBody>
      </p:sp>
      <p:sp>
        <p:nvSpPr>
          <p:cNvPr id="18" name="Shape 16"/>
          <p:cNvSpPr/>
          <p:nvPr/>
        </p:nvSpPr>
        <p:spPr>
          <a:xfrm>
            <a:off x="4846320" y="3291840"/>
            <a:ext cx="2103120" cy="822960"/>
          </a:xfrm>
          <a:prstGeom prst="roundRect">
            <a:avLst>
              <a:gd name="adj" fmla="val 11111"/>
            </a:avLst>
          </a:prstGeom>
          <a:solidFill>
            <a:schemeClr val="accent2"/>
          </a:solidFill>
          <a:ln/>
        </p:spPr>
      </p:sp>
      <p:sp>
        <p:nvSpPr>
          <p:cNvPr id="19" name="Text 17"/>
          <p:cNvSpPr txBox="1"/>
          <p:nvPr/>
        </p:nvSpPr>
        <p:spPr>
          <a:xfrm>
            <a:off x="4846320" y="3291840"/>
            <a:ext cx="2103120" cy="82296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LOWER(TRIM(x))</a:t>
            </a:r>
            <a:endParaRPr lang="en-US" sz="1300" dirty="0"/>
          </a:p>
        </p:txBody>
      </p:sp>
      <p:sp>
        <p:nvSpPr>
          <p:cNvPr id="20" name="Shape 18"/>
          <p:cNvSpPr/>
          <p:nvPr/>
        </p:nvSpPr>
        <p:spPr>
          <a:xfrm>
            <a:off x="4480560" y="3703320"/>
            <a:ext cx="365760" cy="0"/>
          </a:xfrm>
          <a:prstGeom prst="line">
            <a:avLst/>
          </a:prstGeom>
          <a:noFill/>
          <a:ln w="25400">
            <a:solidFill>
              <a:schemeClr val="tx2"/>
            </a:solidFill>
            <a:prstDash val="solid"/>
            <a:tailEnd type="triangle"/>
          </a:ln>
        </p:spPr>
      </p:sp>
      <p:sp>
        <p:nvSpPr>
          <p:cNvPr id="21" name="Shape 19"/>
          <p:cNvSpPr/>
          <p:nvPr/>
        </p:nvSpPr>
        <p:spPr>
          <a:xfrm>
            <a:off x="6949440" y="3703320"/>
            <a:ext cx="365760" cy="0"/>
          </a:xfrm>
          <a:prstGeom prst="line">
            <a:avLst/>
          </a:prstGeom>
          <a:noFill/>
          <a:ln w="25400">
            <a:solidFill>
              <a:schemeClr val="tx2"/>
            </a:solidFill>
            <a:prstDash val="solid"/>
            <a:tailEnd type="triangle"/>
          </a:ln>
        </p:spPr>
      </p:sp>
      <p:sp>
        <p:nvSpPr>
          <p:cNvPr id="22" name="Shape 20"/>
          <p:cNvSpPr/>
          <p:nvPr/>
        </p:nvSpPr>
        <p:spPr>
          <a:xfrm>
            <a:off x="7315200" y="3291840"/>
            <a:ext cx="4343400" cy="822960"/>
          </a:xfrm>
          <a:prstGeom prst="roundRect">
            <a:avLst>
              <a:gd name="adj" fmla="val 8889"/>
            </a:avLst>
          </a:prstGeom>
          <a:solidFill>
            <a:schemeClr val="accent6">
              <a:alpha val="15000"/>
            </a:schemeClr>
          </a:solidFill>
          <a:ln w="15875">
            <a:solidFill>
              <a:schemeClr val="accent6"/>
            </a:solidFill>
            <a:prstDash val="solid"/>
          </a:ln>
        </p:spPr>
      </p:sp>
      <p:sp>
        <p:nvSpPr>
          <p:cNvPr id="23" name="Text 21"/>
          <p:cNvSpPr txBox="1"/>
          <p:nvPr/>
        </p:nvSpPr>
        <p:spPr>
          <a:xfrm>
            <a:off x="7315200" y="3291840"/>
            <a:ext cx="4343400" cy="822960"/>
          </a:xfrm>
          <a:prstGeom prst="rect">
            <a:avLst/>
          </a:prstGeom>
          <a:noFill/>
          <a:ln/>
        </p:spPr>
        <p:txBody>
          <a:bodyPr wrap="square" lIns="0" tIns="0" rIns="0" bIns="0" rtlCol="0" anchor="ctr"/>
          <a:lstStyle/>
          <a:p>
            <a:pPr marL="0" indent="0" algn="ctr">
              <a:buNone/>
            </a:pPr>
            <a:r>
              <a:rPr lang="en-US" sz="1600" b="1" dirty="0">
                <a:solidFill>
                  <a:schemeClr val="tx1"/>
                </a:solidFill>
                <a:latin typeface="Courier New" pitchFamily="34" charset="0"/>
                <a:ea typeface="Courier New" pitchFamily="34" charset="-122"/>
                <a:cs typeface="Courier New" pitchFamily="34" charset="-120"/>
              </a:rPr>
              <a:t>bengaluru</a:t>
            </a:r>
            <a:endParaRPr lang="en-US" sz="1600" dirty="0"/>
          </a:p>
        </p:txBody>
      </p:sp>
      <p:sp>
        <p:nvSpPr>
          <p:cNvPr id="24" name="Code block"/>
          <p:cNvSpPr/>
          <p:nvPr/>
        </p:nvSpPr>
        <p:spPr>
          <a:xfrm>
            <a:off x="548640" y="4526280"/>
            <a:ext cx="6400800" cy="1554480"/>
          </a:xfrm>
          <a:prstGeom prst="roundRect">
            <a:avLst>
              <a:gd name="adj" fmla="val 5882"/>
            </a:avLst>
          </a:prstGeom>
          <a:solidFill>
            <a:srgbClr val="0B1F3A"/>
          </a:solidFill>
          <a:ln/>
        </p:spPr>
      </p:sp>
      <p:sp>
        <p:nvSpPr>
          <p:cNvPr id="25" name="Text 23"/>
          <p:cNvSpPr txBox="1"/>
          <p:nvPr/>
        </p:nvSpPr>
        <p:spPr>
          <a:xfrm>
            <a:off x="749808" y="4709160"/>
            <a:ext cx="5998464" cy="1188720"/>
          </a:xfrm>
          <a:prstGeom prst="rect">
            <a:avLst/>
          </a:prstGeom>
          <a:noFill/>
          <a:ln/>
        </p:spPr>
        <p:txBody>
          <a:bodyPr wrap="square" lIns="0" tIns="0" rIns="0" bIns="0" rtlCol="0" anchor="t"/>
          <a:lstStyle/>
          <a:p>
            <a:pPr marL="0" indent="0">
              <a:buNone/>
            </a:pPr>
            <a:r>
              <a:rPr lang="en-US" sz="1300" dirty="0">
                <a:solidFill>
                  <a:srgbClr val="E6EEF7"/>
                </a:solidFill>
                <a:latin typeface="Courier New" pitchFamily="34" charset="0"/>
                <a:ea typeface="Courier New" pitchFamily="34" charset="-122"/>
                <a:cs typeface="Courier New" pitchFamily="34" charset="-120"/>
              </a:rPr>
              <a:t>jobs = </a:t>
            </a:r>
            <a:r>
              <a:rPr lang="en-US" sz="1300" dirty="0">
                <a:solidFill>
                  <a:srgbClr val="7CC4FF"/>
                </a:solidFill>
                <a:latin typeface="Courier New" pitchFamily="34" charset="0"/>
                <a:ea typeface="Courier New" pitchFamily="34" charset="-122"/>
                <a:cs typeface="Courier New" pitchFamily="34" charset="-120"/>
              </a:rPr>
              <a:t>FOREACH</a:t>
            </a:r>
            <a:r>
              <a:rPr lang="en-US" sz="1300" dirty="0">
                <a:solidFill>
                  <a:srgbClr val="E6EEF7"/>
                </a:solidFill>
                <a:latin typeface="Courier New" pitchFamily="34" charset="0"/>
                <a:ea typeface="Courier New" pitchFamily="34" charset="-122"/>
                <a:cs typeface="Courier New" pitchFamily="34" charset="-120"/>
              </a:rPr>
              <a:t> jobs_raw </a:t>
            </a:r>
            <a:r>
              <a:rPr lang="en-US" sz="1300" dirty="0">
                <a:solidFill>
                  <a:srgbClr val="7CC4FF"/>
                </a:solidFill>
                <a:latin typeface="Courier New" pitchFamily="34" charset="0"/>
                <a:ea typeface="Courier New" pitchFamily="34" charset="-122"/>
                <a:cs typeface="Courier New" pitchFamily="34" charset="-120"/>
              </a:rPr>
              <a:t>GENERATE</a:t>
            </a:r>
            <a:r>
              <a:rPr lang="en-US" sz="1300" dirty="0">
                <a:solidFill>
                  <a:srgbClr val="E6EEF7"/>
                </a:solidFill>
                <a:latin typeface="Courier New" pitchFamily="34" charset="0"/>
                <a:ea typeface="Courier New" pitchFamily="34" charset="-122"/>
                <a:cs typeface="Courier New" pitchFamily="34" charset="-120"/>
              </a:rPr>
              <a:t> job_id,</a:t>
            </a:r>
            <a:r>
              <a:rPr lang="en-US" sz="1300" dirty="0">
                <a:solidFill>
                  <a:srgbClr val="000000"/>
                </a:solidFill>
                <a:latin typeface="Courier New" pitchFamily="34" charset="0"/>
                <a:ea typeface="Courier New" pitchFamily="34" charset="-122"/>
                <a:cs typeface="Courier New" pitchFamily="34" charset="-120"/>
              </a:rPr>
              <a:t>
</a:t>
            </a:r>
            <a:r>
              <a:rPr lang="en-US" sz="1300" dirty="0">
                <a:solidFill>
                  <a:srgbClr val="E6EEF7"/>
                </a:solidFill>
                <a:latin typeface="Courier New" pitchFamily="34" charset="0"/>
                <a:ea typeface="Courier New" pitchFamily="34" charset="-122"/>
                <a:cs typeface="Courier New" pitchFamily="34" charset="-120"/>
              </a:rPr>
              <a:t>    </a:t>
            </a:r>
            <a:r>
              <a:rPr lang="en-US" sz="1300" dirty="0">
                <a:solidFill>
                  <a:srgbClr val="F2C46D"/>
                </a:solidFill>
                <a:latin typeface="Courier New" pitchFamily="34" charset="0"/>
                <a:ea typeface="Courier New" pitchFamily="34" charset="-122"/>
                <a:cs typeface="Courier New" pitchFamily="34" charset="-120"/>
              </a:rPr>
              <a:t>LOWER</a:t>
            </a:r>
            <a:r>
              <a:rPr lang="en-US" sz="1300" dirty="0">
                <a:solidFill>
                  <a:srgbClr val="E6EEF7"/>
                </a:solidFill>
                <a:latin typeface="Courier New" pitchFamily="34" charset="0"/>
                <a:ea typeface="Courier New" pitchFamily="34" charset="-122"/>
                <a:cs typeface="Courier New" pitchFamily="34" charset="-120"/>
              </a:rPr>
              <a:t>(</a:t>
            </a:r>
            <a:r>
              <a:rPr lang="en-US" sz="1300" dirty="0">
                <a:solidFill>
                  <a:srgbClr val="F2C46D"/>
                </a:solidFill>
                <a:latin typeface="Courier New" pitchFamily="34" charset="0"/>
                <a:ea typeface="Courier New" pitchFamily="34" charset="-122"/>
                <a:cs typeface="Courier New" pitchFamily="34" charset="-120"/>
              </a:rPr>
              <a:t>TRIM</a:t>
            </a:r>
            <a:r>
              <a:rPr lang="en-US" sz="1300" dirty="0">
                <a:solidFill>
                  <a:srgbClr val="E6EEF7"/>
                </a:solidFill>
                <a:latin typeface="Courier New" pitchFamily="34" charset="0"/>
                <a:ea typeface="Courier New" pitchFamily="34" charset="-122"/>
                <a:cs typeface="Courier New" pitchFamily="34" charset="-120"/>
              </a:rPr>
              <a:t>(job_title)) </a:t>
            </a:r>
            <a:r>
              <a:rPr lang="en-US" sz="1300" dirty="0">
                <a:solidFill>
                  <a:srgbClr val="7CC4FF"/>
                </a:solidFill>
                <a:latin typeface="Courier New" pitchFamily="34" charset="0"/>
                <a:ea typeface="Courier New" pitchFamily="34" charset="-122"/>
                <a:cs typeface="Courier New" pitchFamily="34" charset="-120"/>
              </a:rPr>
              <a:t>AS</a:t>
            </a:r>
            <a:r>
              <a:rPr lang="en-US" sz="1300" dirty="0">
                <a:solidFill>
                  <a:srgbClr val="E6EEF7"/>
                </a:solidFill>
                <a:latin typeface="Courier New" pitchFamily="34" charset="0"/>
                <a:ea typeface="Courier New" pitchFamily="34" charset="-122"/>
                <a:cs typeface="Courier New" pitchFamily="34" charset="-120"/>
              </a:rPr>
              <a:t> job_title,</a:t>
            </a:r>
            <a:r>
              <a:rPr lang="en-US" sz="1300" dirty="0">
                <a:solidFill>
                  <a:srgbClr val="000000"/>
                </a:solidFill>
                <a:latin typeface="Courier New" pitchFamily="34" charset="0"/>
                <a:ea typeface="Courier New" pitchFamily="34" charset="-122"/>
                <a:cs typeface="Courier New" pitchFamily="34" charset="-120"/>
              </a:rPr>
              <a:t>
</a:t>
            </a:r>
            <a:r>
              <a:rPr lang="en-US" sz="1300" dirty="0">
                <a:solidFill>
                  <a:srgbClr val="E6EEF7"/>
                </a:solidFill>
                <a:latin typeface="Courier New" pitchFamily="34" charset="0"/>
                <a:ea typeface="Courier New" pitchFamily="34" charset="-122"/>
                <a:cs typeface="Courier New" pitchFamily="34" charset="-120"/>
              </a:rPr>
              <a:t>    </a:t>
            </a:r>
            <a:r>
              <a:rPr lang="en-US" sz="1300" dirty="0">
                <a:solidFill>
                  <a:srgbClr val="F2C46D"/>
                </a:solidFill>
                <a:latin typeface="Courier New" pitchFamily="34" charset="0"/>
                <a:ea typeface="Courier New" pitchFamily="34" charset="-122"/>
                <a:cs typeface="Courier New" pitchFamily="34" charset="-120"/>
              </a:rPr>
              <a:t>LOWER</a:t>
            </a:r>
            <a:r>
              <a:rPr lang="en-US" sz="1300" dirty="0">
                <a:solidFill>
                  <a:srgbClr val="E6EEF7"/>
                </a:solidFill>
                <a:latin typeface="Courier New" pitchFamily="34" charset="0"/>
                <a:ea typeface="Courier New" pitchFamily="34" charset="-122"/>
                <a:cs typeface="Courier New" pitchFamily="34" charset="-120"/>
              </a:rPr>
              <a:t>(</a:t>
            </a:r>
            <a:r>
              <a:rPr lang="en-US" sz="1300" dirty="0">
                <a:solidFill>
                  <a:srgbClr val="F2C46D"/>
                </a:solidFill>
                <a:latin typeface="Courier New" pitchFamily="34" charset="0"/>
                <a:ea typeface="Courier New" pitchFamily="34" charset="-122"/>
                <a:cs typeface="Courier New" pitchFamily="34" charset="-120"/>
              </a:rPr>
              <a:t>TRIM</a:t>
            </a:r>
            <a:r>
              <a:rPr lang="en-US" sz="1300" dirty="0">
                <a:solidFill>
                  <a:srgbClr val="E6EEF7"/>
                </a:solidFill>
                <a:latin typeface="Courier New" pitchFamily="34" charset="0"/>
                <a:ea typeface="Courier New" pitchFamily="34" charset="-122"/>
                <a:cs typeface="Courier New" pitchFamily="34" charset="-120"/>
              </a:rPr>
              <a:t>(location))  </a:t>
            </a:r>
            <a:r>
              <a:rPr lang="en-US" sz="1300" dirty="0">
                <a:solidFill>
                  <a:srgbClr val="7CC4FF"/>
                </a:solidFill>
                <a:latin typeface="Courier New" pitchFamily="34" charset="0"/>
                <a:ea typeface="Courier New" pitchFamily="34" charset="-122"/>
                <a:cs typeface="Courier New" pitchFamily="34" charset="-120"/>
              </a:rPr>
              <a:t>AS</a:t>
            </a:r>
            <a:r>
              <a:rPr lang="en-US" sz="1300" dirty="0">
                <a:solidFill>
                  <a:srgbClr val="E6EEF7"/>
                </a:solidFill>
                <a:latin typeface="Courier New" pitchFamily="34" charset="0"/>
                <a:ea typeface="Courier New" pitchFamily="34" charset="-122"/>
                <a:cs typeface="Courier New" pitchFamily="34" charset="-120"/>
              </a:rPr>
              <a:t> location, ...;</a:t>
            </a:r>
            <a:endParaRPr lang="en-US" sz="1300" dirty="0"/>
          </a:p>
        </p:txBody>
      </p:sp>
      <p:sp>
        <p:nvSpPr>
          <p:cNvPr id="26" name="Caveat"/>
          <p:cNvSpPr/>
          <p:nvPr/>
        </p:nvSpPr>
        <p:spPr>
          <a:xfrm>
            <a:off x="7223760" y="4526280"/>
            <a:ext cx="4434840" cy="1554480"/>
          </a:xfrm>
          <a:prstGeom prst="roundRect">
            <a:avLst>
              <a:gd name="adj" fmla="val 4706"/>
            </a:avLst>
          </a:prstGeom>
          <a:solidFill>
            <a:schemeClr val="accent3">
              <a:alpha val="18000"/>
            </a:schemeClr>
          </a:solidFill>
          <a:ln w="15875">
            <a:solidFill>
              <a:schemeClr val="accent3"/>
            </a:solidFill>
            <a:prstDash val="solid"/>
          </a:ln>
        </p:spPr>
      </p:sp>
      <p:sp>
        <p:nvSpPr>
          <p:cNvPr id="27" name="Text 25"/>
          <p:cNvSpPr txBox="1"/>
          <p:nvPr/>
        </p:nvSpPr>
        <p:spPr>
          <a:xfrm>
            <a:off x="7406640" y="4572000"/>
            <a:ext cx="4069080" cy="1463040"/>
          </a:xfrm>
          <a:prstGeom prst="rect">
            <a:avLst/>
          </a:prstGeom>
          <a:noFill/>
          <a:ln/>
        </p:spPr>
        <p:txBody>
          <a:bodyPr wrap="square" lIns="0" tIns="0" rIns="0" bIns="0" rtlCol="0" anchor="ctr"/>
          <a:lstStyle/>
          <a:p>
            <a:pPr marL="0" indent="0">
              <a:buNone/>
            </a:pPr>
            <a:r>
              <a:rPr lang="en-US" sz="1500" b="1" dirty="0">
                <a:solidFill>
                  <a:schemeClr val="tx2"/>
                </a:solidFill>
              </a:rPr>
              <a:t>Not done: alias mapping</a:t>
            </a:r>
            <a:endParaRPr lang="en-US" sz="1400" dirty="0"/>
          </a:p>
          <a:p>
            <a:pPr marL="0" indent="0">
              <a:buNone/>
            </a:pPr>
            <a:r>
              <a:rPr lang="en-US" sz="1300" dirty="0">
                <a:solidFill>
                  <a:schemeClr val="tx1"/>
                </a:solidFill>
              </a:rPr>
              <a:t>Alternate spellings or synonymous titles are not merged into one canonical name. Listed as future work.</a:t>
            </a:r>
            <a:endParaRPr lang="en-US" sz="1400" dirty="0"/>
          </a:p>
        </p:txBody>
      </p:sp>
      <p:sp>
        <p:nvSpPr>
          <p:cNvPr id="28" name="Slide Number Placeholder 0"/>
          <p:cNvSpPr>
            <a:spLocks noGrp="1"/>
          </p:cNvSpPr>
          <p:nvPr>
            <p:ph type="sldNum" sz="quarter" idx="4294967295"/>
          </p:nvPr>
        </p:nvSpPr>
        <p:spPr>
          <a:xfrm>
            <a:off x="10972800" y="6446520"/>
            <a:ext cx="64008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TASK 2: SKILLS</a:t>
            </a:r>
            <a:endParaRPr lang="en-US" sz="1200" dirty="0"/>
          </a:p>
        </p:txBody>
      </p:sp>
      <p:sp>
        <p:nvSpPr>
          <p:cNvPr id="3" name="Text 0"/>
          <p:cNvSpPr>
            <a:spLocks noGrp="1"/>
          </p:cNvSpPr>
          <p:nvPr>
            <p:ph type="title" idx="100" hasCustomPrompt="1"/>
          </p:nvPr>
        </p:nvSpPr>
        <p:spPr>
          <a:xfrm>
            <a:off x="548640" y="566928"/>
            <a:ext cx="9418320" cy="685800"/>
          </a:xfrm>
          <a:prstGeom prst="rect">
            <a:avLst/>
          </a:prstGeom>
          <a:noFill/>
          <a:ln/>
        </p:spPr>
        <p:txBody>
          <a:bodyPr wrap="square" lIns="0" tIns="0" rIns="0" bIns="0" rtlCol="0" anchor="ctr"/>
          <a:lstStyle/>
          <a:p>
            <a:pPr marL="0" indent="0" algn="l">
              <a:buNone/>
            </a:pPr>
            <a:r>
              <a:rPr lang="en-US" sz="3200" b="1" dirty="0">
                <a:solidFill>
                  <a:schemeClr val="tx2"/>
                </a:solidFill>
              </a:rPr>
              <a:t>Skill Extraction and Deduplication</a:t>
            </a:r>
            <a:endParaRPr lang="en-US" sz="3200" dirty="0"/>
          </a:p>
        </p:txBody>
      </p:sp>
      <p:sp>
        <p:nvSpPr>
          <p:cNvPr id="6" name="Shape 4"/>
          <p:cNvSpPr/>
          <p:nvPr/>
        </p:nvSpPr>
        <p:spPr>
          <a:xfrm>
            <a:off x="548640" y="1463040"/>
            <a:ext cx="1691640" cy="868680"/>
          </a:xfrm>
          <a:prstGeom prst="roundRect">
            <a:avLst>
              <a:gd name="adj" fmla="val 10526"/>
            </a:avLst>
          </a:prstGeom>
          <a:solidFill>
            <a:schemeClr val="accent2"/>
          </a:solidFill>
          <a:ln/>
        </p:spPr>
      </p:sp>
      <p:sp>
        <p:nvSpPr>
          <p:cNvPr id="7" name="Text 5"/>
          <p:cNvSpPr txBox="1"/>
          <p:nvPr/>
        </p:nvSpPr>
        <p:spPr>
          <a:xfrm>
            <a:off x="548640" y="1463040"/>
            <a:ext cx="1691640" cy="868680"/>
          </a:xfrm>
          <a:prstGeom prst="rect">
            <a:avLst/>
          </a:prstGeom>
          <a:noFill/>
          <a:ln/>
        </p:spPr>
        <p:txBody>
          <a:bodyPr wrap="square" lIns="0" tIns="0" rIns="0" bIns="0" rtlCol="0" anchor="ctr"/>
          <a:lstStyle/>
          <a:p>
            <a:pPr marL="0" indent="0" algn="ctr">
              <a:buNone/>
            </a:pPr>
            <a:r>
              <a:rPr lang="en-US" sz="1400" b="1" dirty="0">
                <a:solidFill>
                  <a:srgbClr val="FFFFFF"/>
                </a:solidFill>
              </a:rPr>
              <a:t>Input</a:t>
            </a:r>
            <a:endParaRPr lang="en-US" sz="1400" dirty="0"/>
          </a:p>
          <a:p>
            <a:pPr marL="0" indent="0" algn="ctr">
              <a:buNone/>
            </a:pPr>
            <a:r>
              <a:rPr lang="en-US" sz="1100" dirty="0">
                <a:solidFill>
                  <a:srgbClr val="E3EEF7"/>
                </a:solidFill>
              </a:rPr>
              <a:t>skills field</a:t>
            </a:r>
            <a:endParaRPr lang="en-US" sz="1400" dirty="0"/>
          </a:p>
        </p:txBody>
      </p:sp>
      <p:sp>
        <p:nvSpPr>
          <p:cNvPr id="8" name="Example state"/>
          <p:cNvSpPr/>
          <p:nvPr/>
        </p:nvSpPr>
        <p:spPr>
          <a:xfrm>
            <a:off x="548640" y="2468880"/>
            <a:ext cx="1691640" cy="1737360"/>
          </a:xfrm>
          <a:prstGeom prst="roundRect">
            <a:avLst>
              <a:gd name="adj" fmla="val 4324"/>
            </a:avLst>
          </a:prstGeom>
          <a:solidFill>
            <a:schemeClr val="bg2"/>
          </a:solidFill>
          <a:ln/>
        </p:spPr>
      </p:sp>
      <p:sp>
        <p:nvSpPr>
          <p:cNvPr id="9" name="Text 7"/>
          <p:cNvSpPr txBox="1"/>
          <p:nvPr/>
        </p:nvSpPr>
        <p:spPr>
          <a:xfrm>
            <a:off x="640080" y="2560320"/>
            <a:ext cx="1508760" cy="1554480"/>
          </a:xfrm>
          <a:prstGeom prst="rect">
            <a:avLst/>
          </a:prstGeom>
          <a:noFill/>
          <a:ln/>
        </p:spPr>
        <p:txBody>
          <a:bodyPr wrap="square" lIns="0" tIns="0" rIns="0" bIns="0" rtlCol="0" anchor="ctr"/>
          <a:lstStyle/>
          <a:p>
            <a:pPr marL="0" indent="0" algn="ctr">
              <a:buNone/>
            </a:pPr>
            <a:r>
              <a:rPr lang="en-US" sz="1300" dirty="0">
                <a:solidFill>
                  <a:schemeClr val="tx1"/>
                </a:solidFill>
                <a:latin typeface="Courier New" pitchFamily="34" charset="0"/>
                <a:ea typeface="Courier New" pitchFamily="34" charset="-122"/>
                <a:cs typeface="Courier New" pitchFamily="34" charset="-120"/>
              </a:rPr>
              <a:t>"Python, SQL,</a:t>
            </a:r>
            <a:endParaRPr lang="en-US" sz="1300" dirty="0"/>
          </a:p>
          <a:p>
            <a:pPr marL="0" indent="0" algn="ctr">
              <a:buNone/>
            </a:pPr>
            <a:r>
              <a:rPr lang="en-US" sz="1300" dirty="0">
                <a:solidFill>
                  <a:schemeClr val="tx1"/>
                </a:solidFill>
                <a:latin typeface="Courier New" pitchFamily="34" charset="0"/>
                <a:ea typeface="Courier New" pitchFamily="34" charset="-122"/>
                <a:cs typeface="Courier New" pitchFamily="34" charset="-120"/>
              </a:rPr>
              <a:t>Python, Excel"</a:t>
            </a:r>
            <a:endParaRPr lang="en-US" sz="1300" dirty="0"/>
          </a:p>
        </p:txBody>
      </p:sp>
      <p:sp>
        <p:nvSpPr>
          <p:cNvPr id="10" name="Shape 8"/>
          <p:cNvSpPr/>
          <p:nvPr/>
        </p:nvSpPr>
        <p:spPr>
          <a:xfrm>
            <a:off x="2240280" y="1892808"/>
            <a:ext cx="188366" cy="0"/>
          </a:xfrm>
          <a:prstGeom prst="line">
            <a:avLst/>
          </a:prstGeom>
          <a:noFill/>
          <a:ln w="19050">
            <a:solidFill>
              <a:schemeClr val="tx2"/>
            </a:solidFill>
            <a:prstDash val="solid"/>
            <a:tailEnd type="triangle"/>
          </a:ln>
        </p:spPr>
      </p:sp>
      <p:sp>
        <p:nvSpPr>
          <p:cNvPr id="11" name="Shape 9"/>
          <p:cNvSpPr/>
          <p:nvPr/>
        </p:nvSpPr>
        <p:spPr>
          <a:xfrm>
            <a:off x="2428646" y="1463040"/>
            <a:ext cx="1691640" cy="868680"/>
          </a:xfrm>
          <a:prstGeom prst="roundRect">
            <a:avLst>
              <a:gd name="adj" fmla="val 10526"/>
            </a:avLst>
          </a:prstGeom>
          <a:solidFill>
            <a:schemeClr val="accent2"/>
          </a:solidFill>
          <a:ln/>
        </p:spPr>
      </p:sp>
      <p:sp>
        <p:nvSpPr>
          <p:cNvPr id="12" name="Text 10"/>
          <p:cNvSpPr txBox="1"/>
          <p:nvPr/>
        </p:nvSpPr>
        <p:spPr>
          <a:xfrm>
            <a:off x="2428646" y="1463040"/>
            <a:ext cx="1691640" cy="868680"/>
          </a:xfrm>
          <a:prstGeom prst="rect">
            <a:avLst/>
          </a:prstGeom>
          <a:noFill/>
          <a:ln/>
        </p:spPr>
        <p:txBody>
          <a:bodyPr wrap="square" lIns="0" tIns="0" rIns="0" bIns="0" rtlCol="0" anchor="ctr"/>
          <a:lstStyle/>
          <a:p>
            <a:pPr marL="0" indent="0" algn="ctr">
              <a:buNone/>
            </a:pPr>
            <a:r>
              <a:rPr lang="en-US" sz="1400" b="1" dirty="0">
                <a:solidFill>
                  <a:srgbClr val="FFFFFF"/>
                </a:solidFill>
              </a:rPr>
              <a:t>TOKENIZE</a:t>
            </a:r>
            <a:endParaRPr lang="en-US" sz="1400" dirty="0"/>
          </a:p>
          <a:p>
            <a:pPr marL="0" indent="0" algn="ctr">
              <a:buNone/>
            </a:pPr>
            <a:r>
              <a:rPr lang="en-US" sz="1100" dirty="0">
                <a:solidFill>
                  <a:srgbClr val="E3EEF7"/>
                </a:solidFill>
              </a:rPr>
              <a:t>split on commas</a:t>
            </a:r>
            <a:endParaRPr lang="en-US" sz="1400" dirty="0"/>
          </a:p>
        </p:txBody>
      </p:sp>
      <p:sp>
        <p:nvSpPr>
          <p:cNvPr id="13" name="Example state"/>
          <p:cNvSpPr/>
          <p:nvPr/>
        </p:nvSpPr>
        <p:spPr>
          <a:xfrm>
            <a:off x="2428646" y="2468880"/>
            <a:ext cx="1691640" cy="1737360"/>
          </a:xfrm>
          <a:prstGeom prst="roundRect">
            <a:avLst>
              <a:gd name="adj" fmla="val 4324"/>
            </a:avLst>
          </a:prstGeom>
          <a:solidFill>
            <a:schemeClr val="bg2"/>
          </a:solidFill>
          <a:ln/>
        </p:spPr>
      </p:sp>
      <p:sp>
        <p:nvSpPr>
          <p:cNvPr id="14" name="Text 12"/>
          <p:cNvSpPr txBox="1"/>
          <p:nvPr/>
        </p:nvSpPr>
        <p:spPr>
          <a:xfrm>
            <a:off x="2520086" y="2560320"/>
            <a:ext cx="1508760" cy="1554480"/>
          </a:xfrm>
          <a:prstGeom prst="rect">
            <a:avLst/>
          </a:prstGeom>
          <a:noFill/>
          <a:ln/>
        </p:spPr>
        <p:txBody>
          <a:bodyPr wrap="square" lIns="0" tIns="0" rIns="0" bIns="0" rtlCol="0" anchor="ctr"/>
          <a:lstStyle/>
          <a:p>
            <a:pPr marL="0" indent="0" algn="ctr">
              <a:buNone/>
            </a:pPr>
            <a:r>
              <a:rPr lang="en-US" sz="1300" dirty="0">
                <a:solidFill>
                  <a:schemeClr val="tx1"/>
                </a:solidFill>
                <a:latin typeface="Courier New" pitchFamily="34" charset="0"/>
                <a:ea typeface="Courier New" pitchFamily="34" charset="-122"/>
                <a:cs typeface="Courier New" pitchFamily="34" charset="-120"/>
              </a:rPr>
              <a:t>Python</a:t>
            </a:r>
            <a:endParaRPr lang="en-US" sz="1300" dirty="0"/>
          </a:p>
          <a:p>
            <a:pPr marL="0" indent="0" algn="ctr">
              <a:buNone/>
            </a:pPr>
            <a:r>
              <a:rPr lang="en-US" sz="1300" dirty="0">
                <a:solidFill>
                  <a:schemeClr val="tx1"/>
                </a:solidFill>
                <a:latin typeface="Courier New" pitchFamily="34" charset="0"/>
                <a:ea typeface="Courier New" pitchFamily="34" charset="-122"/>
                <a:cs typeface="Courier New" pitchFamily="34" charset="-120"/>
              </a:rPr>
              <a:t>SQL</a:t>
            </a:r>
            <a:endParaRPr lang="en-US" sz="1300" dirty="0"/>
          </a:p>
          <a:p>
            <a:pPr marL="0" indent="0" algn="ctr">
              <a:buNone/>
            </a:pPr>
            <a:r>
              <a:rPr lang="en-US" sz="1300" dirty="0">
                <a:solidFill>
                  <a:schemeClr val="tx1"/>
                </a:solidFill>
                <a:latin typeface="Courier New" pitchFamily="34" charset="0"/>
                <a:ea typeface="Courier New" pitchFamily="34" charset="-122"/>
                <a:cs typeface="Courier New" pitchFamily="34" charset="-120"/>
              </a:rPr>
              <a:t>Python</a:t>
            </a:r>
            <a:endParaRPr lang="en-US" sz="1300" dirty="0"/>
          </a:p>
          <a:p>
            <a:pPr marL="0" indent="0" algn="ctr">
              <a:buNone/>
            </a:pPr>
            <a:r>
              <a:rPr lang="en-US" sz="1300" dirty="0">
                <a:solidFill>
                  <a:schemeClr val="tx1"/>
                </a:solidFill>
                <a:latin typeface="Courier New" pitchFamily="34" charset="0"/>
                <a:ea typeface="Courier New" pitchFamily="34" charset="-122"/>
                <a:cs typeface="Courier New" pitchFamily="34" charset="-120"/>
              </a:rPr>
              <a:t>Excel</a:t>
            </a:r>
            <a:endParaRPr lang="en-US" sz="1300" dirty="0"/>
          </a:p>
        </p:txBody>
      </p:sp>
      <p:sp>
        <p:nvSpPr>
          <p:cNvPr id="15" name="Shape 13"/>
          <p:cNvSpPr/>
          <p:nvPr/>
        </p:nvSpPr>
        <p:spPr>
          <a:xfrm>
            <a:off x="4120286" y="1892808"/>
            <a:ext cx="188366" cy="0"/>
          </a:xfrm>
          <a:prstGeom prst="line">
            <a:avLst/>
          </a:prstGeom>
          <a:noFill/>
          <a:ln w="19050">
            <a:solidFill>
              <a:schemeClr val="tx2"/>
            </a:solidFill>
            <a:prstDash val="solid"/>
            <a:tailEnd type="triangle"/>
          </a:ln>
        </p:spPr>
      </p:sp>
      <p:sp>
        <p:nvSpPr>
          <p:cNvPr id="16" name="Shape 14"/>
          <p:cNvSpPr/>
          <p:nvPr/>
        </p:nvSpPr>
        <p:spPr>
          <a:xfrm>
            <a:off x="4308653" y="1463040"/>
            <a:ext cx="1691640" cy="868680"/>
          </a:xfrm>
          <a:prstGeom prst="roundRect">
            <a:avLst>
              <a:gd name="adj" fmla="val 10526"/>
            </a:avLst>
          </a:prstGeom>
          <a:solidFill>
            <a:schemeClr val="accent2"/>
          </a:solidFill>
          <a:ln/>
        </p:spPr>
      </p:sp>
      <p:sp>
        <p:nvSpPr>
          <p:cNvPr id="17" name="Text 15"/>
          <p:cNvSpPr txBox="1"/>
          <p:nvPr/>
        </p:nvSpPr>
        <p:spPr>
          <a:xfrm>
            <a:off x="4308653" y="1463040"/>
            <a:ext cx="1691640" cy="868680"/>
          </a:xfrm>
          <a:prstGeom prst="rect">
            <a:avLst/>
          </a:prstGeom>
          <a:noFill/>
          <a:ln/>
        </p:spPr>
        <p:txBody>
          <a:bodyPr wrap="square" lIns="0" tIns="0" rIns="0" bIns="0" rtlCol="0" anchor="ctr"/>
          <a:lstStyle/>
          <a:p>
            <a:pPr marL="0" indent="0" algn="ctr">
              <a:buNone/>
            </a:pPr>
            <a:r>
              <a:rPr lang="en-US" sz="1400" b="1" dirty="0">
                <a:solidFill>
                  <a:srgbClr val="FFFFFF"/>
                </a:solidFill>
              </a:rPr>
              <a:t>FLATTEN</a:t>
            </a:r>
            <a:endParaRPr lang="en-US" sz="1400" dirty="0"/>
          </a:p>
          <a:p>
            <a:pPr marL="0" indent="0" algn="ctr">
              <a:buNone/>
            </a:pPr>
            <a:r>
              <a:rPr lang="en-US" sz="1100" dirty="0">
                <a:solidFill>
                  <a:srgbClr val="E3EEF7"/>
                </a:solidFill>
              </a:rPr>
              <a:t>one skill per row</a:t>
            </a:r>
            <a:endParaRPr lang="en-US" sz="1400" dirty="0"/>
          </a:p>
        </p:txBody>
      </p:sp>
      <p:sp>
        <p:nvSpPr>
          <p:cNvPr id="18" name="Example state"/>
          <p:cNvSpPr/>
          <p:nvPr/>
        </p:nvSpPr>
        <p:spPr>
          <a:xfrm>
            <a:off x="4308653" y="2468880"/>
            <a:ext cx="1691640" cy="1737360"/>
          </a:xfrm>
          <a:prstGeom prst="roundRect">
            <a:avLst>
              <a:gd name="adj" fmla="val 4324"/>
            </a:avLst>
          </a:prstGeom>
          <a:solidFill>
            <a:schemeClr val="bg2"/>
          </a:solidFill>
          <a:ln/>
        </p:spPr>
      </p:sp>
      <p:sp>
        <p:nvSpPr>
          <p:cNvPr id="19" name="Text 17"/>
          <p:cNvSpPr txBox="1"/>
          <p:nvPr/>
        </p:nvSpPr>
        <p:spPr>
          <a:xfrm>
            <a:off x="4400093" y="2560320"/>
            <a:ext cx="1508760" cy="1554480"/>
          </a:xfrm>
          <a:prstGeom prst="rect">
            <a:avLst/>
          </a:prstGeom>
          <a:noFill/>
          <a:ln/>
        </p:spPr>
        <p:txBody>
          <a:bodyPr wrap="square" lIns="0" tIns="0" rIns="0" bIns="0" rtlCol="0" anchor="ctr"/>
          <a:lstStyle/>
          <a:p>
            <a:pPr marL="0" indent="0" algn="ctr">
              <a:buNone/>
            </a:pPr>
            <a:r>
              <a:rPr lang="en-US" sz="1300" dirty="0">
                <a:solidFill>
                  <a:schemeClr val="tx1"/>
                </a:solidFill>
                <a:latin typeface="Courier New" pitchFamily="34" charset="0"/>
                <a:ea typeface="Courier New" pitchFamily="34" charset="-122"/>
                <a:cs typeface="Courier New" pitchFamily="34" charset="-120"/>
              </a:rPr>
              <a:t>4 rows</a:t>
            </a:r>
            <a:endParaRPr lang="en-US" sz="1300" dirty="0"/>
          </a:p>
          <a:p>
            <a:pPr marL="0" indent="0" algn="ctr">
              <a:buNone/>
            </a:pPr>
            <a:r>
              <a:rPr lang="en-US" sz="1300" dirty="0">
                <a:solidFill>
                  <a:schemeClr val="tx1"/>
                </a:solidFill>
                <a:latin typeface="Courier New" pitchFamily="34" charset="0"/>
                <a:ea typeface="Courier New" pitchFamily="34" charset="-122"/>
                <a:cs typeface="Courier New" pitchFamily="34" charset="-120"/>
              </a:rPr>
              <a:t>(1 per skill)</a:t>
            </a:r>
            <a:endParaRPr lang="en-US" sz="1300" dirty="0"/>
          </a:p>
        </p:txBody>
      </p:sp>
      <p:sp>
        <p:nvSpPr>
          <p:cNvPr id="20" name="Shape 18"/>
          <p:cNvSpPr/>
          <p:nvPr/>
        </p:nvSpPr>
        <p:spPr>
          <a:xfrm>
            <a:off x="6000293" y="1892808"/>
            <a:ext cx="188366" cy="0"/>
          </a:xfrm>
          <a:prstGeom prst="line">
            <a:avLst/>
          </a:prstGeom>
          <a:noFill/>
          <a:ln w="19050">
            <a:solidFill>
              <a:schemeClr val="tx2"/>
            </a:solidFill>
            <a:prstDash val="solid"/>
            <a:tailEnd type="triangle"/>
          </a:ln>
        </p:spPr>
      </p:sp>
      <p:sp>
        <p:nvSpPr>
          <p:cNvPr id="21" name="Shape 19"/>
          <p:cNvSpPr/>
          <p:nvPr/>
        </p:nvSpPr>
        <p:spPr>
          <a:xfrm>
            <a:off x="6188659" y="1463040"/>
            <a:ext cx="1691640" cy="868680"/>
          </a:xfrm>
          <a:prstGeom prst="roundRect">
            <a:avLst>
              <a:gd name="adj" fmla="val 10526"/>
            </a:avLst>
          </a:prstGeom>
          <a:solidFill>
            <a:schemeClr val="accent2"/>
          </a:solidFill>
          <a:ln/>
        </p:spPr>
      </p:sp>
      <p:sp>
        <p:nvSpPr>
          <p:cNvPr id="22" name="Text 20"/>
          <p:cNvSpPr txBox="1"/>
          <p:nvPr/>
        </p:nvSpPr>
        <p:spPr>
          <a:xfrm>
            <a:off x="6188659" y="1463040"/>
            <a:ext cx="1691640" cy="868680"/>
          </a:xfrm>
          <a:prstGeom prst="rect">
            <a:avLst/>
          </a:prstGeom>
          <a:noFill/>
          <a:ln/>
        </p:spPr>
        <p:txBody>
          <a:bodyPr wrap="square" lIns="0" tIns="0" rIns="0" bIns="0" rtlCol="0" anchor="ctr"/>
          <a:lstStyle/>
          <a:p>
            <a:pPr marL="0" indent="0" algn="ctr">
              <a:buNone/>
            </a:pPr>
            <a:r>
              <a:rPr lang="en-US" sz="1400" b="1" dirty="0">
                <a:solidFill>
                  <a:srgbClr val="FFFFFF"/>
                </a:solidFill>
              </a:rPr>
              <a:t>TRIM + LOWER</a:t>
            </a:r>
            <a:endParaRPr lang="en-US" sz="1400" dirty="0"/>
          </a:p>
          <a:p>
            <a:pPr marL="0" indent="0" algn="ctr">
              <a:buNone/>
            </a:pPr>
            <a:r>
              <a:rPr lang="en-US" sz="1100" dirty="0">
                <a:solidFill>
                  <a:srgbClr val="E3EEF7"/>
                </a:solidFill>
              </a:rPr>
              <a:t>standardize</a:t>
            </a:r>
            <a:endParaRPr lang="en-US" sz="1400" dirty="0"/>
          </a:p>
        </p:txBody>
      </p:sp>
      <p:sp>
        <p:nvSpPr>
          <p:cNvPr id="23" name="Example state"/>
          <p:cNvSpPr/>
          <p:nvPr/>
        </p:nvSpPr>
        <p:spPr>
          <a:xfrm>
            <a:off x="6188659" y="2468880"/>
            <a:ext cx="1691640" cy="1737360"/>
          </a:xfrm>
          <a:prstGeom prst="roundRect">
            <a:avLst>
              <a:gd name="adj" fmla="val 4324"/>
            </a:avLst>
          </a:prstGeom>
          <a:solidFill>
            <a:schemeClr val="bg2"/>
          </a:solidFill>
          <a:ln/>
        </p:spPr>
      </p:sp>
      <p:sp>
        <p:nvSpPr>
          <p:cNvPr id="24" name="Text 22"/>
          <p:cNvSpPr txBox="1"/>
          <p:nvPr/>
        </p:nvSpPr>
        <p:spPr>
          <a:xfrm>
            <a:off x="6280099" y="2560320"/>
            <a:ext cx="1508760" cy="1554480"/>
          </a:xfrm>
          <a:prstGeom prst="rect">
            <a:avLst/>
          </a:prstGeom>
          <a:noFill/>
          <a:ln/>
        </p:spPr>
        <p:txBody>
          <a:bodyPr wrap="square" lIns="0" tIns="0" rIns="0" bIns="0" rtlCol="0" anchor="ctr"/>
          <a:lstStyle/>
          <a:p>
            <a:pPr marL="0" indent="0" algn="ctr">
              <a:buNone/>
            </a:pPr>
            <a:r>
              <a:rPr lang="en-US" sz="1300" dirty="0">
                <a:solidFill>
                  <a:schemeClr val="tx1"/>
                </a:solidFill>
                <a:latin typeface="Courier New" pitchFamily="34" charset="0"/>
                <a:ea typeface="Courier New" pitchFamily="34" charset="-122"/>
                <a:cs typeface="Courier New" pitchFamily="34" charset="-120"/>
              </a:rPr>
              <a:t>python</a:t>
            </a:r>
            <a:endParaRPr lang="en-US" sz="1300" dirty="0"/>
          </a:p>
          <a:p>
            <a:pPr marL="0" indent="0" algn="ctr">
              <a:buNone/>
            </a:pPr>
            <a:r>
              <a:rPr lang="en-US" sz="1300" dirty="0">
                <a:solidFill>
                  <a:schemeClr val="tx1"/>
                </a:solidFill>
                <a:latin typeface="Courier New" pitchFamily="34" charset="0"/>
                <a:ea typeface="Courier New" pitchFamily="34" charset="-122"/>
                <a:cs typeface="Courier New" pitchFamily="34" charset="-120"/>
              </a:rPr>
              <a:t>sql</a:t>
            </a:r>
            <a:endParaRPr lang="en-US" sz="1300" dirty="0"/>
          </a:p>
          <a:p>
            <a:pPr marL="0" indent="0" algn="ctr">
              <a:buNone/>
            </a:pPr>
            <a:r>
              <a:rPr lang="en-US" sz="1300" dirty="0">
                <a:solidFill>
                  <a:schemeClr val="tx1"/>
                </a:solidFill>
                <a:latin typeface="Courier New" pitchFamily="34" charset="0"/>
                <a:ea typeface="Courier New" pitchFamily="34" charset="-122"/>
                <a:cs typeface="Courier New" pitchFamily="34" charset="-120"/>
              </a:rPr>
              <a:t>python</a:t>
            </a:r>
            <a:endParaRPr lang="en-US" sz="1300" dirty="0"/>
          </a:p>
          <a:p>
            <a:pPr marL="0" indent="0" algn="ctr">
              <a:buNone/>
            </a:pPr>
            <a:r>
              <a:rPr lang="en-US" sz="1300" dirty="0">
                <a:solidFill>
                  <a:schemeClr val="tx1"/>
                </a:solidFill>
                <a:latin typeface="Courier New" pitchFamily="34" charset="0"/>
                <a:ea typeface="Courier New" pitchFamily="34" charset="-122"/>
                <a:cs typeface="Courier New" pitchFamily="34" charset="-120"/>
              </a:rPr>
              <a:t>excel</a:t>
            </a:r>
            <a:endParaRPr lang="en-US" sz="1300" dirty="0"/>
          </a:p>
        </p:txBody>
      </p:sp>
      <p:sp>
        <p:nvSpPr>
          <p:cNvPr id="25" name="Shape 23"/>
          <p:cNvSpPr/>
          <p:nvPr/>
        </p:nvSpPr>
        <p:spPr>
          <a:xfrm>
            <a:off x="7880299" y="1892808"/>
            <a:ext cx="188366" cy="0"/>
          </a:xfrm>
          <a:prstGeom prst="line">
            <a:avLst/>
          </a:prstGeom>
          <a:noFill/>
          <a:ln w="19050">
            <a:solidFill>
              <a:schemeClr val="tx2"/>
            </a:solidFill>
            <a:prstDash val="solid"/>
            <a:tailEnd type="triangle"/>
          </a:ln>
        </p:spPr>
      </p:sp>
      <p:sp>
        <p:nvSpPr>
          <p:cNvPr id="26" name="Shape 24"/>
          <p:cNvSpPr/>
          <p:nvPr/>
        </p:nvSpPr>
        <p:spPr>
          <a:xfrm>
            <a:off x="8068666" y="1463040"/>
            <a:ext cx="1691640" cy="868680"/>
          </a:xfrm>
          <a:prstGeom prst="roundRect">
            <a:avLst>
              <a:gd name="adj" fmla="val 10526"/>
            </a:avLst>
          </a:prstGeom>
          <a:solidFill>
            <a:schemeClr val="accent2"/>
          </a:solidFill>
          <a:ln/>
        </p:spPr>
      </p:sp>
      <p:sp>
        <p:nvSpPr>
          <p:cNvPr id="27" name="Text 25"/>
          <p:cNvSpPr txBox="1"/>
          <p:nvPr/>
        </p:nvSpPr>
        <p:spPr>
          <a:xfrm>
            <a:off x="8068666" y="1463040"/>
            <a:ext cx="1691640" cy="868680"/>
          </a:xfrm>
          <a:prstGeom prst="rect">
            <a:avLst/>
          </a:prstGeom>
          <a:noFill/>
          <a:ln/>
        </p:spPr>
        <p:txBody>
          <a:bodyPr wrap="square" lIns="0" tIns="0" rIns="0" bIns="0" rtlCol="0" anchor="ctr"/>
          <a:lstStyle/>
          <a:p>
            <a:pPr marL="0" indent="0" algn="ctr">
              <a:buNone/>
            </a:pPr>
            <a:r>
              <a:rPr lang="en-US" sz="1400" b="1" dirty="0">
                <a:solidFill>
                  <a:srgbClr val="FFFFFF"/>
                </a:solidFill>
              </a:rPr>
              <a:t>FILTER</a:t>
            </a:r>
            <a:endParaRPr lang="en-US" sz="1400" dirty="0"/>
          </a:p>
          <a:p>
            <a:pPr marL="0" indent="0" algn="ctr">
              <a:buNone/>
            </a:pPr>
            <a:r>
              <a:rPr lang="en-US" sz="1100" dirty="0">
                <a:solidFill>
                  <a:srgbClr val="E3EEF7"/>
                </a:solidFill>
              </a:rPr>
              <a:t>drop empty skills</a:t>
            </a:r>
            <a:endParaRPr lang="en-US" sz="1400" dirty="0"/>
          </a:p>
        </p:txBody>
      </p:sp>
      <p:sp>
        <p:nvSpPr>
          <p:cNvPr id="28" name="Example state"/>
          <p:cNvSpPr/>
          <p:nvPr/>
        </p:nvSpPr>
        <p:spPr>
          <a:xfrm>
            <a:off x="8068666" y="2468880"/>
            <a:ext cx="1691640" cy="1737360"/>
          </a:xfrm>
          <a:prstGeom prst="roundRect">
            <a:avLst>
              <a:gd name="adj" fmla="val 4324"/>
            </a:avLst>
          </a:prstGeom>
          <a:solidFill>
            <a:schemeClr val="bg2"/>
          </a:solidFill>
          <a:ln/>
        </p:spPr>
      </p:sp>
      <p:sp>
        <p:nvSpPr>
          <p:cNvPr id="29" name="Text 27"/>
          <p:cNvSpPr txBox="1"/>
          <p:nvPr/>
        </p:nvSpPr>
        <p:spPr>
          <a:xfrm>
            <a:off x="8160106" y="2560320"/>
            <a:ext cx="1508760" cy="1554480"/>
          </a:xfrm>
          <a:prstGeom prst="rect">
            <a:avLst/>
          </a:prstGeom>
          <a:noFill/>
          <a:ln/>
        </p:spPr>
        <p:txBody>
          <a:bodyPr wrap="square" lIns="0" tIns="0" rIns="0" bIns="0" rtlCol="0" anchor="ctr"/>
          <a:lstStyle/>
          <a:p>
            <a:pPr marL="0" indent="0" algn="ctr">
              <a:buNone/>
            </a:pPr>
            <a:r>
              <a:rPr lang="en-US" sz="1300" dirty="0">
                <a:solidFill>
                  <a:schemeClr val="tx1"/>
                </a:solidFill>
                <a:latin typeface="Courier New" pitchFamily="34" charset="0"/>
                <a:ea typeface="Courier New" pitchFamily="34" charset="-122"/>
                <a:cs typeface="Courier New" pitchFamily="34" charset="-120"/>
              </a:rPr>
              <a:t>no empty</a:t>
            </a:r>
            <a:endParaRPr lang="en-US" sz="1300" dirty="0"/>
          </a:p>
          <a:p>
            <a:pPr marL="0" indent="0" algn="ctr">
              <a:buNone/>
            </a:pPr>
            <a:r>
              <a:rPr lang="en-US" sz="1300" dirty="0">
                <a:solidFill>
                  <a:schemeClr val="tx1"/>
                </a:solidFill>
                <a:latin typeface="Courier New" pitchFamily="34" charset="0"/>
                <a:ea typeface="Courier New" pitchFamily="34" charset="-122"/>
                <a:cs typeface="Courier New" pitchFamily="34" charset="-120"/>
              </a:rPr>
              <a:t>strings kept</a:t>
            </a:r>
            <a:endParaRPr lang="en-US" sz="1300" dirty="0"/>
          </a:p>
        </p:txBody>
      </p:sp>
      <p:sp>
        <p:nvSpPr>
          <p:cNvPr id="30" name="Shape 28"/>
          <p:cNvSpPr/>
          <p:nvPr/>
        </p:nvSpPr>
        <p:spPr>
          <a:xfrm>
            <a:off x="9760306" y="1892808"/>
            <a:ext cx="188366" cy="0"/>
          </a:xfrm>
          <a:prstGeom prst="line">
            <a:avLst/>
          </a:prstGeom>
          <a:noFill/>
          <a:ln w="19050">
            <a:solidFill>
              <a:schemeClr val="tx2"/>
            </a:solidFill>
            <a:prstDash val="solid"/>
            <a:tailEnd type="triangle"/>
          </a:ln>
        </p:spPr>
      </p:sp>
      <p:sp>
        <p:nvSpPr>
          <p:cNvPr id="31" name="Shape 29"/>
          <p:cNvSpPr/>
          <p:nvPr/>
        </p:nvSpPr>
        <p:spPr>
          <a:xfrm>
            <a:off x="9948672" y="1463040"/>
            <a:ext cx="1691640" cy="868680"/>
          </a:xfrm>
          <a:prstGeom prst="roundRect">
            <a:avLst>
              <a:gd name="adj" fmla="val 10526"/>
            </a:avLst>
          </a:prstGeom>
          <a:solidFill>
            <a:schemeClr val="accent6"/>
          </a:solidFill>
          <a:ln/>
        </p:spPr>
      </p:sp>
      <p:sp>
        <p:nvSpPr>
          <p:cNvPr id="32" name="Text 30"/>
          <p:cNvSpPr txBox="1"/>
          <p:nvPr/>
        </p:nvSpPr>
        <p:spPr>
          <a:xfrm>
            <a:off x="9948672" y="1463040"/>
            <a:ext cx="1691640" cy="868680"/>
          </a:xfrm>
          <a:prstGeom prst="rect">
            <a:avLst/>
          </a:prstGeom>
          <a:noFill/>
          <a:ln/>
        </p:spPr>
        <p:txBody>
          <a:bodyPr wrap="square" lIns="0" tIns="0" rIns="0" bIns="0" rtlCol="0" anchor="ctr"/>
          <a:lstStyle/>
          <a:p>
            <a:pPr marL="0" indent="0" algn="ctr">
              <a:buNone/>
            </a:pPr>
            <a:r>
              <a:rPr lang="en-US" sz="1400" b="1" dirty="0">
                <a:solidFill>
                  <a:srgbClr val="FFFFFF"/>
                </a:solidFill>
              </a:rPr>
              <a:t>DISTINCT</a:t>
            </a:r>
            <a:endParaRPr lang="en-US" sz="1400" dirty="0"/>
          </a:p>
          <a:p>
            <a:pPr marL="0" indent="0" algn="ctr">
              <a:buNone/>
            </a:pPr>
            <a:r>
              <a:rPr lang="en-US" sz="1100" dirty="0">
                <a:solidFill>
                  <a:srgbClr val="E3EEF7"/>
                </a:solidFill>
              </a:rPr>
              <a:t>per job + skill</a:t>
            </a:r>
            <a:endParaRPr lang="en-US" sz="1400" dirty="0"/>
          </a:p>
        </p:txBody>
      </p:sp>
      <p:sp>
        <p:nvSpPr>
          <p:cNvPr id="33" name="Example state"/>
          <p:cNvSpPr/>
          <p:nvPr/>
        </p:nvSpPr>
        <p:spPr>
          <a:xfrm>
            <a:off x="9948672" y="2468880"/>
            <a:ext cx="1691640" cy="1737360"/>
          </a:xfrm>
          <a:prstGeom prst="roundRect">
            <a:avLst>
              <a:gd name="adj" fmla="val 4324"/>
            </a:avLst>
          </a:prstGeom>
          <a:solidFill>
            <a:schemeClr val="bg2"/>
          </a:solidFill>
          <a:ln/>
        </p:spPr>
      </p:sp>
      <p:sp>
        <p:nvSpPr>
          <p:cNvPr id="34" name="Text 32"/>
          <p:cNvSpPr txBox="1"/>
          <p:nvPr/>
        </p:nvSpPr>
        <p:spPr>
          <a:xfrm>
            <a:off x="10040112" y="2560320"/>
            <a:ext cx="1508760" cy="1554480"/>
          </a:xfrm>
          <a:prstGeom prst="rect">
            <a:avLst/>
          </a:prstGeom>
          <a:noFill/>
          <a:ln/>
        </p:spPr>
        <p:txBody>
          <a:bodyPr wrap="square" lIns="0" tIns="0" rIns="0" bIns="0" rtlCol="0" anchor="ctr"/>
          <a:lstStyle/>
          <a:p>
            <a:pPr marL="0" indent="0" algn="ctr">
              <a:buNone/>
            </a:pPr>
            <a:r>
              <a:rPr lang="en-US" sz="1300" dirty="0">
                <a:solidFill>
                  <a:schemeClr val="tx1"/>
                </a:solidFill>
                <a:latin typeface="Courier New" pitchFamily="34" charset="0"/>
                <a:ea typeface="Courier New" pitchFamily="34" charset="-122"/>
                <a:cs typeface="Courier New" pitchFamily="34" charset="-120"/>
              </a:rPr>
              <a:t>python</a:t>
            </a:r>
            <a:endParaRPr lang="en-US" sz="1300" dirty="0"/>
          </a:p>
          <a:p>
            <a:pPr marL="0" indent="0" algn="ctr">
              <a:buNone/>
            </a:pPr>
            <a:r>
              <a:rPr lang="en-US" sz="1300" dirty="0">
                <a:solidFill>
                  <a:schemeClr val="tx1"/>
                </a:solidFill>
                <a:latin typeface="Courier New" pitchFamily="34" charset="0"/>
                <a:ea typeface="Courier New" pitchFamily="34" charset="-122"/>
                <a:cs typeface="Courier New" pitchFamily="34" charset="-120"/>
              </a:rPr>
              <a:t>sql</a:t>
            </a:r>
            <a:endParaRPr lang="en-US" sz="1300" dirty="0"/>
          </a:p>
          <a:p>
            <a:pPr marL="0" indent="0" algn="ctr">
              <a:buNone/>
            </a:pPr>
            <a:r>
              <a:rPr lang="en-US" sz="1300" dirty="0">
                <a:solidFill>
                  <a:schemeClr val="tx1"/>
                </a:solidFill>
                <a:latin typeface="Courier New" pitchFamily="34" charset="0"/>
                <a:ea typeface="Courier New" pitchFamily="34" charset="-122"/>
                <a:cs typeface="Courier New" pitchFamily="34" charset="-120"/>
              </a:rPr>
              <a:t>excel</a:t>
            </a:r>
            <a:endParaRPr lang="en-US" sz="1300" dirty="0"/>
          </a:p>
        </p:txBody>
      </p:sp>
      <p:sp>
        <p:nvSpPr>
          <p:cNvPr id="35" name="Shape 33"/>
          <p:cNvSpPr/>
          <p:nvPr/>
        </p:nvSpPr>
        <p:spPr>
          <a:xfrm>
            <a:off x="548640" y="4389120"/>
            <a:ext cx="2011680" cy="274320"/>
          </a:xfrm>
          <a:prstGeom prst="roundRect">
            <a:avLst>
              <a:gd name="adj" fmla="val 50000"/>
            </a:avLst>
          </a:prstGeom>
          <a:solidFill>
            <a:schemeClr val="accent3"/>
          </a:solidFill>
          <a:ln/>
        </p:spPr>
      </p:sp>
      <p:sp>
        <p:nvSpPr>
          <p:cNvPr id="36" name="Text 34"/>
          <p:cNvSpPr txBox="1"/>
          <p:nvPr/>
        </p:nvSpPr>
        <p:spPr>
          <a:xfrm>
            <a:off x="548640" y="4389120"/>
            <a:ext cx="2011680" cy="274320"/>
          </a:xfrm>
          <a:prstGeom prst="rect">
            <a:avLst/>
          </a:prstGeom>
          <a:noFill/>
          <a:ln/>
        </p:spPr>
        <p:txBody>
          <a:bodyPr wrap="square" lIns="0" tIns="0" rIns="0" bIns="0" rtlCol="0" anchor="ctr"/>
          <a:lstStyle/>
          <a:p>
            <a:pPr marL="0" indent="0" algn="ctr">
              <a:buNone/>
            </a:pPr>
            <a:r>
              <a:rPr lang="en-US" sz="1100" b="1" dirty="0">
                <a:solidFill>
                  <a:schemeClr val="tx2"/>
                </a:solidFill>
              </a:rPr>
              <a:t>Illustrative example</a:t>
            </a:r>
            <a:endParaRPr lang="en-US" sz="1100" dirty="0"/>
          </a:p>
        </p:txBody>
      </p:sp>
      <p:sp>
        <p:nvSpPr>
          <p:cNvPr id="37" name="Shape 35"/>
          <p:cNvSpPr/>
          <p:nvPr/>
        </p:nvSpPr>
        <p:spPr>
          <a:xfrm>
            <a:off x="548640" y="4846320"/>
            <a:ext cx="5486400" cy="1234440"/>
          </a:xfrm>
          <a:prstGeom prst="roundRect">
            <a:avLst>
              <a:gd name="adj" fmla="val 7407"/>
            </a:avLst>
          </a:prstGeom>
          <a:solidFill>
            <a:schemeClr val="tx2"/>
          </a:solidFill>
          <a:ln/>
        </p:spPr>
      </p:sp>
      <p:sp>
        <p:nvSpPr>
          <p:cNvPr id="38" name="Text 36"/>
          <p:cNvSpPr txBox="1"/>
          <p:nvPr/>
        </p:nvSpPr>
        <p:spPr>
          <a:xfrm>
            <a:off x="777240" y="4846320"/>
            <a:ext cx="5029200" cy="1234440"/>
          </a:xfrm>
          <a:prstGeom prst="rect">
            <a:avLst/>
          </a:prstGeom>
          <a:noFill/>
          <a:ln/>
        </p:spPr>
        <p:txBody>
          <a:bodyPr wrap="square" lIns="0" tIns="0" rIns="0" bIns="0" rtlCol="0" anchor="ctr"/>
          <a:lstStyle/>
          <a:p>
            <a:pPr marL="0" indent="0">
              <a:buNone/>
            </a:pPr>
            <a:r>
              <a:rPr lang="en-US" sz="1600" b="1" dirty="0">
                <a:solidFill>
                  <a:srgbClr val="F2A93B"/>
                </a:solidFill>
              </a:rPr>
              <a:t>Why DISTINCT?</a:t>
            </a:r>
            <a:endParaRPr lang="en-US" sz="1400" dirty="0"/>
          </a:p>
          <a:p>
            <a:pPr marL="0" indent="0">
              <a:buNone/>
            </a:pPr>
            <a:r>
              <a:rPr lang="en-US" sz="1400" dirty="0">
                <a:solidFill>
                  <a:srgbClr val="FFFFFF"/>
                </a:solidFill>
              </a:rPr>
              <a:t>A posting votes at most once for each skill, so repeated mentions cannot inflate that job's skill count.</a:t>
            </a:r>
            <a:endParaRPr lang="en-US" sz="1400" dirty="0"/>
          </a:p>
        </p:txBody>
      </p:sp>
      <p:sp>
        <p:nvSpPr>
          <p:cNvPr id="39" name="Code block"/>
          <p:cNvSpPr/>
          <p:nvPr/>
        </p:nvSpPr>
        <p:spPr>
          <a:xfrm>
            <a:off x="6263640" y="4389120"/>
            <a:ext cx="5394960" cy="1691640"/>
          </a:xfrm>
          <a:prstGeom prst="roundRect">
            <a:avLst>
              <a:gd name="adj" fmla="val 5405"/>
            </a:avLst>
          </a:prstGeom>
          <a:solidFill>
            <a:srgbClr val="0B1F3A"/>
          </a:solidFill>
          <a:ln/>
        </p:spPr>
      </p:sp>
      <p:sp>
        <p:nvSpPr>
          <p:cNvPr id="40" name="Text 38"/>
          <p:cNvSpPr txBox="1"/>
          <p:nvPr/>
        </p:nvSpPr>
        <p:spPr>
          <a:xfrm>
            <a:off x="6464808" y="4572000"/>
            <a:ext cx="4992624" cy="1325880"/>
          </a:xfrm>
          <a:prstGeom prst="rect">
            <a:avLst/>
          </a:prstGeom>
          <a:noFill/>
          <a:ln/>
        </p:spPr>
        <p:txBody>
          <a:bodyPr wrap="square" lIns="0" tIns="0" rIns="0" bIns="0" rtlCol="0" anchor="t"/>
          <a:lstStyle/>
          <a:p>
            <a:pPr marL="0" indent="0">
              <a:buNone/>
            </a:pPr>
            <a:r>
              <a:rPr lang="en-US" sz="1200" dirty="0">
                <a:solidFill>
                  <a:srgbClr val="E6EEF7"/>
                </a:solidFill>
                <a:latin typeface="Courier New" pitchFamily="34" charset="0"/>
                <a:ea typeface="Courier New" pitchFamily="34" charset="-122"/>
                <a:cs typeface="Courier New" pitchFamily="34" charset="-120"/>
              </a:rPr>
              <a:t>skills = </a:t>
            </a:r>
            <a:r>
              <a:rPr lang="en-US" sz="1200" dirty="0">
                <a:solidFill>
                  <a:srgbClr val="7CC4FF"/>
                </a:solidFill>
                <a:latin typeface="Courier New" pitchFamily="34" charset="0"/>
                <a:ea typeface="Courier New" pitchFamily="34" charset="-122"/>
                <a:cs typeface="Courier New" pitchFamily="34" charset="-120"/>
              </a:rPr>
              <a:t>FOREACH</a:t>
            </a:r>
            <a:r>
              <a:rPr lang="en-US" sz="1200" dirty="0">
                <a:solidFill>
                  <a:srgbClr val="E6EEF7"/>
                </a:solidFill>
                <a:latin typeface="Courier New" pitchFamily="34" charset="0"/>
                <a:ea typeface="Courier New" pitchFamily="34" charset="-122"/>
                <a:cs typeface="Courier New" pitchFamily="34" charset="-120"/>
              </a:rPr>
              <a:t> jobs </a:t>
            </a:r>
            <a:r>
              <a:rPr lang="en-US" sz="1200" dirty="0">
                <a:solidFill>
                  <a:srgbClr val="7CC4FF"/>
                </a:solidFill>
                <a:latin typeface="Courier New" pitchFamily="34" charset="0"/>
                <a:ea typeface="Courier New" pitchFamily="34" charset="-122"/>
                <a:cs typeface="Courier New" pitchFamily="34" charset="-120"/>
              </a:rPr>
              <a:t>GENERATE</a:t>
            </a:r>
            <a:r>
              <a:rPr lang="en-US" sz="1200" dirty="0">
                <a:solidFill>
                  <a:srgbClr val="E6EEF7"/>
                </a:solidFill>
                <a:latin typeface="Courier New" pitchFamily="34" charset="0"/>
                <a:ea typeface="Courier New" pitchFamily="34" charset="-122"/>
                <a:cs typeface="Courier New" pitchFamily="34" charset="-120"/>
              </a:rPr>
              <a:t> job_id,</a:t>
            </a:r>
            <a:r>
              <a:rPr lang="en-US" sz="1200" dirty="0">
                <a:solidFill>
                  <a:srgbClr val="000000"/>
                </a:solidFill>
                <a:latin typeface="Courier New" pitchFamily="34" charset="0"/>
                <a:ea typeface="Courier New" pitchFamily="34" charset="-122"/>
                <a:cs typeface="Courier New" pitchFamily="34" charset="-120"/>
              </a:rPr>
              <a:t>
</a:t>
            </a:r>
            <a:r>
              <a:rPr lang="en-US" sz="1200" dirty="0">
                <a:solidFill>
                  <a:srgbClr val="E6EEF7"/>
                </a:solidFill>
                <a:latin typeface="Courier New" pitchFamily="34" charset="0"/>
                <a:ea typeface="Courier New" pitchFamily="34" charset="-122"/>
                <a:cs typeface="Courier New" pitchFamily="34" charset="-120"/>
              </a:rPr>
              <a:t>    </a:t>
            </a:r>
            <a:r>
              <a:rPr lang="en-US" sz="1200" dirty="0">
                <a:solidFill>
                  <a:srgbClr val="7CC4FF"/>
                </a:solidFill>
                <a:latin typeface="Courier New" pitchFamily="34" charset="0"/>
                <a:ea typeface="Courier New" pitchFamily="34" charset="-122"/>
                <a:cs typeface="Courier New" pitchFamily="34" charset="-120"/>
              </a:rPr>
              <a:t>FLATTEN</a:t>
            </a:r>
            <a:r>
              <a:rPr lang="en-US" sz="1200" dirty="0">
                <a:solidFill>
                  <a:srgbClr val="E6EEF7"/>
                </a:solidFill>
                <a:latin typeface="Courier New" pitchFamily="34" charset="0"/>
                <a:ea typeface="Courier New" pitchFamily="34" charset="-122"/>
                <a:cs typeface="Courier New" pitchFamily="34" charset="-120"/>
              </a:rPr>
              <a:t>(</a:t>
            </a:r>
            <a:r>
              <a:rPr lang="en-US" sz="1200" dirty="0">
                <a:solidFill>
                  <a:srgbClr val="F2C46D"/>
                </a:solidFill>
                <a:latin typeface="Courier New" pitchFamily="34" charset="0"/>
                <a:ea typeface="Courier New" pitchFamily="34" charset="-122"/>
                <a:cs typeface="Courier New" pitchFamily="34" charset="-120"/>
              </a:rPr>
              <a:t>TOKENIZE</a:t>
            </a:r>
            <a:r>
              <a:rPr lang="en-US" sz="1200" dirty="0">
                <a:solidFill>
                  <a:srgbClr val="E6EEF7"/>
                </a:solidFill>
                <a:latin typeface="Courier New" pitchFamily="34" charset="0"/>
                <a:ea typeface="Courier New" pitchFamily="34" charset="-122"/>
                <a:cs typeface="Courier New" pitchFamily="34" charset="-120"/>
              </a:rPr>
              <a:t>(skills, </a:t>
            </a:r>
            <a:r>
              <a:rPr lang="en-US" sz="1200" dirty="0">
                <a:solidFill>
                  <a:srgbClr val="9BE3A8"/>
                </a:solidFill>
                <a:latin typeface="Courier New" pitchFamily="34" charset="0"/>
                <a:ea typeface="Courier New" pitchFamily="34" charset="-122"/>
                <a:cs typeface="Courier New" pitchFamily="34" charset="-120"/>
              </a:rPr>
              <a:t>','</a:t>
            </a:r>
            <a:r>
              <a:rPr lang="en-US" sz="1200" dirty="0">
                <a:solidFill>
                  <a:srgbClr val="E6EEF7"/>
                </a:solidFill>
                <a:latin typeface="Courier New" pitchFamily="34" charset="0"/>
                <a:ea typeface="Courier New" pitchFamily="34" charset="-122"/>
                <a:cs typeface="Courier New" pitchFamily="34" charset="-120"/>
              </a:rPr>
              <a:t>)) </a:t>
            </a:r>
            <a:r>
              <a:rPr lang="en-US" sz="1200" dirty="0">
                <a:solidFill>
                  <a:srgbClr val="7CC4FF"/>
                </a:solidFill>
                <a:latin typeface="Courier New" pitchFamily="34" charset="0"/>
                <a:ea typeface="Courier New" pitchFamily="34" charset="-122"/>
                <a:cs typeface="Courier New" pitchFamily="34" charset="-120"/>
              </a:rPr>
              <a:t>AS</a:t>
            </a:r>
            <a:r>
              <a:rPr lang="en-US" sz="1200" dirty="0">
                <a:solidFill>
                  <a:srgbClr val="E6EEF7"/>
                </a:solidFill>
                <a:latin typeface="Courier New" pitchFamily="34" charset="0"/>
                <a:ea typeface="Courier New" pitchFamily="34" charset="-122"/>
                <a:cs typeface="Courier New" pitchFamily="34" charset="-120"/>
              </a:rPr>
              <a:t> skill;</a:t>
            </a:r>
            <a:r>
              <a:rPr lang="en-US" sz="1200" dirty="0">
                <a:solidFill>
                  <a:srgbClr val="000000"/>
                </a:solidFill>
                <a:latin typeface="Courier New" pitchFamily="34" charset="0"/>
                <a:ea typeface="Courier New" pitchFamily="34" charset="-122"/>
                <a:cs typeface="Courier New" pitchFamily="34" charset="-120"/>
              </a:rPr>
              <a:t>
</a:t>
            </a:r>
            <a:r>
              <a:rPr lang="en-US" sz="1200" dirty="0">
                <a:solidFill>
                  <a:srgbClr val="E6EEF7"/>
                </a:solidFill>
                <a:latin typeface="Courier New" pitchFamily="34" charset="0"/>
                <a:ea typeface="Courier New" pitchFamily="34" charset="-122"/>
                <a:cs typeface="Courier New" pitchFamily="34" charset="-120"/>
              </a:rPr>
              <a:t>... </a:t>
            </a:r>
            <a:r>
              <a:rPr lang="en-US" sz="1200" dirty="0">
                <a:solidFill>
                  <a:srgbClr val="F2C46D"/>
                </a:solidFill>
                <a:latin typeface="Courier New" pitchFamily="34" charset="0"/>
                <a:ea typeface="Courier New" pitchFamily="34" charset="-122"/>
                <a:cs typeface="Courier New" pitchFamily="34" charset="-120"/>
              </a:rPr>
              <a:t>TRIM</a:t>
            </a:r>
            <a:r>
              <a:rPr lang="en-US" sz="1200" dirty="0">
                <a:solidFill>
                  <a:srgbClr val="E6EEF7"/>
                </a:solidFill>
                <a:latin typeface="Courier New" pitchFamily="34" charset="0"/>
                <a:ea typeface="Courier New" pitchFamily="34" charset="-122"/>
                <a:cs typeface="Courier New" pitchFamily="34" charset="-120"/>
              </a:rPr>
              <a:t> / </a:t>
            </a:r>
            <a:r>
              <a:rPr lang="en-US" sz="1200" dirty="0">
                <a:solidFill>
                  <a:srgbClr val="F2C46D"/>
                </a:solidFill>
                <a:latin typeface="Courier New" pitchFamily="34" charset="0"/>
                <a:ea typeface="Courier New" pitchFamily="34" charset="-122"/>
                <a:cs typeface="Courier New" pitchFamily="34" charset="-120"/>
              </a:rPr>
              <a:t>LOWER</a:t>
            </a:r>
            <a:r>
              <a:rPr lang="en-US" sz="1200" dirty="0">
                <a:solidFill>
                  <a:srgbClr val="E6EEF7"/>
                </a:solidFill>
                <a:latin typeface="Courier New" pitchFamily="34" charset="0"/>
                <a:ea typeface="Courier New" pitchFamily="34" charset="-122"/>
                <a:cs typeface="Courier New" pitchFamily="34" charset="-120"/>
              </a:rPr>
              <a:t> / </a:t>
            </a:r>
            <a:r>
              <a:rPr lang="en-US" sz="1200" dirty="0">
                <a:solidFill>
                  <a:srgbClr val="7CC4FF"/>
                </a:solidFill>
                <a:latin typeface="Courier New" pitchFamily="34" charset="0"/>
                <a:ea typeface="Courier New" pitchFamily="34" charset="-122"/>
                <a:cs typeface="Courier New" pitchFamily="34" charset="-120"/>
              </a:rPr>
              <a:t>FILTER</a:t>
            </a:r>
            <a:r>
              <a:rPr lang="en-US" sz="1200" dirty="0">
                <a:solidFill>
                  <a:srgbClr val="E6EEF7"/>
                </a:solidFill>
                <a:latin typeface="Courier New" pitchFamily="34" charset="0"/>
                <a:ea typeface="Courier New" pitchFamily="34" charset="-122"/>
                <a:cs typeface="Courier New" pitchFamily="34" charset="-120"/>
              </a:rPr>
              <a:t> ...</a:t>
            </a:r>
            <a:r>
              <a:rPr lang="en-US" sz="1200" dirty="0">
                <a:solidFill>
                  <a:srgbClr val="000000"/>
                </a:solidFill>
                <a:latin typeface="Courier New" pitchFamily="34" charset="0"/>
                <a:ea typeface="Courier New" pitchFamily="34" charset="-122"/>
                <a:cs typeface="Courier New" pitchFamily="34" charset="-120"/>
              </a:rPr>
              <a:t>
</a:t>
            </a:r>
            <a:r>
              <a:rPr lang="en-US" sz="1200" dirty="0">
                <a:solidFill>
                  <a:srgbClr val="E6EEF7"/>
                </a:solidFill>
                <a:latin typeface="Courier New" pitchFamily="34" charset="0"/>
                <a:ea typeface="Courier New" pitchFamily="34" charset="-122"/>
                <a:cs typeface="Courier New" pitchFamily="34" charset="-120"/>
              </a:rPr>
              <a:t>skills = </a:t>
            </a:r>
            <a:r>
              <a:rPr lang="en-US" sz="1200" dirty="0">
                <a:solidFill>
                  <a:srgbClr val="7CC4FF"/>
                </a:solidFill>
                <a:latin typeface="Courier New" pitchFamily="34" charset="0"/>
                <a:ea typeface="Courier New" pitchFamily="34" charset="-122"/>
                <a:cs typeface="Courier New" pitchFamily="34" charset="-120"/>
              </a:rPr>
              <a:t>DISTINCT</a:t>
            </a:r>
            <a:r>
              <a:rPr lang="en-US" sz="1200" dirty="0">
                <a:solidFill>
                  <a:srgbClr val="E6EEF7"/>
                </a:solidFill>
                <a:latin typeface="Courier New" pitchFamily="34" charset="0"/>
                <a:ea typeface="Courier New" pitchFamily="34" charset="-122"/>
                <a:cs typeface="Courier New" pitchFamily="34" charset="-120"/>
              </a:rPr>
              <a:t> skills;</a:t>
            </a:r>
            <a:endParaRPr lang="en-US" sz="1200" dirty="0"/>
          </a:p>
        </p:txBody>
      </p:sp>
      <p:sp>
        <p:nvSpPr>
          <p:cNvPr id="41" name="Slide Number Placeholder 0"/>
          <p:cNvSpPr>
            <a:spLocks noGrp="1"/>
          </p:cNvSpPr>
          <p:nvPr>
            <p:ph type="sldNum" sz="quarter" idx="4294967295"/>
          </p:nvPr>
        </p:nvSpPr>
        <p:spPr>
          <a:xfrm>
            <a:off x="10972800" y="6446520"/>
            <a:ext cx="64008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TASK 2: AGGREGATE</a:t>
            </a:r>
            <a:endParaRPr lang="en-US" sz="1200" dirty="0"/>
          </a:p>
        </p:txBody>
      </p:sp>
      <p:sp>
        <p:nvSpPr>
          <p:cNvPr id="3" name="Text 0"/>
          <p:cNvSpPr>
            <a:spLocks noGrp="1"/>
          </p:cNvSpPr>
          <p:nvPr>
            <p:ph type="title" idx="100" hasCustomPrompt="1"/>
          </p:nvPr>
        </p:nvSpPr>
        <p:spPr>
          <a:xfrm>
            <a:off x="548640" y="566928"/>
            <a:ext cx="9418320" cy="685800"/>
          </a:xfrm>
          <a:prstGeom prst="rect">
            <a:avLst/>
          </a:prstGeom>
          <a:noFill/>
          <a:ln/>
        </p:spPr>
        <p:txBody>
          <a:bodyPr wrap="square" lIns="0" tIns="0" rIns="0" bIns="0" rtlCol="0" anchor="ctr"/>
          <a:lstStyle/>
          <a:p>
            <a:pPr marL="0" indent="0" algn="l">
              <a:buNone/>
            </a:pPr>
            <a:r>
              <a:rPr lang="en-US" sz="3200" b="1" dirty="0">
                <a:solidFill>
                  <a:schemeClr val="tx2"/>
                </a:solidFill>
              </a:rPr>
              <a:t>Grouping: Skill and Location Demand</a:t>
            </a:r>
            <a:endParaRPr lang="en-US" sz="3200" dirty="0"/>
          </a:p>
        </p:txBody>
      </p:sp>
      <p:sp>
        <p:nvSpPr>
          <p:cNvPr id="6" name="Logic card"/>
          <p:cNvSpPr/>
          <p:nvPr/>
        </p:nvSpPr>
        <p:spPr>
          <a:xfrm>
            <a:off x="548640" y="1417320"/>
            <a:ext cx="3566160" cy="777240"/>
          </a:xfrm>
          <a:prstGeom prst="roundRect">
            <a:avLst>
              <a:gd name="adj" fmla="val 9412"/>
            </a:avLst>
          </a:prstGeom>
          <a:solidFill>
            <a:schemeClr val="bg2"/>
          </a:solidFill>
          <a:ln/>
        </p:spPr>
      </p:sp>
      <p:sp>
        <p:nvSpPr>
          <p:cNvPr id="7" name="Text 5"/>
          <p:cNvSpPr txBox="1"/>
          <p:nvPr/>
        </p:nvSpPr>
        <p:spPr>
          <a:xfrm>
            <a:off x="731520" y="1417320"/>
            <a:ext cx="3200400" cy="777240"/>
          </a:xfrm>
          <a:prstGeom prst="rect">
            <a:avLst/>
          </a:prstGeom>
          <a:noFill/>
          <a:ln/>
        </p:spPr>
        <p:txBody>
          <a:bodyPr wrap="square" lIns="0" tIns="0" rIns="0" bIns="0" rtlCol="0" anchor="ctr"/>
          <a:lstStyle/>
          <a:p>
            <a:pPr marL="0" indent="0">
              <a:buNone/>
            </a:pPr>
            <a:r>
              <a:rPr lang="en-US" sz="1500" b="1" dirty="0">
                <a:solidFill>
                  <a:schemeClr val="accent2"/>
                </a:solidFill>
                <a:latin typeface="Courier New" pitchFamily="34" charset="0"/>
                <a:ea typeface="Courier New" pitchFamily="34" charset="-122"/>
                <a:cs typeface="Courier New" pitchFamily="34" charset="-120"/>
              </a:rPr>
              <a:t>GROUP by skill</a:t>
            </a:r>
            <a:endParaRPr lang="en-US" sz="1400" dirty="0"/>
          </a:p>
          <a:p>
            <a:pPr marL="0" indent="0">
              <a:buNone/>
            </a:pPr>
            <a:r>
              <a:rPr lang="en-US" sz="1300" dirty="0">
                <a:solidFill>
                  <a:schemeClr val="tx1"/>
                </a:solidFill>
              </a:rPr>
              <a:t>COUNT postings per skill</a:t>
            </a:r>
            <a:endParaRPr lang="en-US" sz="1400" dirty="0"/>
          </a:p>
        </p:txBody>
      </p:sp>
      <p:sp>
        <p:nvSpPr>
          <p:cNvPr id="8" name="Logic card"/>
          <p:cNvSpPr/>
          <p:nvPr/>
        </p:nvSpPr>
        <p:spPr>
          <a:xfrm>
            <a:off x="4297680" y="1417320"/>
            <a:ext cx="3566160" cy="777240"/>
          </a:xfrm>
          <a:prstGeom prst="roundRect">
            <a:avLst>
              <a:gd name="adj" fmla="val 9412"/>
            </a:avLst>
          </a:prstGeom>
          <a:solidFill>
            <a:schemeClr val="bg2"/>
          </a:solidFill>
          <a:ln/>
        </p:spPr>
      </p:sp>
      <p:sp>
        <p:nvSpPr>
          <p:cNvPr id="9" name="Text 7"/>
          <p:cNvSpPr txBox="1"/>
          <p:nvPr/>
        </p:nvSpPr>
        <p:spPr>
          <a:xfrm>
            <a:off x="4480560" y="1417320"/>
            <a:ext cx="3200400" cy="777240"/>
          </a:xfrm>
          <a:prstGeom prst="rect">
            <a:avLst/>
          </a:prstGeom>
          <a:noFill/>
          <a:ln/>
        </p:spPr>
        <p:txBody>
          <a:bodyPr wrap="square" lIns="0" tIns="0" rIns="0" bIns="0" rtlCol="0" anchor="ctr"/>
          <a:lstStyle/>
          <a:p>
            <a:pPr marL="0" indent="0">
              <a:buNone/>
            </a:pPr>
            <a:r>
              <a:rPr lang="en-US" sz="1500" b="1" dirty="0">
                <a:solidFill>
                  <a:schemeClr val="accent2"/>
                </a:solidFill>
                <a:latin typeface="Courier New" pitchFamily="34" charset="0"/>
                <a:ea typeface="Courier New" pitchFamily="34" charset="-122"/>
                <a:cs typeface="Courier New" pitchFamily="34" charset="-120"/>
              </a:rPr>
              <a:t>GROUP by location</a:t>
            </a:r>
            <a:endParaRPr lang="en-US" sz="1400" dirty="0"/>
          </a:p>
          <a:p>
            <a:pPr marL="0" indent="0">
              <a:buNone/>
            </a:pPr>
            <a:r>
              <a:rPr lang="en-US" sz="1300" dirty="0">
                <a:solidFill>
                  <a:schemeClr val="tx1"/>
                </a:solidFill>
              </a:rPr>
              <a:t>COUNT postings per location</a:t>
            </a:r>
            <a:endParaRPr lang="en-US" sz="1400" dirty="0"/>
          </a:p>
        </p:txBody>
      </p:sp>
      <p:sp>
        <p:nvSpPr>
          <p:cNvPr id="10" name="Logic card"/>
          <p:cNvSpPr/>
          <p:nvPr/>
        </p:nvSpPr>
        <p:spPr>
          <a:xfrm>
            <a:off x="8046720" y="1417320"/>
            <a:ext cx="3566160" cy="777240"/>
          </a:xfrm>
          <a:prstGeom prst="roundRect">
            <a:avLst>
              <a:gd name="adj" fmla="val 9412"/>
            </a:avLst>
          </a:prstGeom>
          <a:solidFill>
            <a:schemeClr val="bg2"/>
          </a:solidFill>
          <a:ln/>
        </p:spPr>
      </p:sp>
      <p:sp>
        <p:nvSpPr>
          <p:cNvPr id="11" name="Text 9"/>
          <p:cNvSpPr txBox="1"/>
          <p:nvPr/>
        </p:nvSpPr>
        <p:spPr>
          <a:xfrm>
            <a:off x="8229600" y="1417320"/>
            <a:ext cx="3200400" cy="777240"/>
          </a:xfrm>
          <a:prstGeom prst="rect">
            <a:avLst/>
          </a:prstGeom>
          <a:noFill/>
          <a:ln/>
        </p:spPr>
        <p:txBody>
          <a:bodyPr wrap="square" lIns="0" tIns="0" rIns="0" bIns="0" rtlCol="0" anchor="ctr"/>
          <a:lstStyle/>
          <a:p>
            <a:pPr marL="0" indent="0">
              <a:buNone/>
            </a:pPr>
            <a:r>
              <a:rPr lang="en-US" sz="1500" b="1" dirty="0">
                <a:solidFill>
                  <a:schemeClr val="accent2"/>
                </a:solidFill>
                <a:latin typeface="Courier New" pitchFamily="34" charset="0"/>
                <a:ea typeface="Courier New" pitchFamily="34" charset="-122"/>
                <a:cs typeface="Courier New" pitchFamily="34" charset="-120"/>
              </a:rPr>
              <a:t>GROUP by role / other</a:t>
            </a:r>
            <a:endParaRPr lang="en-US" sz="1400" dirty="0"/>
          </a:p>
          <a:p>
            <a:pPr marL="0" indent="0">
              <a:buNone/>
            </a:pPr>
            <a:r>
              <a:rPr lang="en-US" sz="1300" dirty="0">
                <a:solidFill>
                  <a:schemeClr val="tx1"/>
                </a:solidFill>
              </a:rPr>
              <a:t>Aggregate other supported dimensions</a:t>
            </a:r>
            <a:endParaRPr lang="en-US" sz="1400" dirty="0"/>
          </a:p>
        </p:txBody>
      </p:sp>
      <p:graphicFrame>
        <p:nvGraphicFramePr>
          <p:cNvPr id="12" name="Chart 0"/>
          <p:cNvGraphicFramePr/>
          <p:nvPr/>
        </p:nvGraphicFramePr>
        <p:xfrm>
          <a:off x="548640" y="2423160"/>
          <a:ext cx="5486400" cy="32461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
          <p:cNvGraphicFramePr/>
          <p:nvPr/>
        </p:nvGraphicFramePr>
        <p:xfrm>
          <a:off x="6172200" y="2423160"/>
          <a:ext cx="5486400" cy="3246120"/>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 10"/>
          <p:cNvSpPr txBox="1"/>
          <p:nvPr/>
        </p:nvSpPr>
        <p:spPr>
          <a:xfrm>
            <a:off x="548640" y="5852160"/>
            <a:ext cx="11064240" cy="274320"/>
          </a:xfrm>
          <a:prstGeom prst="rect">
            <a:avLst/>
          </a:prstGeom>
          <a:noFill/>
          <a:ln/>
        </p:spPr>
        <p:txBody>
          <a:bodyPr wrap="square" lIns="0" tIns="0" rIns="0" bIns="0" rtlCol="0" anchor="t"/>
          <a:lstStyle/>
          <a:p>
            <a:pPr marL="0" indent="0">
              <a:buNone/>
            </a:pPr>
            <a:r>
              <a:rPr lang="en-US" sz="1200" i="1" dirty="0">
                <a:solidFill>
                  <a:schemeClr val="accent4"/>
                </a:solidFill>
              </a:rPr>
              <a:t>Selected examples from the project aggregate outputs (unfiltered view). Not market-wide totals.</a:t>
            </a:r>
            <a:endParaRPr lang="en-US" sz="1200" dirty="0"/>
          </a:p>
        </p:txBody>
      </p:sp>
      <p:sp>
        <p:nvSpPr>
          <p:cNvPr id="25" name="Slide Number Placeholder 0"/>
          <p:cNvSpPr>
            <a:spLocks noGrp="1"/>
          </p:cNvSpPr>
          <p:nvPr>
            <p:ph type="sldNum" sz="quarter" idx="4294967295"/>
          </p:nvPr>
        </p:nvSpPr>
        <p:spPr>
          <a:xfrm>
            <a:off x="10972800" y="6446520"/>
            <a:ext cx="64008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TASK 2: SALARY AND RECENCY</a:t>
            </a:r>
            <a:endParaRPr lang="en-US" sz="1200" dirty="0"/>
          </a:p>
        </p:txBody>
      </p:sp>
      <p:sp>
        <p:nvSpPr>
          <p:cNvPr id="3" name="Text 0"/>
          <p:cNvSpPr>
            <a:spLocks noGrp="1"/>
          </p:cNvSpPr>
          <p:nvPr>
            <p:ph type="title" idx="100" hasCustomPrompt="1"/>
          </p:nvPr>
        </p:nvSpPr>
        <p:spPr>
          <a:xfrm>
            <a:off x="548640" y="566928"/>
            <a:ext cx="9418320" cy="685800"/>
          </a:xfrm>
          <a:prstGeom prst="rect">
            <a:avLst/>
          </a:prstGeom>
          <a:noFill/>
          <a:ln/>
        </p:spPr>
        <p:txBody>
          <a:bodyPr wrap="square" lIns="0" tIns="0" rIns="0" bIns="0" rtlCol="0" anchor="ctr"/>
          <a:lstStyle/>
          <a:p>
            <a:pPr marL="0" indent="0" algn="l">
              <a:buNone/>
            </a:pPr>
            <a:r>
              <a:rPr lang="en-US" sz="3200" b="1" dirty="0">
                <a:solidFill>
                  <a:schemeClr val="tx2"/>
                </a:solidFill>
              </a:rPr>
              <a:t>Salary Aggregation and Recency</a:t>
            </a:r>
            <a:endParaRPr lang="en-US" sz="3200" dirty="0"/>
          </a:p>
        </p:txBody>
      </p:sp>
      <p:sp>
        <p:nvSpPr>
          <p:cNvPr id="6" name="Branch panel"/>
          <p:cNvSpPr/>
          <p:nvPr/>
        </p:nvSpPr>
        <p:spPr>
          <a:xfrm>
            <a:off x="548640" y="1417320"/>
            <a:ext cx="5440680" cy="4023360"/>
          </a:xfrm>
          <a:prstGeom prst="roundRect">
            <a:avLst>
              <a:gd name="adj" fmla="val 1818"/>
            </a:avLst>
          </a:prstGeom>
          <a:solidFill>
            <a:schemeClr val="bg2"/>
          </a:solidFill>
          <a:ln/>
        </p:spPr>
      </p:sp>
      <p:sp>
        <p:nvSpPr>
          <p:cNvPr id="7" name="Text 5"/>
          <p:cNvSpPr txBox="1"/>
          <p:nvPr/>
        </p:nvSpPr>
        <p:spPr>
          <a:xfrm>
            <a:off x="777240" y="1508760"/>
            <a:ext cx="4937760" cy="365760"/>
          </a:xfrm>
          <a:prstGeom prst="rect">
            <a:avLst/>
          </a:prstGeom>
          <a:noFill/>
          <a:ln/>
        </p:spPr>
        <p:txBody>
          <a:bodyPr wrap="square" lIns="0" tIns="0" rIns="0" bIns="0" rtlCol="0" anchor="t"/>
          <a:lstStyle/>
          <a:p>
            <a:pPr marL="0" indent="0">
              <a:buNone/>
            </a:pPr>
            <a:r>
              <a:rPr lang="en-US" sz="1800" b="1" dirty="0">
                <a:solidFill>
                  <a:schemeClr val="accent3"/>
                </a:solidFill>
              </a:rPr>
              <a:t>Salary branch</a:t>
            </a:r>
            <a:endParaRPr lang="en-US" sz="1800" dirty="0"/>
          </a:p>
        </p:txBody>
      </p:sp>
      <p:sp>
        <p:nvSpPr>
          <p:cNvPr id="8" name="Shape 6"/>
          <p:cNvSpPr/>
          <p:nvPr/>
        </p:nvSpPr>
        <p:spPr>
          <a:xfrm>
            <a:off x="777240" y="2011680"/>
            <a:ext cx="4983480" cy="566928"/>
          </a:xfrm>
          <a:prstGeom prst="roundRect">
            <a:avLst>
              <a:gd name="adj" fmla="val 12903"/>
            </a:avLst>
          </a:prstGeom>
          <a:solidFill>
            <a:schemeClr val="accent3">
              <a:alpha val="15000"/>
            </a:schemeClr>
          </a:solidFill>
          <a:ln w="15875">
            <a:solidFill>
              <a:schemeClr val="accent3"/>
            </a:solidFill>
            <a:prstDash val="solid"/>
          </a:ln>
        </p:spPr>
      </p:sp>
      <p:sp>
        <p:nvSpPr>
          <p:cNvPr id="9" name="Text 7"/>
          <p:cNvSpPr txBox="1"/>
          <p:nvPr/>
        </p:nvSpPr>
        <p:spPr>
          <a:xfrm>
            <a:off x="914400" y="2011680"/>
            <a:ext cx="4754880" cy="566928"/>
          </a:xfrm>
          <a:prstGeom prst="rect">
            <a:avLst/>
          </a:prstGeom>
          <a:noFill/>
          <a:ln/>
        </p:spPr>
        <p:txBody>
          <a:bodyPr wrap="square" lIns="0" tIns="0" rIns="0" bIns="0" rtlCol="0" anchor="ctr"/>
          <a:lstStyle/>
          <a:p>
            <a:pPr marL="0" indent="0">
              <a:buNone/>
            </a:pPr>
            <a:r>
              <a:rPr lang="en-US" sz="1300" dirty="0">
                <a:solidFill>
                  <a:schemeClr val="tx1"/>
                </a:solidFill>
              </a:rPr>
              <a:t>Keep postings with disclosed, valid salary</a:t>
            </a:r>
            <a:endParaRPr lang="en-US" sz="1300" dirty="0"/>
          </a:p>
        </p:txBody>
      </p:sp>
      <p:sp>
        <p:nvSpPr>
          <p:cNvPr id="10" name="Shape 8"/>
          <p:cNvSpPr/>
          <p:nvPr/>
        </p:nvSpPr>
        <p:spPr>
          <a:xfrm>
            <a:off x="3264408" y="2578608"/>
            <a:ext cx="0" cy="219456"/>
          </a:xfrm>
          <a:prstGeom prst="line">
            <a:avLst/>
          </a:prstGeom>
          <a:noFill/>
          <a:ln w="15875">
            <a:solidFill>
              <a:schemeClr val="accent4"/>
            </a:solidFill>
            <a:prstDash val="solid"/>
            <a:tailEnd type="triangle"/>
          </a:ln>
        </p:spPr>
      </p:sp>
      <p:sp>
        <p:nvSpPr>
          <p:cNvPr id="11" name="Shape 9"/>
          <p:cNvSpPr/>
          <p:nvPr/>
        </p:nvSpPr>
        <p:spPr>
          <a:xfrm>
            <a:off x="777240" y="2798064"/>
            <a:ext cx="4983480" cy="566928"/>
          </a:xfrm>
          <a:prstGeom prst="roundRect">
            <a:avLst>
              <a:gd name="adj" fmla="val 12903"/>
            </a:avLst>
          </a:prstGeom>
          <a:solidFill>
            <a:schemeClr val="accent3">
              <a:alpha val="15000"/>
            </a:schemeClr>
          </a:solidFill>
          <a:ln w="15875">
            <a:solidFill>
              <a:schemeClr val="accent3"/>
            </a:solidFill>
            <a:prstDash val="solid"/>
          </a:ln>
        </p:spPr>
      </p:sp>
      <p:sp>
        <p:nvSpPr>
          <p:cNvPr id="12" name="Text 10"/>
          <p:cNvSpPr txBox="1"/>
          <p:nvPr/>
        </p:nvSpPr>
        <p:spPr>
          <a:xfrm>
            <a:off x="914400" y="2798064"/>
            <a:ext cx="4754880" cy="566928"/>
          </a:xfrm>
          <a:prstGeom prst="rect">
            <a:avLst/>
          </a:prstGeom>
          <a:noFill/>
          <a:ln/>
        </p:spPr>
        <p:txBody>
          <a:bodyPr wrap="square" lIns="0" tIns="0" rIns="0" bIns="0" rtlCol="0" anchor="ctr"/>
          <a:lstStyle/>
          <a:p>
            <a:pPr marL="0" indent="0">
              <a:buNone/>
            </a:pPr>
            <a:r>
              <a:rPr lang="en-US" sz="1300" dirty="0">
                <a:solidFill>
                  <a:schemeClr val="tx1"/>
                </a:solidFill>
              </a:rPr>
              <a:t>GROUP BY (job role, currency)</a:t>
            </a:r>
            <a:endParaRPr lang="en-US" sz="1300" dirty="0"/>
          </a:p>
        </p:txBody>
      </p:sp>
      <p:sp>
        <p:nvSpPr>
          <p:cNvPr id="13" name="Shape 11"/>
          <p:cNvSpPr/>
          <p:nvPr/>
        </p:nvSpPr>
        <p:spPr>
          <a:xfrm>
            <a:off x="3264408" y="3364992"/>
            <a:ext cx="0" cy="219456"/>
          </a:xfrm>
          <a:prstGeom prst="line">
            <a:avLst/>
          </a:prstGeom>
          <a:noFill/>
          <a:ln w="15875">
            <a:solidFill>
              <a:schemeClr val="accent4"/>
            </a:solidFill>
            <a:prstDash val="solid"/>
            <a:tailEnd type="triangle"/>
          </a:ln>
        </p:spPr>
      </p:sp>
      <p:sp>
        <p:nvSpPr>
          <p:cNvPr id="14" name="Shape 12"/>
          <p:cNvSpPr/>
          <p:nvPr/>
        </p:nvSpPr>
        <p:spPr>
          <a:xfrm>
            <a:off x="777240" y="3584448"/>
            <a:ext cx="4983480" cy="566928"/>
          </a:xfrm>
          <a:prstGeom prst="roundRect">
            <a:avLst>
              <a:gd name="adj" fmla="val 12903"/>
            </a:avLst>
          </a:prstGeom>
          <a:solidFill>
            <a:schemeClr val="accent3">
              <a:alpha val="15000"/>
            </a:schemeClr>
          </a:solidFill>
          <a:ln w="15875">
            <a:solidFill>
              <a:schemeClr val="accent3"/>
            </a:solidFill>
            <a:prstDash val="solid"/>
          </a:ln>
        </p:spPr>
      </p:sp>
      <p:sp>
        <p:nvSpPr>
          <p:cNvPr id="15" name="Text 13"/>
          <p:cNvSpPr txBox="1"/>
          <p:nvPr/>
        </p:nvSpPr>
        <p:spPr>
          <a:xfrm>
            <a:off x="914400" y="3584448"/>
            <a:ext cx="4754880" cy="566928"/>
          </a:xfrm>
          <a:prstGeom prst="rect">
            <a:avLst/>
          </a:prstGeom>
          <a:noFill/>
          <a:ln/>
        </p:spPr>
        <p:txBody>
          <a:bodyPr wrap="square" lIns="0" tIns="0" rIns="0" bIns="0" rtlCol="0" anchor="ctr"/>
          <a:lstStyle/>
          <a:p>
            <a:pPr marL="0" indent="0">
              <a:buNone/>
            </a:pPr>
            <a:r>
              <a:rPr lang="en-US" sz="1300" dirty="0">
                <a:solidFill>
                  <a:schemeClr val="tx1"/>
                </a:solidFill>
              </a:rPr>
              <a:t>COUNT jobs; MIN, MAX, AVG salary</a:t>
            </a:r>
            <a:endParaRPr lang="en-US" sz="1300" dirty="0"/>
          </a:p>
        </p:txBody>
      </p:sp>
      <p:sp>
        <p:nvSpPr>
          <p:cNvPr id="16" name="Shape 14"/>
          <p:cNvSpPr/>
          <p:nvPr/>
        </p:nvSpPr>
        <p:spPr>
          <a:xfrm>
            <a:off x="3264408" y="4151376"/>
            <a:ext cx="0" cy="219456"/>
          </a:xfrm>
          <a:prstGeom prst="line">
            <a:avLst/>
          </a:prstGeom>
          <a:noFill/>
          <a:ln w="15875">
            <a:solidFill>
              <a:schemeClr val="accent4"/>
            </a:solidFill>
            <a:prstDash val="solid"/>
            <a:tailEnd type="triangle"/>
          </a:ln>
        </p:spPr>
      </p:sp>
      <p:sp>
        <p:nvSpPr>
          <p:cNvPr id="17" name="Shape 15"/>
          <p:cNvSpPr/>
          <p:nvPr/>
        </p:nvSpPr>
        <p:spPr>
          <a:xfrm>
            <a:off x="777240" y="4370832"/>
            <a:ext cx="4983480" cy="566928"/>
          </a:xfrm>
          <a:prstGeom prst="roundRect">
            <a:avLst>
              <a:gd name="adj" fmla="val 12903"/>
            </a:avLst>
          </a:prstGeom>
          <a:solidFill>
            <a:schemeClr val="accent3">
              <a:alpha val="15000"/>
            </a:schemeClr>
          </a:solidFill>
          <a:ln w="15875">
            <a:solidFill>
              <a:schemeClr val="accent3"/>
            </a:solidFill>
            <a:prstDash val="solid"/>
          </a:ln>
        </p:spPr>
      </p:sp>
      <p:sp>
        <p:nvSpPr>
          <p:cNvPr id="18" name="Text 16"/>
          <p:cNvSpPr txBox="1"/>
          <p:nvPr/>
        </p:nvSpPr>
        <p:spPr>
          <a:xfrm>
            <a:off x="914400" y="4370832"/>
            <a:ext cx="4754880" cy="566928"/>
          </a:xfrm>
          <a:prstGeom prst="rect">
            <a:avLst/>
          </a:prstGeom>
          <a:noFill/>
          <a:ln/>
        </p:spPr>
        <p:txBody>
          <a:bodyPr wrap="square" lIns="0" tIns="0" rIns="0" bIns="0" rtlCol="0" anchor="ctr"/>
          <a:lstStyle/>
          <a:p>
            <a:pPr marL="0" indent="0">
              <a:buNone/>
            </a:pPr>
            <a:r>
              <a:rPr lang="en-US" sz="1300" dirty="0">
                <a:solidFill>
                  <a:schemeClr val="tx1"/>
                </a:solidFill>
              </a:rPr>
              <a:t>GROUP BY (location, currency) the same way</a:t>
            </a:r>
            <a:endParaRPr lang="en-US" sz="1300" dirty="0"/>
          </a:p>
        </p:txBody>
      </p:sp>
      <p:sp>
        <p:nvSpPr>
          <p:cNvPr id="19" name="Text 17"/>
          <p:cNvSpPr txBox="1"/>
          <p:nvPr/>
        </p:nvSpPr>
        <p:spPr>
          <a:xfrm>
            <a:off x="777240" y="4937760"/>
            <a:ext cx="4983480" cy="411480"/>
          </a:xfrm>
          <a:prstGeom prst="rect">
            <a:avLst/>
          </a:prstGeom>
          <a:noFill/>
          <a:ln/>
        </p:spPr>
        <p:txBody>
          <a:bodyPr wrap="square" lIns="0" tIns="0" rIns="0" bIns="0" rtlCol="0" anchor="ctr"/>
          <a:lstStyle/>
          <a:p>
            <a:pPr marL="0" indent="0">
              <a:buNone/>
            </a:pPr>
            <a:r>
              <a:rPr lang="en-US" sz="1100" dirty="0">
                <a:solidFill>
                  <a:schemeClr val="accent4"/>
                </a:solidFill>
                <a:latin typeface="Courier New" pitchFamily="34" charset="0"/>
                <a:ea typeface="Courier New" pitchFamily="34" charset="-122"/>
                <a:cs typeface="Courier New" pitchFamily="34" charset="-120"/>
              </a:rPr>
              <a:t>salary/   salary_location/</a:t>
            </a:r>
            <a:endParaRPr lang="en-US" sz="1100" dirty="0"/>
          </a:p>
        </p:txBody>
      </p:sp>
      <p:sp>
        <p:nvSpPr>
          <p:cNvPr id="20" name="Branch panel"/>
          <p:cNvSpPr/>
          <p:nvPr/>
        </p:nvSpPr>
        <p:spPr>
          <a:xfrm>
            <a:off x="6217920" y="1417320"/>
            <a:ext cx="5440680" cy="4023360"/>
          </a:xfrm>
          <a:prstGeom prst="roundRect">
            <a:avLst>
              <a:gd name="adj" fmla="val 1818"/>
            </a:avLst>
          </a:prstGeom>
          <a:solidFill>
            <a:schemeClr val="bg2"/>
          </a:solidFill>
          <a:ln/>
        </p:spPr>
      </p:sp>
      <p:sp>
        <p:nvSpPr>
          <p:cNvPr id="21" name="Text 19"/>
          <p:cNvSpPr txBox="1"/>
          <p:nvPr/>
        </p:nvSpPr>
        <p:spPr>
          <a:xfrm>
            <a:off x="6446520" y="1508760"/>
            <a:ext cx="4937760" cy="365760"/>
          </a:xfrm>
          <a:prstGeom prst="rect">
            <a:avLst/>
          </a:prstGeom>
          <a:noFill/>
          <a:ln/>
        </p:spPr>
        <p:txBody>
          <a:bodyPr wrap="square" lIns="0" tIns="0" rIns="0" bIns="0" rtlCol="0" anchor="t"/>
          <a:lstStyle/>
          <a:p>
            <a:pPr marL="0" indent="0">
              <a:buNone/>
            </a:pPr>
            <a:r>
              <a:rPr lang="en-US" sz="1800" b="1" dirty="0">
                <a:solidFill>
                  <a:schemeClr val="accent2"/>
                </a:solidFill>
              </a:rPr>
              <a:t>Recency branch</a:t>
            </a:r>
            <a:endParaRPr lang="en-US" sz="1800" dirty="0"/>
          </a:p>
        </p:txBody>
      </p:sp>
      <p:sp>
        <p:nvSpPr>
          <p:cNvPr id="22" name="Shape 20"/>
          <p:cNvSpPr/>
          <p:nvPr/>
        </p:nvSpPr>
        <p:spPr>
          <a:xfrm>
            <a:off x="6446520" y="2011680"/>
            <a:ext cx="4983480" cy="566928"/>
          </a:xfrm>
          <a:prstGeom prst="roundRect">
            <a:avLst>
              <a:gd name="adj" fmla="val 12903"/>
            </a:avLst>
          </a:prstGeom>
          <a:solidFill>
            <a:schemeClr val="accent2">
              <a:alpha val="15000"/>
            </a:schemeClr>
          </a:solidFill>
          <a:ln w="15875">
            <a:solidFill>
              <a:schemeClr val="accent2"/>
            </a:solidFill>
            <a:prstDash val="solid"/>
          </a:ln>
        </p:spPr>
      </p:sp>
      <p:sp>
        <p:nvSpPr>
          <p:cNvPr id="23" name="Text 21"/>
          <p:cNvSpPr txBox="1"/>
          <p:nvPr/>
        </p:nvSpPr>
        <p:spPr>
          <a:xfrm>
            <a:off x="6583680" y="2011680"/>
            <a:ext cx="4754880" cy="566928"/>
          </a:xfrm>
          <a:prstGeom prst="rect">
            <a:avLst/>
          </a:prstGeom>
          <a:noFill/>
          <a:ln/>
        </p:spPr>
        <p:txBody>
          <a:bodyPr wrap="square" lIns="0" tIns="0" rIns="0" bIns="0" rtlCol="0" anchor="ctr"/>
          <a:lstStyle/>
          <a:p>
            <a:pPr marL="0" indent="0">
              <a:buNone/>
            </a:pPr>
            <a:r>
              <a:rPr lang="en-US" sz="1300" dirty="0">
                <a:solidFill>
                  <a:schemeClr val="tx1"/>
                </a:solidFill>
              </a:rPr>
              <a:t>Read posted_raw (relative text)</a:t>
            </a:r>
            <a:endParaRPr lang="en-US" sz="1300" dirty="0"/>
          </a:p>
        </p:txBody>
      </p:sp>
      <p:sp>
        <p:nvSpPr>
          <p:cNvPr id="24" name="Shape 22"/>
          <p:cNvSpPr/>
          <p:nvPr/>
        </p:nvSpPr>
        <p:spPr>
          <a:xfrm>
            <a:off x="8933688" y="2578608"/>
            <a:ext cx="0" cy="219456"/>
          </a:xfrm>
          <a:prstGeom prst="line">
            <a:avLst/>
          </a:prstGeom>
          <a:noFill/>
          <a:ln w="15875">
            <a:solidFill>
              <a:schemeClr val="accent4"/>
            </a:solidFill>
            <a:prstDash val="solid"/>
            <a:tailEnd type="triangle"/>
          </a:ln>
        </p:spPr>
      </p:sp>
      <p:sp>
        <p:nvSpPr>
          <p:cNvPr id="25" name="Shape 23"/>
          <p:cNvSpPr/>
          <p:nvPr/>
        </p:nvSpPr>
        <p:spPr>
          <a:xfrm>
            <a:off x="6446520" y="2798064"/>
            <a:ext cx="4983480" cy="566928"/>
          </a:xfrm>
          <a:prstGeom prst="roundRect">
            <a:avLst>
              <a:gd name="adj" fmla="val 12903"/>
            </a:avLst>
          </a:prstGeom>
          <a:solidFill>
            <a:schemeClr val="accent2">
              <a:alpha val="15000"/>
            </a:schemeClr>
          </a:solidFill>
          <a:ln w="15875">
            <a:solidFill>
              <a:schemeClr val="accent2"/>
            </a:solidFill>
            <a:prstDash val="solid"/>
          </a:ln>
        </p:spPr>
      </p:sp>
      <p:sp>
        <p:nvSpPr>
          <p:cNvPr id="26" name="Text 24"/>
          <p:cNvSpPr txBox="1"/>
          <p:nvPr/>
        </p:nvSpPr>
        <p:spPr>
          <a:xfrm>
            <a:off x="6583680" y="2798064"/>
            <a:ext cx="4754880" cy="566928"/>
          </a:xfrm>
          <a:prstGeom prst="rect">
            <a:avLst/>
          </a:prstGeom>
          <a:noFill/>
          <a:ln/>
        </p:spPr>
        <p:txBody>
          <a:bodyPr wrap="square" lIns="0" tIns="0" rIns="0" bIns="0" rtlCol="0" anchor="ctr"/>
          <a:lstStyle/>
          <a:p>
            <a:pPr marL="0" indent="0">
              <a:buNone/>
            </a:pPr>
            <a:r>
              <a:rPr lang="en-US" sz="1300" dirty="0">
                <a:solidFill>
                  <a:schemeClr val="tx1"/>
                </a:solidFill>
              </a:rPr>
              <a:t>Map to recency category</a:t>
            </a:r>
            <a:endParaRPr lang="en-US" sz="1300" dirty="0"/>
          </a:p>
        </p:txBody>
      </p:sp>
      <p:sp>
        <p:nvSpPr>
          <p:cNvPr id="27" name="Shape 25"/>
          <p:cNvSpPr/>
          <p:nvPr/>
        </p:nvSpPr>
        <p:spPr>
          <a:xfrm>
            <a:off x="8933688" y="3364992"/>
            <a:ext cx="0" cy="219456"/>
          </a:xfrm>
          <a:prstGeom prst="line">
            <a:avLst/>
          </a:prstGeom>
          <a:noFill/>
          <a:ln w="15875">
            <a:solidFill>
              <a:schemeClr val="accent4"/>
            </a:solidFill>
            <a:prstDash val="solid"/>
            <a:tailEnd type="triangle"/>
          </a:ln>
        </p:spPr>
      </p:sp>
      <p:sp>
        <p:nvSpPr>
          <p:cNvPr id="28" name="Shape 26"/>
          <p:cNvSpPr/>
          <p:nvPr/>
        </p:nvSpPr>
        <p:spPr>
          <a:xfrm>
            <a:off x="6446520" y="3584448"/>
            <a:ext cx="4983480" cy="566928"/>
          </a:xfrm>
          <a:prstGeom prst="roundRect">
            <a:avLst>
              <a:gd name="adj" fmla="val 12903"/>
            </a:avLst>
          </a:prstGeom>
          <a:solidFill>
            <a:schemeClr val="accent2">
              <a:alpha val="15000"/>
            </a:schemeClr>
          </a:solidFill>
          <a:ln w="15875">
            <a:solidFill>
              <a:schemeClr val="accent2"/>
            </a:solidFill>
            <a:prstDash val="solid"/>
          </a:ln>
        </p:spPr>
      </p:sp>
      <p:sp>
        <p:nvSpPr>
          <p:cNvPr id="29" name="Text 27"/>
          <p:cNvSpPr txBox="1"/>
          <p:nvPr/>
        </p:nvSpPr>
        <p:spPr>
          <a:xfrm>
            <a:off x="6583680" y="3584448"/>
            <a:ext cx="4754880" cy="566928"/>
          </a:xfrm>
          <a:prstGeom prst="rect">
            <a:avLst/>
          </a:prstGeom>
          <a:noFill/>
          <a:ln/>
        </p:spPr>
        <p:txBody>
          <a:bodyPr wrap="square" lIns="0" tIns="0" rIns="0" bIns="0" rtlCol="0" anchor="ctr"/>
          <a:lstStyle/>
          <a:p>
            <a:pPr marL="0" indent="0">
              <a:buNone/>
            </a:pPr>
            <a:r>
              <a:rPr lang="en-US" sz="1300" dirty="0">
                <a:solidFill>
                  <a:schemeClr val="tx1"/>
                </a:solidFill>
              </a:rPr>
              <a:t>GROUP by category; COUNT postings</a:t>
            </a:r>
            <a:endParaRPr lang="en-US" sz="1300" dirty="0"/>
          </a:p>
        </p:txBody>
      </p:sp>
      <p:sp>
        <p:nvSpPr>
          <p:cNvPr id="30" name="Shape 28"/>
          <p:cNvSpPr/>
          <p:nvPr/>
        </p:nvSpPr>
        <p:spPr>
          <a:xfrm>
            <a:off x="8933688" y="4151376"/>
            <a:ext cx="0" cy="219456"/>
          </a:xfrm>
          <a:prstGeom prst="line">
            <a:avLst/>
          </a:prstGeom>
          <a:noFill/>
          <a:ln w="15875">
            <a:solidFill>
              <a:schemeClr val="accent4"/>
            </a:solidFill>
            <a:prstDash val="solid"/>
            <a:tailEnd type="triangle"/>
          </a:ln>
        </p:spPr>
      </p:sp>
      <p:sp>
        <p:nvSpPr>
          <p:cNvPr id="31" name="Shape 29"/>
          <p:cNvSpPr/>
          <p:nvPr/>
        </p:nvSpPr>
        <p:spPr>
          <a:xfrm>
            <a:off x="6446520" y="4370832"/>
            <a:ext cx="4983480" cy="566928"/>
          </a:xfrm>
          <a:prstGeom prst="roundRect">
            <a:avLst>
              <a:gd name="adj" fmla="val 12903"/>
            </a:avLst>
          </a:prstGeom>
          <a:solidFill>
            <a:schemeClr val="accent2">
              <a:alpha val="15000"/>
            </a:schemeClr>
          </a:solidFill>
          <a:ln w="15875">
            <a:solidFill>
              <a:schemeClr val="accent2"/>
            </a:solidFill>
            <a:prstDash val="solid"/>
          </a:ln>
        </p:spPr>
      </p:sp>
      <p:sp>
        <p:nvSpPr>
          <p:cNvPr id="32" name="Text 30"/>
          <p:cNvSpPr txBox="1"/>
          <p:nvPr/>
        </p:nvSpPr>
        <p:spPr>
          <a:xfrm>
            <a:off x="6583680" y="4370832"/>
            <a:ext cx="4754880" cy="566928"/>
          </a:xfrm>
          <a:prstGeom prst="rect">
            <a:avLst/>
          </a:prstGeom>
          <a:noFill/>
          <a:ln/>
        </p:spPr>
        <p:txBody>
          <a:bodyPr wrap="square" lIns="0" tIns="0" rIns="0" bIns="0" rtlCol="0" anchor="ctr"/>
          <a:lstStyle/>
          <a:p>
            <a:pPr marL="0" indent="0">
              <a:buNone/>
            </a:pPr>
            <a:r>
              <a:rPr lang="en-US" sz="1300" dirty="0">
                <a:solidFill>
                  <a:schemeClr val="tx1"/>
                </a:solidFill>
              </a:rPr>
              <a:t>STORE the time-based output</a:t>
            </a:r>
            <a:endParaRPr lang="en-US" sz="1300" dirty="0"/>
          </a:p>
        </p:txBody>
      </p:sp>
      <p:sp>
        <p:nvSpPr>
          <p:cNvPr id="33" name="Text 31"/>
          <p:cNvSpPr txBox="1"/>
          <p:nvPr/>
        </p:nvSpPr>
        <p:spPr>
          <a:xfrm>
            <a:off x="6446520" y="4937760"/>
            <a:ext cx="4983480" cy="411480"/>
          </a:xfrm>
          <a:prstGeom prst="rect">
            <a:avLst/>
          </a:prstGeom>
          <a:noFill/>
          <a:ln/>
        </p:spPr>
        <p:txBody>
          <a:bodyPr wrap="square" lIns="0" tIns="0" rIns="0" bIns="0" rtlCol="0" anchor="ctr"/>
          <a:lstStyle/>
          <a:p>
            <a:pPr marL="0" indent="0">
              <a:buNone/>
            </a:pPr>
            <a:r>
              <a:rPr lang="en-US" sz="1100" dirty="0">
                <a:solidFill>
                  <a:schemeClr val="accent4"/>
                </a:solidFill>
                <a:latin typeface="Courier New" pitchFamily="34" charset="0"/>
                <a:ea typeface="Courier New" pitchFamily="34" charset="-122"/>
                <a:cs typeface="Courier New" pitchFamily="34" charset="-120"/>
              </a:rPr>
              <a:t>time_based/</a:t>
            </a:r>
            <a:endParaRPr lang="en-US" sz="1100" dirty="0"/>
          </a:p>
        </p:txBody>
      </p:sp>
      <p:sp>
        <p:nvSpPr>
          <p:cNvPr id="34" name="Shape 32"/>
          <p:cNvSpPr/>
          <p:nvPr/>
        </p:nvSpPr>
        <p:spPr>
          <a:xfrm>
            <a:off x="548640" y="5577840"/>
            <a:ext cx="11109960" cy="548640"/>
          </a:xfrm>
          <a:prstGeom prst="roundRect">
            <a:avLst>
              <a:gd name="adj" fmla="val 13333"/>
            </a:avLst>
          </a:prstGeom>
          <a:solidFill>
            <a:schemeClr val="accent5">
              <a:alpha val="12000"/>
            </a:schemeClr>
          </a:solidFill>
          <a:ln w="15875">
            <a:solidFill>
              <a:schemeClr val="accent5"/>
            </a:solidFill>
            <a:prstDash val="solid"/>
          </a:ln>
        </p:spPr>
      </p:sp>
      <p:sp>
        <p:nvSpPr>
          <p:cNvPr id="35" name="Text 33"/>
          <p:cNvSpPr txBox="1"/>
          <p:nvPr/>
        </p:nvSpPr>
        <p:spPr>
          <a:xfrm>
            <a:off x="731520" y="5577840"/>
            <a:ext cx="10789920" cy="548640"/>
          </a:xfrm>
          <a:prstGeom prst="rect">
            <a:avLst/>
          </a:prstGeom>
          <a:noFill/>
          <a:ln/>
        </p:spPr>
        <p:txBody>
          <a:bodyPr wrap="square" lIns="0" tIns="0" rIns="0" bIns="0" rtlCol="0" anchor="ctr"/>
          <a:lstStyle/>
          <a:p>
            <a:pPr marL="0" indent="0">
              <a:buNone/>
            </a:pPr>
            <a:r>
              <a:rPr lang="en-US" sz="1300" b="1" dirty="0">
                <a:solidFill>
                  <a:schemeClr val="accent5"/>
                </a:solidFill>
              </a:rPr>
              <a:t>INR and USD kept separate; missing salary is excluded, not zero. Recency buckets are not calendar-time trends.</a:t>
            </a:r>
            <a:endParaRPr lang="en-US" sz="1300" dirty="0"/>
          </a:p>
        </p:txBody>
      </p:sp>
      <p:sp>
        <p:nvSpPr>
          <p:cNvPr id="36" name="Slide Number Placeholder 0"/>
          <p:cNvSpPr>
            <a:spLocks noGrp="1"/>
          </p:cNvSpPr>
          <p:nvPr>
            <p:ph type="sldNum" sz="quarter" idx="4294967295"/>
          </p:nvPr>
        </p:nvSpPr>
        <p:spPr>
          <a:xfrm>
            <a:off x="10972800" y="6446520"/>
            <a:ext cx="64008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TASK 2: OUTPUTS</a:t>
            </a:r>
            <a:endParaRPr lang="en-US" sz="1200" dirty="0"/>
          </a:p>
        </p:txBody>
      </p:sp>
      <p:sp>
        <p:nvSpPr>
          <p:cNvPr id="3" name="Text 0"/>
          <p:cNvSpPr>
            <a:spLocks noGrp="1"/>
          </p:cNvSpPr>
          <p:nvPr>
            <p:ph type="title" idx="100" hasCustomPrompt="1"/>
          </p:nvPr>
        </p:nvSpPr>
        <p:spPr>
          <a:xfrm>
            <a:off x="548640" y="566928"/>
            <a:ext cx="9418320" cy="685800"/>
          </a:xfrm>
          <a:prstGeom prst="rect">
            <a:avLst/>
          </a:prstGeom>
          <a:noFill/>
          <a:ln/>
        </p:spPr>
        <p:txBody>
          <a:bodyPr wrap="square" lIns="0" tIns="0" rIns="0" bIns="0" rtlCol="0" anchor="ctr"/>
          <a:lstStyle/>
          <a:p>
            <a:pPr marL="0" indent="0" algn="l">
              <a:buNone/>
            </a:pPr>
            <a:r>
              <a:rPr lang="en-US" sz="3200" b="1" dirty="0">
                <a:solidFill>
                  <a:schemeClr val="tx2"/>
                </a:solidFill>
              </a:rPr>
              <a:t>Pig Outputs and Handoff to Hive</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3145536"/>
        </p:xfrm>
        <a:graphic>
          <a:graphicData uri="http://schemas.openxmlformats.org/drawingml/2006/table">
            <a:tbl>
              <a:tblPr/>
              <a:tblGrid>
                <a:gridCol w="265176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3703320">
                  <a:extLst>
                    <a:ext uri="{9D8B030D-6E8A-4147-A177-3AD203B41FA5}">
                      <a16:colId xmlns:a16="http://schemas.microsoft.com/office/drawing/2014/main" val="20002"/>
                    </a:ext>
                  </a:extLst>
                </a:gridCol>
              </a:tblGrid>
              <a:tr h="393192">
                <a:tc>
                  <a:txBody>
                    <a:bodyPr/>
                    <a:lstStyle/>
                    <a:p>
                      <a:pPr marL="0" indent="0">
                        <a:buNone/>
                      </a:pPr>
                      <a:r>
                        <a:rPr lang="en-US" sz="1300" b="1" dirty="0">
                          <a:solidFill>
                            <a:srgbClr val="FFFFFF"/>
                          </a:solidFill>
                        </a:rPr>
                        <a:t>Output directory</a:t>
                      </a:r>
                      <a:endParaRPr lang="en-US" sz="13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B1F3A"/>
                    </a:solidFill>
                  </a:tcPr>
                </a:tc>
                <a:tc>
                  <a:txBody>
                    <a:bodyPr/>
                    <a:lstStyle/>
                    <a:p>
                      <a:pPr marL="0" indent="0">
                        <a:buNone/>
                      </a:pPr>
                      <a:r>
                        <a:rPr lang="en-US" sz="1300" b="1" dirty="0">
                          <a:solidFill>
                            <a:srgbClr val="FFFFFF"/>
                          </a:solidFill>
                        </a:rPr>
                        <a:t>Meaning</a:t>
                      </a:r>
                      <a:endParaRPr lang="en-US" sz="13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B1F3A"/>
                    </a:solidFill>
                  </a:tcPr>
                </a:tc>
                <a:tc>
                  <a:txBody>
                    <a:bodyPr/>
                    <a:lstStyle/>
                    <a:p>
                      <a:pPr marL="0" indent="0">
                        <a:buNone/>
                      </a:pPr>
                      <a:r>
                        <a:rPr lang="en-US" sz="1300" b="1" dirty="0">
                          <a:solidFill>
                            <a:srgbClr val="FFFFFF"/>
                          </a:solidFill>
                        </a:rPr>
                        <a:t>Downstream use</a:t>
                      </a:r>
                      <a:endParaRPr lang="en-US" sz="13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393192">
                <a:tc>
                  <a:txBody>
                    <a:bodyPr/>
                    <a:lstStyle/>
                    <a:p>
                      <a:pPr marL="0" indent="0">
                        <a:buNone/>
                      </a:pPr>
                      <a:r>
                        <a:rPr lang="en-US" sz="1300" b="1" dirty="0">
                          <a:solidFill>
                            <a:srgbClr val="1B2535"/>
                          </a:solidFill>
                          <a:latin typeface="Courier New" pitchFamily="34" charset="0"/>
                          <a:ea typeface="Courier New" pitchFamily="34" charset="-122"/>
                          <a:cs typeface="Courier New" pitchFamily="34" charset="-120"/>
                        </a:rPr>
                        <a:t>jobs/</a:t>
                      </a:r>
                      <a:endParaRPr lang="en-US" sz="1300" dirty="0">
                        <a:latin typeface="Courier New" charset="0"/>
                        <a:ea typeface="Courier New" charset="0"/>
                        <a:cs typeface="Courier New" charset="0"/>
                      </a:endParaRPr>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buNone/>
                      </a:pPr>
                      <a:r>
                        <a:rPr lang="en-US" sz="1300" dirty="0">
                          <a:solidFill>
                            <a:srgbClr val="1B2535"/>
                          </a:solidFill>
                        </a:rPr>
                        <a:t>Normalized posting records</a:t>
                      </a:r>
                      <a:endParaRPr lang="en-US" sz="13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buNone/>
                      </a:pPr>
                      <a:r>
                        <a:rPr lang="en-US" sz="1300" dirty="0">
                          <a:solidFill>
                            <a:srgbClr val="1B2535"/>
                          </a:solidFill>
                        </a:rPr>
                        <a:t>Hive jobs table</a:t>
                      </a:r>
                      <a:endParaRPr lang="en-US" sz="13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extLst>
                  <a:ext uri="{0D108BD9-81ED-4DB2-BD59-A6C34878D82A}">
                    <a16:rowId xmlns:a16="http://schemas.microsoft.com/office/drawing/2014/main" val="10001"/>
                  </a:ext>
                </a:extLst>
              </a:tr>
              <a:tr h="393192">
                <a:tc>
                  <a:txBody>
                    <a:bodyPr/>
                    <a:lstStyle/>
                    <a:p>
                      <a:pPr marL="0" indent="0">
                        <a:buNone/>
                      </a:pPr>
                      <a:r>
                        <a:rPr lang="en-US" sz="1300" b="1" dirty="0">
                          <a:solidFill>
                            <a:srgbClr val="1B2535"/>
                          </a:solidFill>
                          <a:latin typeface="Courier New" pitchFamily="34" charset="0"/>
                          <a:ea typeface="Courier New" pitchFamily="34" charset="-122"/>
                          <a:cs typeface="Courier New" pitchFamily="34" charset="-120"/>
                        </a:rPr>
                        <a:t>skills/</a:t>
                      </a:r>
                      <a:endParaRPr lang="en-US" sz="1300" dirty="0">
                        <a:latin typeface="Courier New" charset="0"/>
                        <a:ea typeface="Courier New" charset="0"/>
                        <a:cs typeface="Courier New" charset="0"/>
                      </a:endParaRPr>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1300" dirty="0">
                          <a:solidFill>
                            <a:srgbClr val="1B2535"/>
                          </a:solidFill>
                        </a:rPr>
                        <a:t>Distinct (job, skill) pairs</a:t>
                      </a:r>
                      <a:endParaRPr lang="en-US" sz="13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1300" dirty="0">
                          <a:solidFill>
                            <a:srgbClr val="1B2535"/>
                          </a:solidFill>
                        </a:rPr>
                        <a:t>Hive job_skills table</a:t>
                      </a:r>
                      <a:endParaRPr lang="en-US" sz="13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93192">
                <a:tc>
                  <a:txBody>
                    <a:bodyPr/>
                    <a:lstStyle/>
                    <a:p>
                      <a:pPr marL="0" indent="0">
                        <a:buNone/>
                      </a:pPr>
                      <a:r>
                        <a:rPr lang="en-US" sz="1300" b="1" dirty="0">
                          <a:solidFill>
                            <a:srgbClr val="1B2535"/>
                          </a:solidFill>
                          <a:latin typeface="Courier New" pitchFamily="34" charset="0"/>
                          <a:ea typeface="Courier New" pitchFamily="34" charset="-122"/>
                          <a:cs typeface="Courier New" pitchFamily="34" charset="-120"/>
                        </a:rPr>
                        <a:t>skills_demand/</a:t>
                      </a:r>
                      <a:endParaRPr lang="en-US" sz="1300" dirty="0">
                        <a:latin typeface="Courier New" charset="0"/>
                        <a:ea typeface="Courier New" charset="0"/>
                        <a:cs typeface="Courier New" charset="0"/>
                      </a:endParaRPr>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buNone/>
                      </a:pPr>
                      <a:r>
                        <a:rPr lang="en-US" sz="1300" dirty="0">
                          <a:solidFill>
                            <a:srgbClr val="1B2535"/>
                          </a:solidFill>
                        </a:rPr>
                        <a:t>Postings per skill</a:t>
                      </a:r>
                      <a:endParaRPr lang="en-US" sz="13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buNone/>
                      </a:pPr>
                      <a:r>
                        <a:rPr lang="en-US" sz="1300" dirty="0">
                          <a:solidFill>
                            <a:srgbClr val="1B2535"/>
                          </a:solidFill>
                        </a:rPr>
                        <a:t>Skill rankings</a:t>
                      </a:r>
                      <a:endParaRPr lang="en-US" sz="13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extLst>
                  <a:ext uri="{0D108BD9-81ED-4DB2-BD59-A6C34878D82A}">
                    <a16:rowId xmlns:a16="http://schemas.microsoft.com/office/drawing/2014/main" val="10003"/>
                  </a:ext>
                </a:extLst>
              </a:tr>
              <a:tr h="393192">
                <a:tc>
                  <a:txBody>
                    <a:bodyPr/>
                    <a:lstStyle/>
                    <a:p>
                      <a:pPr marL="0" indent="0">
                        <a:buNone/>
                      </a:pPr>
                      <a:r>
                        <a:rPr lang="en-US" sz="1300" b="1" dirty="0">
                          <a:solidFill>
                            <a:srgbClr val="1B2535"/>
                          </a:solidFill>
                          <a:latin typeface="Courier New" pitchFamily="34" charset="0"/>
                          <a:ea typeface="Courier New" pitchFamily="34" charset="-122"/>
                          <a:cs typeface="Courier New" pitchFamily="34" charset="-120"/>
                        </a:rPr>
                        <a:t>location/</a:t>
                      </a:r>
                      <a:endParaRPr lang="en-US" sz="1300" dirty="0">
                        <a:latin typeface="Courier New" charset="0"/>
                        <a:ea typeface="Courier New" charset="0"/>
                        <a:cs typeface="Courier New" charset="0"/>
                      </a:endParaRPr>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1300" dirty="0">
                          <a:solidFill>
                            <a:srgbClr val="1B2535"/>
                          </a:solidFill>
                        </a:rPr>
                        <a:t>Postings per location</a:t>
                      </a:r>
                      <a:endParaRPr lang="en-US" sz="13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1300" dirty="0">
                          <a:solidFill>
                            <a:srgbClr val="1B2535"/>
                          </a:solidFill>
                        </a:rPr>
                        <a:t>Location demand</a:t>
                      </a:r>
                      <a:endParaRPr lang="en-US" sz="13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93192">
                <a:tc>
                  <a:txBody>
                    <a:bodyPr/>
                    <a:lstStyle/>
                    <a:p>
                      <a:pPr marL="0" indent="0">
                        <a:buNone/>
                      </a:pPr>
                      <a:r>
                        <a:rPr lang="en-US" sz="1300" b="1" dirty="0">
                          <a:solidFill>
                            <a:srgbClr val="1B2535"/>
                          </a:solidFill>
                          <a:latin typeface="Courier New" pitchFamily="34" charset="0"/>
                          <a:ea typeface="Courier New" pitchFamily="34" charset="-122"/>
                          <a:cs typeface="Courier New" pitchFamily="34" charset="-120"/>
                        </a:rPr>
                        <a:t>salary/</a:t>
                      </a:r>
                      <a:endParaRPr lang="en-US" sz="1300" dirty="0">
                        <a:latin typeface="Courier New" charset="0"/>
                        <a:ea typeface="Courier New" charset="0"/>
                        <a:cs typeface="Courier New" charset="0"/>
                      </a:endParaRPr>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buNone/>
                      </a:pPr>
                      <a:r>
                        <a:rPr lang="en-US" sz="1300" dirty="0">
                          <a:solidFill>
                            <a:srgbClr val="1B2535"/>
                          </a:solidFill>
                        </a:rPr>
                        <a:t>Salary stats by role and currency</a:t>
                      </a:r>
                      <a:endParaRPr lang="en-US" sz="13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buNone/>
                      </a:pPr>
                      <a:r>
                        <a:rPr lang="en-US" sz="1300" dirty="0">
                          <a:solidFill>
                            <a:srgbClr val="1B2535"/>
                          </a:solidFill>
                        </a:rPr>
                        <a:t>Salary benchmarks</a:t>
                      </a:r>
                      <a:endParaRPr lang="en-US" sz="13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extLst>
                  <a:ext uri="{0D108BD9-81ED-4DB2-BD59-A6C34878D82A}">
                    <a16:rowId xmlns:a16="http://schemas.microsoft.com/office/drawing/2014/main" val="10005"/>
                  </a:ext>
                </a:extLst>
              </a:tr>
              <a:tr h="393192">
                <a:tc>
                  <a:txBody>
                    <a:bodyPr/>
                    <a:lstStyle/>
                    <a:p>
                      <a:pPr marL="0" indent="0">
                        <a:buNone/>
                      </a:pPr>
                      <a:r>
                        <a:rPr lang="en-US" sz="1300" b="1" dirty="0">
                          <a:solidFill>
                            <a:srgbClr val="1B2535"/>
                          </a:solidFill>
                          <a:latin typeface="Courier New" pitchFamily="34" charset="0"/>
                          <a:ea typeface="Courier New" pitchFamily="34" charset="-122"/>
                          <a:cs typeface="Courier New" pitchFamily="34" charset="-120"/>
                        </a:rPr>
                        <a:t>salary_location/</a:t>
                      </a:r>
                      <a:endParaRPr lang="en-US" sz="1300" dirty="0">
                        <a:latin typeface="Courier New" charset="0"/>
                        <a:ea typeface="Courier New" charset="0"/>
                        <a:cs typeface="Courier New" charset="0"/>
                      </a:endParaRPr>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1300" dirty="0">
                          <a:solidFill>
                            <a:srgbClr val="1B2535"/>
                          </a:solidFill>
                        </a:rPr>
                        <a:t>Salary stats by location and currency</a:t>
                      </a:r>
                      <a:endParaRPr lang="en-US" sz="13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1300" dirty="0">
                          <a:solidFill>
                            <a:srgbClr val="1B2535"/>
                          </a:solidFill>
                        </a:rPr>
                        <a:t>Regional salary</a:t>
                      </a:r>
                      <a:endParaRPr lang="en-US" sz="13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93192">
                <a:tc>
                  <a:txBody>
                    <a:bodyPr/>
                    <a:lstStyle/>
                    <a:p>
                      <a:pPr marL="0" indent="0">
                        <a:buNone/>
                      </a:pPr>
                      <a:r>
                        <a:rPr lang="en-US" sz="1300" b="1" dirty="0">
                          <a:solidFill>
                            <a:srgbClr val="1B2535"/>
                          </a:solidFill>
                          <a:latin typeface="Courier New" pitchFamily="34" charset="0"/>
                          <a:ea typeface="Courier New" pitchFamily="34" charset="-122"/>
                          <a:cs typeface="Courier New" pitchFamily="34" charset="-120"/>
                        </a:rPr>
                        <a:t>time_based/</a:t>
                      </a:r>
                      <a:endParaRPr lang="en-US" sz="1300" dirty="0">
                        <a:latin typeface="Courier New" charset="0"/>
                        <a:ea typeface="Courier New" charset="0"/>
                        <a:cs typeface="Courier New" charset="0"/>
                      </a:endParaRPr>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buNone/>
                      </a:pPr>
                      <a:r>
                        <a:rPr lang="en-US" sz="1300" dirty="0">
                          <a:solidFill>
                            <a:srgbClr val="1B2535"/>
                          </a:solidFill>
                        </a:rPr>
                        <a:t>Postings by recency category</a:t>
                      </a:r>
                      <a:endParaRPr lang="en-US" sz="13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buNone/>
                      </a:pPr>
                      <a:r>
                        <a:rPr lang="en-US" sz="1300" dirty="0">
                          <a:solidFill>
                            <a:srgbClr val="1B2535"/>
                          </a:solidFill>
                        </a:rPr>
                        <a:t>Recency analysis</a:t>
                      </a:r>
                      <a:endParaRPr lang="en-US" sz="13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extLst>
                  <a:ext uri="{0D108BD9-81ED-4DB2-BD59-A6C34878D82A}">
                    <a16:rowId xmlns:a16="http://schemas.microsoft.com/office/drawing/2014/main" val="10007"/>
                  </a:ext>
                </a:extLst>
              </a:tr>
            </a:tbl>
          </a:graphicData>
        </a:graphic>
      </p:graphicFrame>
      <p:sp>
        <p:nvSpPr>
          <p:cNvPr id="7" name="Shape 4"/>
          <p:cNvSpPr/>
          <p:nvPr/>
        </p:nvSpPr>
        <p:spPr>
          <a:xfrm>
            <a:off x="548640" y="4846320"/>
            <a:ext cx="3246120" cy="731520"/>
          </a:xfrm>
          <a:prstGeom prst="roundRect">
            <a:avLst>
              <a:gd name="adj" fmla="val 12500"/>
            </a:avLst>
          </a:prstGeom>
          <a:solidFill>
            <a:schemeClr val="accent2"/>
          </a:solidFill>
          <a:ln/>
        </p:spPr>
      </p:sp>
      <p:sp>
        <p:nvSpPr>
          <p:cNvPr id="8" name="Text 5"/>
          <p:cNvSpPr txBox="1"/>
          <p:nvPr/>
        </p:nvSpPr>
        <p:spPr>
          <a:xfrm>
            <a:off x="548640" y="4846320"/>
            <a:ext cx="3246120" cy="731520"/>
          </a:xfrm>
          <a:prstGeom prst="rect">
            <a:avLst/>
          </a:prstGeom>
          <a:noFill/>
          <a:ln/>
        </p:spPr>
        <p:txBody>
          <a:bodyPr wrap="square" lIns="0" tIns="0" rIns="0" bIns="0" rtlCol="0" anchor="ctr"/>
          <a:lstStyle/>
          <a:p>
            <a:pPr marL="0" indent="0" algn="ctr">
              <a:buNone/>
            </a:pPr>
            <a:r>
              <a:rPr lang="en-US" sz="1500" b="1" dirty="0">
                <a:solidFill>
                  <a:srgbClr val="FFFFFF"/>
                </a:solidFill>
              </a:rPr>
              <a:t>Pig script</a:t>
            </a:r>
            <a:endParaRPr lang="en-US" sz="1500" dirty="0"/>
          </a:p>
        </p:txBody>
      </p:sp>
      <p:sp>
        <p:nvSpPr>
          <p:cNvPr id="9" name="Shape 6"/>
          <p:cNvSpPr/>
          <p:nvPr/>
        </p:nvSpPr>
        <p:spPr>
          <a:xfrm>
            <a:off x="3794760" y="5212080"/>
            <a:ext cx="685800" cy="0"/>
          </a:xfrm>
          <a:prstGeom prst="line">
            <a:avLst/>
          </a:prstGeom>
          <a:noFill/>
          <a:ln w="25400">
            <a:solidFill>
              <a:schemeClr val="tx2"/>
            </a:solidFill>
            <a:prstDash val="solid"/>
            <a:tailEnd type="triangle"/>
          </a:ln>
        </p:spPr>
      </p:sp>
      <p:sp>
        <p:nvSpPr>
          <p:cNvPr id="10" name="Shape 7"/>
          <p:cNvSpPr/>
          <p:nvPr/>
        </p:nvSpPr>
        <p:spPr>
          <a:xfrm>
            <a:off x="4480560" y="4846320"/>
            <a:ext cx="3246120" cy="731520"/>
          </a:xfrm>
          <a:prstGeom prst="roundRect">
            <a:avLst>
              <a:gd name="adj" fmla="val 12500"/>
            </a:avLst>
          </a:prstGeom>
          <a:solidFill>
            <a:schemeClr val="accent1"/>
          </a:solidFill>
          <a:ln/>
        </p:spPr>
      </p:sp>
      <p:sp>
        <p:nvSpPr>
          <p:cNvPr id="11" name="Text 8"/>
          <p:cNvSpPr txBox="1"/>
          <p:nvPr/>
        </p:nvSpPr>
        <p:spPr>
          <a:xfrm>
            <a:off x="4480560" y="4846320"/>
            <a:ext cx="3246120" cy="731520"/>
          </a:xfrm>
          <a:prstGeom prst="rect">
            <a:avLst/>
          </a:prstGeom>
          <a:noFill/>
          <a:ln/>
        </p:spPr>
        <p:txBody>
          <a:bodyPr wrap="square" lIns="0" tIns="0" rIns="0" bIns="0" rtlCol="0" anchor="ctr"/>
          <a:lstStyle/>
          <a:p>
            <a:pPr marL="0" indent="0" algn="ctr">
              <a:buNone/>
            </a:pPr>
            <a:r>
              <a:rPr lang="en-US" sz="1500" b="1" dirty="0">
                <a:solidFill>
                  <a:srgbClr val="FFFFFF"/>
                </a:solidFill>
              </a:rPr>
              <a:t>HDFS processed datasets</a:t>
            </a:r>
            <a:endParaRPr lang="en-US" sz="1500" dirty="0"/>
          </a:p>
        </p:txBody>
      </p:sp>
      <p:sp>
        <p:nvSpPr>
          <p:cNvPr id="12" name="Shape 9"/>
          <p:cNvSpPr/>
          <p:nvPr/>
        </p:nvSpPr>
        <p:spPr>
          <a:xfrm>
            <a:off x="7726680" y="5212080"/>
            <a:ext cx="685800" cy="0"/>
          </a:xfrm>
          <a:prstGeom prst="line">
            <a:avLst/>
          </a:prstGeom>
          <a:noFill/>
          <a:ln w="25400">
            <a:solidFill>
              <a:schemeClr val="tx2"/>
            </a:solidFill>
            <a:prstDash val="solid"/>
            <a:tailEnd type="triangle"/>
          </a:ln>
        </p:spPr>
      </p:sp>
      <p:sp>
        <p:nvSpPr>
          <p:cNvPr id="13" name="Shape 10"/>
          <p:cNvSpPr/>
          <p:nvPr/>
        </p:nvSpPr>
        <p:spPr>
          <a:xfrm>
            <a:off x="8412480" y="4846320"/>
            <a:ext cx="3246120" cy="731520"/>
          </a:xfrm>
          <a:prstGeom prst="roundRect">
            <a:avLst>
              <a:gd name="adj" fmla="val 12500"/>
            </a:avLst>
          </a:prstGeom>
          <a:solidFill>
            <a:schemeClr val="accent3"/>
          </a:solidFill>
          <a:ln/>
        </p:spPr>
      </p:sp>
      <p:sp>
        <p:nvSpPr>
          <p:cNvPr id="14" name="Text 11"/>
          <p:cNvSpPr txBox="1"/>
          <p:nvPr/>
        </p:nvSpPr>
        <p:spPr>
          <a:xfrm>
            <a:off x="8412480" y="4846320"/>
            <a:ext cx="3246120" cy="731520"/>
          </a:xfrm>
          <a:prstGeom prst="rect">
            <a:avLst/>
          </a:prstGeom>
          <a:noFill/>
          <a:ln/>
        </p:spPr>
        <p:txBody>
          <a:bodyPr wrap="square" lIns="0" tIns="0" rIns="0" bIns="0" rtlCol="0" anchor="ctr"/>
          <a:lstStyle/>
          <a:p>
            <a:pPr marL="0" indent="0" algn="ctr">
              <a:buNone/>
            </a:pPr>
            <a:r>
              <a:rPr lang="en-US" sz="1500" b="1" dirty="0">
                <a:solidFill>
                  <a:schemeClr val="tx2"/>
                </a:solidFill>
              </a:rPr>
              <a:t>Hive structured tables</a:t>
            </a:r>
            <a:endParaRPr lang="en-US" sz="1500" dirty="0"/>
          </a:p>
        </p:txBody>
      </p:sp>
      <p:sp>
        <p:nvSpPr>
          <p:cNvPr id="15" name="Text 12"/>
          <p:cNvSpPr txBox="1"/>
          <p:nvPr/>
        </p:nvSpPr>
        <p:spPr>
          <a:xfrm>
            <a:off x="548640" y="5760720"/>
            <a:ext cx="11064240" cy="365760"/>
          </a:xfrm>
          <a:prstGeom prst="rect">
            <a:avLst/>
          </a:prstGeom>
          <a:noFill/>
          <a:ln/>
        </p:spPr>
        <p:txBody>
          <a:bodyPr wrap="square" lIns="0" tIns="0" rIns="0" bIns="0" rtlCol="0" anchor="t"/>
          <a:lstStyle/>
          <a:p>
            <a:pPr marL="0" indent="0">
              <a:buNone/>
            </a:pPr>
            <a:r>
              <a:rPr lang="en-US" sz="1400" b="1" dirty="0">
                <a:solidFill>
                  <a:schemeClr val="accent2"/>
                </a:solidFill>
              </a:rPr>
              <a:t>Each dataset is written to HDFS and consumed by Task 3</a:t>
            </a:r>
            <a:endParaRPr lang="en-US" sz="1400" dirty="0"/>
          </a:p>
        </p:txBody>
      </p:sp>
      <p:sp>
        <p:nvSpPr>
          <p:cNvPr id="25" name="Slide Number Placeholder 0"/>
          <p:cNvSpPr>
            <a:spLocks noGrp="1"/>
          </p:cNvSpPr>
          <p:nvPr>
            <p:ph type="sldNum" sz="quarter" idx="4294967295"/>
          </p:nvPr>
        </p:nvSpPr>
        <p:spPr>
          <a:xfrm>
            <a:off x="10972800" y="6446520"/>
            <a:ext cx="64008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4" name="Text 2"/>
          <p:cNvSpPr txBox="1"/>
          <p:nvPr/>
        </p:nvSpPr>
        <p:spPr>
          <a:xfrm>
            <a:off x="640080" y="1234440"/>
            <a:ext cx="4572000" cy="274320"/>
          </a:xfrm>
          <a:prstGeom prst="rect">
            <a:avLst/>
          </a:prstGeom>
          <a:noFill/>
          <a:ln/>
        </p:spPr>
        <p:txBody>
          <a:bodyPr wrap="square" lIns="0" tIns="0" rIns="0" bIns="0" rtlCol="0" anchor="t"/>
          <a:lstStyle/>
          <a:p>
            <a:pPr marL="0" indent="0">
              <a:buNone/>
            </a:pPr>
            <a:r>
              <a:rPr lang="en-US" sz="1300" b="1" kern="0" spc="300" dirty="0">
                <a:solidFill>
                  <a:srgbClr val="0E9AA7"/>
                </a:solidFill>
              </a:rPr>
              <a:t>SECTION III</a:t>
            </a:r>
            <a:endParaRPr lang="en-US" sz="1300" dirty="0"/>
          </a:p>
        </p:txBody>
      </p:sp>
      <p:sp>
        <p:nvSpPr>
          <p:cNvPr id="5" name="Text 3"/>
          <p:cNvSpPr txBox="1"/>
          <p:nvPr/>
        </p:nvSpPr>
        <p:spPr>
          <a:xfrm>
            <a:off x="640080" y="1600200"/>
            <a:ext cx="5669280" cy="182880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Task 3: Structured Analytics with Apache Hive</a:t>
            </a:r>
            <a:endParaRPr lang="en-US" sz="3600" dirty="0"/>
          </a:p>
        </p:txBody>
      </p:sp>
      <p:sp>
        <p:nvSpPr>
          <p:cNvPr id="6" name="Text 4"/>
          <p:cNvSpPr txBox="1"/>
          <p:nvPr/>
        </p:nvSpPr>
        <p:spPr>
          <a:xfrm>
            <a:off x="640080" y="3657600"/>
            <a:ext cx="5486400" cy="1280160"/>
          </a:xfrm>
          <a:prstGeom prst="rect">
            <a:avLst/>
          </a:prstGeom>
          <a:noFill/>
          <a:ln/>
        </p:spPr>
        <p:txBody>
          <a:bodyPr wrap="square" lIns="0" tIns="0" rIns="0" bIns="0" rtlCol="0" anchor="t"/>
          <a:lstStyle/>
          <a:p>
            <a:pPr marL="0" indent="0">
              <a:buNone/>
            </a:pPr>
            <a:r>
              <a:rPr lang="en-US" sz="1800" dirty="0">
                <a:solidFill>
                  <a:srgbClr val="CADCFC"/>
                </a:solidFill>
              </a:rPr>
              <a:t>Pig prepares the data. Hive makes the processed outputs accessible through structured tables and SQL-style queries.</a:t>
            </a:r>
            <a:endParaRPr lang="en-US" sz="1800" dirty="0"/>
          </a:p>
        </p:txBody>
      </p:sp>
      <p:sp>
        <p:nvSpPr>
          <p:cNvPr id="7" name="Shape 5"/>
          <p:cNvSpPr/>
          <p:nvPr/>
        </p:nvSpPr>
        <p:spPr>
          <a:xfrm>
            <a:off x="6858000" y="1463040"/>
            <a:ext cx="4754880" cy="1737360"/>
          </a:xfrm>
          <a:prstGeom prst="roundRect">
            <a:avLst>
              <a:gd name="adj" fmla="val 6316"/>
            </a:avLst>
          </a:prstGeom>
          <a:solidFill>
            <a:schemeClr val="accent2">
              <a:alpha val="75000"/>
            </a:schemeClr>
          </a:solidFill>
          <a:ln/>
        </p:spPr>
      </p:sp>
      <p:sp>
        <p:nvSpPr>
          <p:cNvPr id="8" name="Text 6"/>
          <p:cNvSpPr txBox="1"/>
          <p:nvPr/>
        </p:nvSpPr>
        <p:spPr>
          <a:xfrm>
            <a:off x="7132320" y="1463040"/>
            <a:ext cx="4206240" cy="1737360"/>
          </a:xfrm>
          <a:prstGeom prst="rect">
            <a:avLst/>
          </a:prstGeom>
          <a:noFill/>
          <a:ln/>
        </p:spPr>
        <p:txBody>
          <a:bodyPr wrap="square" lIns="0" tIns="0" rIns="0" bIns="0" rtlCol="0" anchor="ctr"/>
          <a:lstStyle/>
          <a:p>
            <a:pPr marL="0" indent="0">
              <a:buNone/>
            </a:pPr>
            <a:r>
              <a:rPr lang="en-US" sz="2000" b="1" dirty="0">
                <a:solidFill>
                  <a:srgbClr val="FFFFFF"/>
                </a:solidFill>
              </a:rPr>
              <a:t>Apache Pig</a:t>
            </a:r>
            <a:endParaRPr lang="en-US" sz="1400" dirty="0"/>
          </a:p>
          <a:p>
            <a:pPr marL="0" indent="0">
              <a:buNone/>
            </a:pPr>
            <a:r>
              <a:rPr lang="en-US" sz="1400" dirty="0">
                <a:solidFill>
                  <a:srgbClr val="E3EEF7"/>
                </a:solidFill>
              </a:rPr>
              <a:t>normalize, split, aggregate</a:t>
            </a:r>
            <a:endParaRPr lang="en-US" sz="1400" dirty="0"/>
          </a:p>
          <a:p>
            <a:pPr marL="0" indent="0">
              <a:buNone/>
            </a:pPr>
            <a:r>
              <a:rPr lang="en-US" sz="1400" dirty="0">
                <a:solidFill>
                  <a:srgbClr val="E3EEF7"/>
                </a:solidFill>
              </a:rPr>
              <a:t>files in HDFS</a:t>
            </a:r>
            <a:endParaRPr lang="en-US" sz="1400" dirty="0"/>
          </a:p>
        </p:txBody>
      </p:sp>
      <p:sp>
        <p:nvSpPr>
          <p:cNvPr id="9" name="Shape 7"/>
          <p:cNvSpPr/>
          <p:nvPr/>
        </p:nvSpPr>
        <p:spPr>
          <a:xfrm>
            <a:off x="9235440" y="3200400"/>
            <a:ext cx="0" cy="640080"/>
          </a:xfrm>
          <a:prstGeom prst="line">
            <a:avLst/>
          </a:prstGeom>
          <a:noFill/>
          <a:ln w="31750">
            <a:solidFill>
              <a:srgbClr val="9FB3C8"/>
            </a:solidFill>
            <a:prstDash val="solid"/>
            <a:tailEnd type="triangle"/>
          </a:ln>
        </p:spPr>
      </p:sp>
      <p:sp>
        <p:nvSpPr>
          <p:cNvPr id="10" name="Shape 8"/>
          <p:cNvSpPr/>
          <p:nvPr/>
        </p:nvSpPr>
        <p:spPr>
          <a:xfrm>
            <a:off x="6858000" y="3840480"/>
            <a:ext cx="4754880" cy="1737360"/>
          </a:xfrm>
          <a:prstGeom prst="roundRect">
            <a:avLst>
              <a:gd name="adj" fmla="val 6316"/>
            </a:avLst>
          </a:prstGeom>
          <a:solidFill>
            <a:schemeClr val="accent3"/>
          </a:solidFill>
          <a:ln/>
        </p:spPr>
      </p:sp>
      <p:sp>
        <p:nvSpPr>
          <p:cNvPr id="11" name="Text 9"/>
          <p:cNvSpPr txBox="1"/>
          <p:nvPr/>
        </p:nvSpPr>
        <p:spPr>
          <a:xfrm>
            <a:off x="7132320" y="3840480"/>
            <a:ext cx="4206240" cy="1737360"/>
          </a:xfrm>
          <a:prstGeom prst="rect">
            <a:avLst/>
          </a:prstGeom>
          <a:noFill/>
          <a:ln/>
        </p:spPr>
        <p:txBody>
          <a:bodyPr wrap="square" lIns="0" tIns="0" rIns="0" bIns="0" rtlCol="0" anchor="ctr"/>
          <a:lstStyle/>
          <a:p>
            <a:pPr marL="0" indent="0">
              <a:buNone/>
            </a:pPr>
            <a:r>
              <a:rPr lang="en-US" sz="2000" b="1" dirty="0">
                <a:solidFill>
                  <a:srgbClr val="0B1F3A"/>
                </a:solidFill>
              </a:rPr>
              <a:t>Apache Hive</a:t>
            </a:r>
            <a:endParaRPr lang="en-US" sz="1400" dirty="0"/>
          </a:p>
          <a:p>
            <a:pPr marL="0" indent="0">
              <a:buNone/>
            </a:pPr>
            <a:r>
              <a:rPr lang="en-US" sz="1400" dirty="0">
                <a:solidFill>
                  <a:srgbClr val="0B1F3A"/>
                </a:solidFill>
              </a:rPr>
              <a:t>tables + HiveQL queries</a:t>
            </a:r>
            <a:endParaRPr lang="en-US" sz="1400" dirty="0"/>
          </a:p>
          <a:p>
            <a:pPr marL="0" indent="0">
              <a:buNone/>
            </a:pPr>
            <a:r>
              <a:rPr lang="en-US" sz="1400" dirty="0">
                <a:solidFill>
                  <a:srgbClr val="0B1F3A"/>
                </a:solidFill>
              </a:rPr>
              <a:t>Hive 3.1.3 on Hadoop 3.3.6 (WSL 2)</a:t>
            </a:r>
            <a:endParaRPr lang="en-US" sz="14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3C8"/>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TASK 3: TABLES</a:t>
            </a:r>
            <a:endParaRPr lang="en-US" sz="1200" dirty="0"/>
          </a:p>
        </p:txBody>
      </p:sp>
      <p:sp>
        <p:nvSpPr>
          <p:cNvPr id="3" name="Text 0"/>
          <p:cNvSpPr>
            <a:spLocks noGrp="1"/>
          </p:cNvSpPr>
          <p:nvPr>
            <p:ph type="title" idx="100" hasCustomPrompt="1"/>
          </p:nvPr>
        </p:nvSpPr>
        <p:spPr>
          <a:xfrm>
            <a:off x="548640" y="566928"/>
            <a:ext cx="9418320" cy="685800"/>
          </a:xfrm>
          <a:prstGeom prst="rect">
            <a:avLst/>
          </a:prstGeom>
          <a:noFill/>
          <a:ln/>
        </p:spPr>
        <p:txBody>
          <a:bodyPr wrap="square" lIns="0" tIns="0" rIns="0" bIns="0" rtlCol="0" anchor="ctr"/>
          <a:lstStyle/>
          <a:p>
            <a:pPr marL="0" indent="0" algn="l">
              <a:buNone/>
            </a:pPr>
            <a:r>
              <a:rPr lang="en-US" sz="3200" b="1" dirty="0">
                <a:solidFill>
                  <a:schemeClr val="tx2"/>
                </a:solidFill>
              </a:rPr>
              <a:t>Hive Table Design</a:t>
            </a:r>
            <a:endParaRPr lang="en-US" sz="3200" dirty="0"/>
          </a:p>
        </p:txBody>
      </p:sp>
      <p:sp>
        <p:nvSpPr>
          <p:cNvPr id="6" name="Text 4"/>
          <p:cNvSpPr txBox="1"/>
          <p:nvPr/>
        </p:nvSpPr>
        <p:spPr>
          <a:xfrm>
            <a:off x="548640" y="1325880"/>
            <a:ext cx="2926080" cy="274320"/>
          </a:xfrm>
          <a:prstGeom prst="rect">
            <a:avLst/>
          </a:prstGeom>
          <a:noFill/>
          <a:ln/>
        </p:spPr>
        <p:txBody>
          <a:bodyPr wrap="square" lIns="0" tIns="0" rIns="0" bIns="0" rtlCol="0" anchor="t"/>
          <a:lstStyle/>
          <a:p>
            <a:pPr marL="0" indent="0">
              <a:buNone/>
            </a:pPr>
            <a:r>
              <a:rPr lang="en-US" sz="1200" b="1" kern="0" spc="100" dirty="0">
                <a:solidFill>
                  <a:schemeClr val="accent4"/>
                </a:solidFill>
              </a:rPr>
              <a:t>HDFS files (Pig output)</a:t>
            </a:r>
            <a:endParaRPr lang="en-US" sz="1200" dirty="0"/>
          </a:p>
        </p:txBody>
      </p:sp>
      <p:sp>
        <p:nvSpPr>
          <p:cNvPr id="7" name="Text 5"/>
          <p:cNvSpPr txBox="1"/>
          <p:nvPr/>
        </p:nvSpPr>
        <p:spPr>
          <a:xfrm>
            <a:off x="4389120" y="1325880"/>
            <a:ext cx="3108960" cy="274320"/>
          </a:xfrm>
          <a:prstGeom prst="rect">
            <a:avLst/>
          </a:prstGeom>
          <a:noFill/>
          <a:ln/>
        </p:spPr>
        <p:txBody>
          <a:bodyPr wrap="square" lIns="0" tIns="0" rIns="0" bIns="0" rtlCol="0" anchor="t"/>
          <a:lstStyle/>
          <a:p>
            <a:pPr marL="0" indent="0">
              <a:buNone/>
            </a:pPr>
            <a:r>
              <a:rPr lang="en-US" sz="1200" b="1" kern="0" spc="100" dirty="0">
                <a:solidFill>
                  <a:schemeClr val="accent4"/>
                </a:solidFill>
              </a:rPr>
              <a:t>Hive tables (metadata)</a:t>
            </a:r>
            <a:endParaRPr lang="en-US" sz="1200" dirty="0"/>
          </a:p>
        </p:txBody>
      </p:sp>
      <p:sp>
        <p:nvSpPr>
          <p:cNvPr id="8" name="Text 6"/>
          <p:cNvSpPr txBox="1"/>
          <p:nvPr/>
        </p:nvSpPr>
        <p:spPr>
          <a:xfrm>
            <a:off x="7863840" y="1325880"/>
            <a:ext cx="2743200" cy="274320"/>
          </a:xfrm>
          <a:prstGeom prst="rect">
            <a:avLst/>
          </a:prstGeom>
          <a:noFill/>
          <a:ln/>
        </p:spPr>
        <p:txBody>
          <a:bodyPr wrap="square" lIns="0" tIns="0" rIns="0" bIns="0" rtlCol="0" anchor="t"/>
          <a:lstStyle/>
          <a:p>
            <a:pPr marL="0" indent="0">
              <a:buNone/>
            </a:pPr>
            <a:r>
              <a:rPr lang="en-US" sz="1200" b="1" kern="0" spc="100" dirty="0">
                <a:solidFill>
                  <a:schemeClr val="accent4"/>
                </a:solidFill>
              </a:rPr>
              <a:t>Role</a:t>
            </a:r>
            <a:endParaRPr lang="en-US" sz="1200" dirty="0"/>
          </a:p>
        </p:txBody>
      </p:sp>
      <p:sp>
        <p:nvSpPr>
          <p:cNvPr id="9" name="Shape 7"/>
          <p:cNvSpPr/>
          <p:nvPr/>
        </p:nvSpPr>
        <p:spPr>
          <a:xfrm>
            <a:off x="548640" y="1691640"/>
            <a:ext cx="3108960" cy="420624"/>
          </a:xfrm>
          <a:prstGeom prst="roundRect">
            <a:avLst>
              <a:gd name="adj" fmla="val 13043"/>
            </a:avLst>
          </a:prstGeom>
          <a:solidFill>
            <a:schemeClr val="accent1">
              <a:alpha val="20000"/>
            </a:schemeClr>
          </a:solidFill>
          <a:ln w="15875">
            <a:solidFill>
              <a:schemeClr val="accent1"/>
            </a:solidFill>
            <a:prstDash val="solid"/>
          </a:ln>
        </p:spPr>
      </p:sp>
      <p:sp>
        <p:nvSpPr>
          <p:cNvPr id="10" name="Text 8"/>
          <p:cNvSpPr txBox="1"/>
          <p:nvPr/>
        </p:nvSpPr>
        <p:spPr>
          <a:xfrm>
            <a:off x="548640" y="1691640"/>
            <a:ext cx="3108960" cy="420624"/>
          </a:xfrm>
          <a:prstGeom prst="rect">
            <a:avLst/>
          </a:prstGeom>
          <a:noFill/>
          <a:ln/>
        </p:spPr>
        <p:txBody>
          <a:bodyPr wrap="square" lIns="0" tIns="0" rIns="0" bIns="0" rtlCol="0" anchor="ctr"/>
          <a:lstStyle/>
          <a:p>
            <a:pPr marL="0" indent="0" algn="ctr">
              <a:buNone/>
            </a:pPr>
            <a:r>
              <a:rPr lang="en-US" sz="1150" dirty="0">
                <a:solidFill>
                  <a:schemeClr val="tx1"/>
                </a:solidFill>
                <a:latin typeface="Courier New" pitchFamily="34" charset="0"/>
                <a:ea typeface="Courier New" pitchFamily="34" charset="-122"/>
                <a:cs typeface="Courier New" pitchFamily="34" charset="-120"/>
              </a:rPr>
              <a:t>processed/jobs/</a:t>
            </a:r>
            <a:endParaRPr lang="en-US" sz="1150" dirty="0"/>
          </a:p>
        </p:txBody>
      </p:sp>
      <p:sp>
        <p:nvSpPr>
          <p:cNvPr id="11" name="Shape 9"/>
          <p:cNvSpPr/>
          <p:nvPr/>
        </p:nvSpPr>
        <p:spPr>
          <a:xfrm>
            <a:off x="3657600" y="1901952"/>
            <a:ext cx="731520" cy="0"/>
          </a:xfrm>
          <a:prstGeom prst="line">
            <a:avLst/>
          </a:prstGeom>
          <a:noFill/>
          <a:ln w="19050">
            <a:solidFill>
              <a:schemeClr val="tx2"/>
            </a:solidFill>
            <a:prstDash val="solid"/>
            <a:tailEnd type="triangle"/>
          </a:ln>
        </p:spPr>
      </p:sp>
      <p:sp>
        <p:nvSpPr>
          <p:cNvPr id="12" name="Shape 10"/>
          <p:cNvSpPr/>
          <p:nvPr/>
        </p:nvSpPr>
        <p:spPr>
          <a:xfrm>
            <a:off x="4389120" y="1691640"/>
            <a:ext cx="3108960" cy="420624"/>
          </a:xfrm>
          <a:prstGeom prst="roundRect">
            <a:avLst>
              <a:gd name="adj" fmla="val 13043"/>
            </a:avLst>
          </a:prstGeom>
          <a:solidFill>
            <a:schemeClr val="accent3"/>
          </a:solidFill>
          <a:ln/>
        </p:spPr>
      </p:sp>
      <p:sp>
        <p:nvSpPr>
          <p:cNvPr id="13" name="Text 11"/>
          <p:cNvSpPr txBox="1"/>
          <p:nvPr/>
        </p:nvSpPr>
        <p:spPr>
          <a:xfrm>
            <a:off x="4389120" y="1691640"/>
            <a:ext cx="3108960" cy="420624"/>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jobs</a:t>
            </a:r>
            <a:endParaRPr lang="en-US" sz="1300" dirty="0"/>
          </a:p>
        </p:txBody>
      </p:sp>
      <p:sp>
        <p:nvSpPr>
          <p:cNvPr id="14" name="Text 12"/>
          <p:cNvSpPr txBox="1"/>
          <p:nvPr/>
        </p:nvSpPr>
        <p:spPr>
          <a:xfrm>
            <a:off x="7863840" y="1691640"/>
            <a:ext cx="3794760" cy="420624"/>
          </a:xfrm>
          <a:prstGeom prst="rect">
            <a:avLst/>
          </a:prstGeom>
          <a:noFill/>
          <a:ln/>
        </p:spPr>
        <p:txBody>
          <a:bodyPr wrap="square" lIns="0" tIns="0" rIns="0" bIns="0" rtlCol="0" anchor="ctr"/>
          <a:lstStyle/>
          <a:p>
            <a:pPr marL="0" indent="0">
              <a:buNone/>
            </a:pPr>
            <a:r>
              <a:rPr lang="en-US" sz="1400" dirty="0">
                <a:solidFill>
                  <a:schemeClr val="tx1"/>
                </a:solidFill>
              </a:rPr>
              <a:t>One row per normalized posting</a:t>
            </a:r>
            <a:endParaRPr lang="en-US" sz="1400" dirty="0"/>
          </a:p>
        </p:txBody>
      </p:sp>
      <p:sp>
        <p:nvSpPr>
          <p:cNvPr id="15" name="Shape 13"/>
          <p:cNvSpPr/>
          <p:nvPr/>
        </p:nvSpPr>
        <p:spPr>
          <a:xfrm>
            <a:off x="548640" y="2221992"/>
            <a:ext cx="3108960" cy="420624"/>
          </a:xfrm>
          <a:prstGeom prst="roundRect">
            <a:avLst>
              <a:gd name="adj" fmla="val 13043"/>
            </a:avLst>
          </a:prstGeom>
          <a:solidFill>
            <a:schemeClr val="accent1">
              <a:alpha val="20000"/>
            </a:schemeClr>
          </a:solidFill>
          <a:ln w="15875">
            <a:solidFill>
              <a:schemeClr val="accent1"/>
            </a:solidFill>
            <a:prstDash val="solid"/>
          </a:ln>
        </p:spPr>
      </p:sp>
      <p:sp>
        <p:nvSpPr>
          <p:cNvPr id="16" name="Text 14"/>
          <p:cNvSpPr txBox="1"/>
          <p:nvPr/>
        </p:nvSpPr>
        <p:spPr>
          <a:xfrm>
            <a:off x="548640" y="2221992"/>
            <a:ext cx="3108960" cy="420624"/>
          </a:xfrm>
          <a:prstGeom prst="rect">
            <a:avLst/>
          </a:prstGeom>
          <a:noFill/>
          <a:ln/>
        </p:spPr>
        <p:txBody>
          <a:bodyPr wrap="square" lIns="0" tIns="0" rIns="0" bIns="0" rtlCol="0" anchor="ctr"/>
          <a:lstStyle/>
          <a:p>
            <a:pPr marL="0" indent="0" algn="ctr">
              <a:buNone/>
            </a:pPr>
            <a:r>
              <a:rPr lang="en-US" sz="1150" dirty="0">
                <a:solidFill>
                  <a:schemeClr val="tx1"/>
                </a:solidFill>
                <a:latin typeface="Courier New" pitchFamily="34" charset="0"/>
                <a:ea typeface="Courier New" pitchFamily="34" charset="-122"/>
                <a:cs typeface="Courier New" pitchFamily="34" charset="-120"/>
              </a:rPr>
              <a:t>processed/skills/</a:t>
            </a:r>
            <a:endParaRPr lang="en-US" sz="1150" dirty="0"/>
          </a:p>
        </p:txBody>
      </p:sp>
      <p:sp>
        <p:nvSpPr>
          <p:cNvPr id="17" name="Shape 15"/>
          <p:cNvSpPr/>
          <p:nvPr/>
        </p:nvSpPr>
        <p:spPr>
          <a:xfrm>
            <a:off x="3657600" y="2432304"/>
            <a:ext cx="731520" cy="0"/>
          </a:xfrm>
          <a:prstGeom prst="line">
            <a:avLst/>
          </a:prstGeom>
          <a:noFill/>
          <a:ln w="19050">
            <a:solidFill>
              <a:schemeClr val="tx2"/>
            </a:solidFill>
            <a:prstDash val="solid"/>
            <a:tailEnd type="triangle"/>
          </a:ln>
        </p:spPr>
      </p:sp>
      <p:sp>
        <p:nvSpPr>
          <p:cNvPr id="18" name="Shape 16"/>
          <p:cNvSpPr/>
          <p:nvPr/>
        </p:nvSpPr>
        <p:spPr>
          <a:xfrm>
            <a:off x="4389120" y="2221992"/>
            <a:ext cx="3108960" cy="420624"/>
          </a:xfrm>
          <a:prstGeom prst="roundRect">
            <a:avLst>
              <a:gd name="adj" fmla="val 13043"/>
            </a:avLst>
          </a:prstGeom>
          <a:solidFill>
            <a:schemeClr val="accent3"/>
          </a:solidFill>
          <a:ln/>
        </p:spPr>
      </p:sp>
      <p:sp>
        <p:nvSpPr>
          <p:cNvPr id="19" name="Text 17"/>
          <p:cNvSpPr txBox="1"/>
          <p:nvPr/>
        </p:nvSpPr>
        <p:spPr>
          <a:xfrm>
            <a:off x="4389120" y="2221992"/>
            <a:ext cx="3108960" cy="420624"/>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job_skills</a:t>
            </a:r>
            <a:endParaRPr lang="en-US" sz="1300" dirty="0"/>
          </a:p>
        </p:txBody>
      </p:sp>
      <p:sp>
        <p:nvSpPr>
          <p:cNvPr id="20" name="Text 18"/>
          <p:cNvSpPr txBox="1"/>
          <p:nvPr/>
        </p:nvSpPr>
        <p:spPr>
          <a:xfrm>
            <a:off x="7863840" y="2221992"/>
            <a:ext cx="3794760" cy="420624"/>
          </a:xfrm>
          <a:prstGeom prst="rect">
            <a:avLst/>
          </a:prstGeom>
          <a:noFill/>
          <a:ln/>
        </p:spPr>
        <p:txBody>
          <a:bodyPr wrap="square" lIns="0" tIns="0" rIns="0" bIns="0" rtlCol="0" anchor="ctr"/>
          <a:lstStyle/>
          <a:p>
            <a:pPr marL="0" indent="0">
              <a:buNone/>
            </a:pPr>
            <a:r>
              <a:rPr lang="en-US" sz="1400" dirty="0">
                <a:solidFill>
                  <a:schemeClr val="tx1"/>
                </a:solidFill>
              </a:rPr>
              <a:t>(job, skill) pairs</a:t>
            </a:r>
            <a:endParaRPr lang="en-US" sz="1400" dirty="0"/>
          </a:p>
        </p:txBody>
      </p:sp>
      <p:sp>
        <p:nvSpPr>
          <p:cNvPr id="21" name="Shape 19"/>
          <p:cNvSpPr/>
          <p:nvPr/>
        </p:nvSpPr>
        <p:spPr>
          <a:xfrm>
            <a:off x="548640" y="2752344"/>
            <a:ext cx="3108960" cy="420624"/>
          </a:xfrm>
          <a:prstGeom prst="roundRect">
            <a:avLst>
              <a:gd name="adj" fmla="val 13043"/>
            </a:avLst>
          </a:prstGeom>
          <a:solidFill>
            <a:schemeClr val="accent1">
              <a:alpha val="20000"/>
            </a:schemeClr>
          </a:solidFill>
          <a:ln w="15875">
            <a:solidFill>
              <a:schemeClr val="accent1"/>
            </a:solidFill>
            <a:prstDash val="solid"/>
          </a:ln>
        </p:spPr>
      </p:sp>
      <p:sp>
        <p:nvSpPr>
          <p:cNvPr id="22" name="Text 20"/>
          <p:cNvSpPr txBox="1"/>
          <p:nvPr/>
        </p:nvSpPr>
        <p:spPr>
          <a:xfrm>
            <a:off x="548640" y="2752344"/>
            <a:ext cx="3108960" cy="420624"/>
          </a:xfrm>
          <a:prstGeom prst="rect">
            <a:avLst/>
          </a:prstGeom>
          <a:noFill/>
          <a:ln/>
        </p:spPr>
        <p:txBody>
          <a:bodyPr wrap="square" lIns="0" tIns="0" rIns="0" bIns="0" rtlCol="0" anchor="ctr"/>
          <a:lstStyle/>
          <a:p>
            <a:pPr marL="0" indent="0" algn="ctr">
              <a:buNone/>
            </a:pPr>
            <a:r>
              <a:rPr lang="en-US" sz="1150" dirty="0">
                <a:solidFill>
                  <a:schemeClr val="tx1"/>
                </a:solidFill>
                <a:latin typeface="Courier New" pitchFamily="34" charset="0"/>
                <a:ea typeface="Courier New" pitchFamily="34" charset="-122"/>
                <a:cs typeface="Courier New" pitchFamily="34" charset="-120"/>
              </a:rPr>
              <a:t>processed/location/</a:t>
            </a:r>
            <a:endParaRPr lang="en-US" sz="1150" dirty="0"/>
          </a:p>
        </p:txBody>
      </p:sp>
      <p:sp>
        <p:nvSpPr>
          <p:cNvPr id="23" name="Shape 21"/>
          <p:cNvSpPr/>
          <p:nvPr/>
        </p:nvSpPr>
        <p:spPr>
          <a:xfrm>
            <a:off x="3657600" y="2962656"/>
            <a:ext cx="731520" cy="0"/>
          </a:xfrm>
          <a:prstGeom prst="line">
            <a:avLst/>
          </a:prstGeom>
          <a:noFill/>
          <a:ln w="19050">
            <a:solidFill>
              <a:schemeClr val="tx2"/>
            </a:solidFill>
            <a:prstDash val="solid"/>
            <a:tailEnd type="triangle"/>
          </a:ln>
        </p:spPr>
      </p:sp>
      <p:sp>
        <p:nvSpPr>
          <p:cNvPr id="24" name="Shape 22"/>
          <p:cNvSpPr/>
          <p:nvPr/>
        </p:nvSpPr>
        <p:spPr>
          <a:xfrm>
            <a:off x="4389120" y="2752344"/>
            <a:ext cx="3108960" cy="420624"/>
          </a:xfrm>
          <a:prstGeom prst="roundRect">
            <a:avLst>
              <a:gd name="adj" fmla="val 13043"/>
            </a:avLst>
          </a:prstGeom>
          <a:solidFill>
            <a:schemeClr val="accent3"/>
          </a:solidFill>
          <a:ln/>
        </p:spPr>
      </p:sp>
      <p:sp>
        <p:nvSpPr>
          <p:cNvPr id="25" name="Text 23"/>
          <p:cNvSpPr txBox="1"/>
          <p:nvPr/>
        </p:nvSpPr>
        <p:spPr>
          <a:xfrm>
            <a:off x="4389120" y="2752344"/>
            <a:ext cx="3108960" cy="420624"/>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job_locations</a:t>
            </a:r>
            <a:endParaRPr lang="en-US" sz="1300" dirty="0"/>
          </a:p>
        </p:txBody>
      </p:sp>
      <p:sp>
        <p:nvSpPr>
          <p:cNvPr id="26" name="Text 24"/>
          <p:cNvSpPr txBox="1"/>
          <p:nvPr/>
        </p:nvSpPr>
        <p:spPr>
          <a:xfrm>
            <a:off x="7863840" y="2752344"/>
            <a:ext cx="3794760" cy="420624"/>
          </a:xfrm>
          <a:prstGeom prst="rect">
            <a:avLst/>
          </a:prstGeom>
          <a:noFill/>
          <a:ln/>
        </p:spPr>
        <p:txBody>
          <a:bodyPr wrap="square" lIns="0" tIns="0" rIns="0" bIns="0" rtlCol="0" anchor="ctr"/>
          <a:lstStyle/>
          <a:p>
            <a:pPr marL="0" indent="0">
              <a:buNone/>
            </a:pPr>
            <a:r>
              <a:rPr lang="en-US" sz="1400" dirty="0">
                <a:solidFill>
                  <a:schemeClr val="tx1"/>
                </a:solidFill>
              </a:rPr>
              <a:t>Postings per location (job_count)</a:t>
            </a:r>
            <a:endParaRPr lang="en-US" sz="1400" dirty="0"/>
          </a:p>
        </p:txBody>
      </p:sp>
      <p:sp>
        <p:nvSpPr>
          <p:cNvPr id="27" name="Shape 25"/>
          <p:cNvSpPr/>
          <p:nvPr/>
        </p:nvSpPr>
        <p:spPr>
          <a:xfrm>
            <a:off x="548640" y="3282696"/>
            <a:ext cx="3108960" cy="420624"/>
          </a:xfrm>
          <a:prstGeom prst="roundRect">
            <a:avLst>
              <a:gd name="adj" fmla="val 13043"/>
            </a:avLst>
          </a:prstGeom>
          <a:solidFill>
            <a:schemeClr val="accent1">
              <a:alpha val="20000"/>
            </a:schemeClr>
          </a:solidFill>
          <a:ln w="15875">
            <a:solidFill>
              <a:schemeClr val="accent1"/>
            </a:solidFill>
            <a:prstDash val="solid"/>
          </a:ln>
        </p:spPr>
      </p:sp>
      <p:sp>
        <p:nvSpPr>
          <p:cNvPr id="28" name="Text 26"/>
          <p:cNvSpPr txBox="1"/>
          <p:nvPr/>
        </p:nvSpPr>
        <p:spPr>
          <a:xfrm>
            <a:off x="548640" y="3282696"/>
            <a:ext cx="3108960" cy="420624"/>
          </a:xfrm>
          <a:prstGeom prst="rect">
            <a:avLst/>
          </a:prstGeom>
          <a:noFill/>
          <a:ln/>
        </p:spPr>
        <p:txBody>
          <a:bodyPr wrap="square" lIns="0" tIns="0" rIns="0" bIns="0" rtlCol="0" anchor="ctr"/>
          <a:lstStyle/>
          <a:p>
            <a:pPr marL="0" indent="0" algn="ctr">
              <a:buNone/>
            </a:pPr>
            <a:r>
              <a:rPr lang="en-US" sz="1150" dirty="0">
                <a:solidFill>
                  <a:schemeClr val="tx1"/>
                </a:solidFill>
                <a:latin typeface="Courier New" pitchFamily="34" charset="0"/>
                <a:ea typeface="Courier New" pitchFamily="34" charset="-122"/>
                <a:cs typeface="Courier New" pitchFamily="34" charset="-120"/>
              </a:rPr>
              <a:t>processed/salary/</a:t>
            </a:r>
            <a:endParaRPr lang="en-US" sz="1150" dirty="0"/>
          </a:p>
        </p:txBody>
      </p:sp>
      <p:sp>
        <p:nvSpPr>
          <p:cNvPr id="29" name="Shape 27"/>
          <p:cNvSpPr/>
          <p:nvPr/>
        </p:nvSpPr>
        <p:spPr>
          <a:xfrm>
            <a:off x="3657600" y="3493008"/>
            <a:ext cx="731520" cy="0"/>
          </a:xfrm>
          <a:prstGeom prst="line">
            <a:avLst/>
          </a:prstGeom>
          <a:noFill/>
          <a:ln w="19050">
            <a:solidFill>
              <a:schemeClr val="tx2"/>
            </a:solidFill>
            <a:prstDash val="solid"/>
            <a:tailEnd type="triangle"/>
          </a:ln>
        </p:spPr>
      </p:sp>
      <p:sp>
        <p:nvSpPr>
          <p:cNvPr id="30" name="Shape 28"/>
          <p:cNvSpPr/>
          <p:nvPr/>
        </p:nvSpPr>
        <p:spPr>
          <a:xfrm>
            <a:off x="4389120" y="3282696"/>
            <a:ext cx="3108960" cy="420624"/>
          </a:xfrm>
          <a:prstGeom prst="roundRect">
            <a:avLst>
              <a:gd name="adj" fmla="val 13043"/>
            </a:avLst>
          </a:prstGeom>
          <a:solidFill>
            <a:schemeClr val="accent3"/>
          </a:solidFill>
          <a:ln/>
        </p:spPr>
      </p:sp>
      <p:sp>
        <p:nvSpPr>
          <p:cNvPr id="31" name="Text 29"/>
          <p:cNvSpPr txBox="1"/>
          <p:nvPr/>
        </p:nvSpPr>
        <p:spPr>
          <a:xfrm>
            <a:off x="4389120" y="3282696"/>
            <a:ext cx="3108960" cy="420624"/>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job_salary</a:t>
            </a:r>
            <a:endParaRPr lang="en-US" sz="1300" dirty="0"/>
          </a:p>
        </p:txBody>
      </p:sp>
      <p:sp>
        <p:nvSpPr>
          <p:cNvPr id="32" name="Text 30"/>
          <p:cNvSpPr txBox="1"/>
          <p:nvPr/>
        </p:nvSpPr>
        <p:spPr>
          <a:xfrm>
            <a:off x="7863840" y="3282696"/>
            <a:ext cx="3794760" cy="420624"/>
          </a:xfrm>
          <a:prstGeom prst="rect">
            <a:avLst/>
          </a:prstGeom>
          <a:noFill/>
          <a:ln/>
        </p:spPr>
        <p:txBody>
          <a:bodyPr wrap="square" lIns="0" tIns="0" rIns="0" bIns="0" rtlCol="0" anchor="ctr"/>
          <a:lstStyle/>
          <a:p>
            <a:pPr marL="0" indent="0">
              <a:buNone/>
            </a:pPr>
            <a:r>
              <a:rPr lang="en-US" sz="1400" dirty="0">
                <a:solidFill>
                  <a:schemeClr val="tx1"/>
                </a:solidFill>
              </a:rPr>
              <a:t>Role + currency salary stats</a:t>
            </a:r>
            <a:endParaRPr lang="en-US" sz="1400" dirty="0"/>
          </a:p>
        </p:txBody>
      </p:sp>
      <p:sp>
        <p:nvSpPr>
          <p:cNvPr id="33" name="Shape 31"/>
          <p:cNvSpPr/>
          <p:nvPr/>
        </p:nvSpPr>
        <p:spPr>
          <a:xfrm>
            <a:off x="548640" y="3813048"/>
            <a:ext cx="3108960" cy="420624"/>
          </a:xfrm>
          <a:prstGeom prst="roundRect">
            <a:avLst>
              <a:gd name="adj" fmla="val 13043"/>
            </a:avLst>
          </a:prstGeom>
          <a:solidFill>
            <a:schemeClr val="accent1">
              <a:alpha val="20000"/>
            </a:schemeClr>
          </a:solidFill>
          <a:ln w="15875">
            <a:solidFill>
              <a:schemeClr val="accent1"/>
            </a:solidFill>
            <a:prstDash val="solid"/>
          </a:ln>
        </p:spPr>
      </p:sp>
      <p:sp>
        <p:nvSpPr>
          <p:cNvPr id="34" name="Text 32"/>
          <p:cNvSpPr txBox="1"/>
          <p:nvPr/>
        </p:nvSpPr>
        <p:spPr>
          <a:xfrm>
            <a:off x="548640" y="3813048"/>
            <a:ext cx="3108960" cy="420624"/>
          </a:xfrm>
          <a:prstGeom prst="rect">
            <a:avLst/>
          </a:prstGeom>
          <a:noFill/>
          <a:ln/>
        </p:spPr>
        <p:txBody>
          <a:bodyPr wrap="square" lIns="0" tIns="0" rIns="0" bIns="0" rtlCol="0" anchor="ctr"/>
          <a:lstStyle/>
          <a:p>
            <a:pPr marL="0" indent="0" algn="ctr">
              <a:buNone/>
            </a:pPr>
            <a:r>
              <a:rPr lang="en-US" sz="1150" dirty="0">
                <a:solidFill>
                  <a:schemeClr val="tx1"/>
                </a:solidFill>
                <a:latin typeface="Courier New" pitchFamily="34" charset="0"/>
                <a:ea typeface="Courier New" pitchFamily="34" charset="-122"/>
                <a:cs typeface="Courier New" pitchFamily="34" charset="-120"/>
              </a:rPr>
              <a:t>processed/salary_location/</a:t>
            </a:r>
            <a:endParaRPr lang="en-US" sz="1150" dirty="0"/>
          </a:p>
        </p:txBody>
      </p:sp>
      <p:sp>
        <p:nvSpPr>
          <p:cNvPr id="35" name="Shape 33"/>
          <p:cNvSpPr/>
          <p:nvPr/>
        </p:nvSpPr>
        <p:spPr>
          <a:xfrm>
            <a:off x="3657600" y="4023360"/>
            <a:ext cx="731520" cy="0"/>
          </a:xfrm>
          <a:prstGeom prst="line">
            <a:avLst/>
          </a:prstGeom>
          <a:noFill/>
          <a:ln w="19050">
            <a:solidFill>
              <a:schemeClr val="tx2"/>
            </a:solidFill>
            <a:prstDash val="solid"/>
            <a:tailEnd type="triangle"/>
          </a:ln>
        </p:spPr>
      </p:sp>
      <p:sp>
        <p:nvSpPr>
          <p:cNvPr id="36" name="Shape 34"/>
          <p:cNvSpPr/>
          <p:nvPr/>
        </p:nvSpPr>
        <p:spPr>
          <a:xfrm>
            <a:off x="4389120" y="3813048"/>
            <a:ext cx="3108960" cy="420624"/>
          </a:xfrm>
          <a:prstGeom prst="roundRect">
            <a:avLst>
              <a:gd name="adj" fmla="val 13043"/>
            </a:avLst>
          </a:prstGeom>
          <a:solidFill>
            <a:schemeClr val="accent3"/>
          </a:solidFill>
          <a:ln/>
        </p:spPr>
      </p:sp>
      <p:sp>
        <p:nvSpPr>
          <p:cNvPr id="37" name="Text 35"/>
          <p:cNvSpPr txBox="1"/>
          <p:nvPr/>
        </p:nvSpPr>
        <p:spPr>
          <a:xfrm>
            <a:off x="4389120" y="3813048"/>
            <a:ext cx="3108960" cy="420624"/>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salary_by_location</a:t>
            </a:r>
            <a:endParaRPr lang="en-US" sz="1300" dirty="0"/>
          </a:p>
        </p:txBody>
      </p:sp>
      <p:sp>
        <p:nvSpPr>
          <p:cNvPr id="38" name="Text 36"/>
          <p:cNvSpPr txBox="1"/>
          <p:nvPr/>
        </p:nvSpPr>
        <p:spPr>
          <a:xfrm>
            <a:off x="7863840" y="3813048"/>
            <a:ext cx="3794760" cy="420624"/>
          </a:xfrm>
          <a:prstGeom prst="rect">
            <a:avLst/>
          </a:prstGeom>
          <a:noFill/>
          <a:ln/>
        </p:spPr>
        <p:txBody>
          <a:bodyPr wrap="square" lIns="0" tIns="0" rIns="0" bIns="0" rtlCol="0" anchor="ctr"/>
          <a:lstStyle/>
          <a:p>
            <a:pPr marL="0" indent="0">
              <a:buNone/>
            </a:pPr>
            <a:r>
              <a:rPr lang="en-US" sz="1400" dirty="0">
                <a:solidFill>
                  <a:schemeClr val="tx1"/>
                </a:solidFill>
              </a:rPr>
              <a:t>Location salary stats</a:t>
            </a:r>
            <a:endParaRPr lang="en-US" sz="1400" dirty="0"/>
          </a:p>
        </p:txBody>
      </p:sp>
      <p:sp>
        <p:nvSpPr>
          <p:cNvPr id="39" name="Shape 37"/>
          <p:cNvSpPr/>
          <p:nvPr/>
        </p:nvSpPr>
        <p:spPr>
          <a:xfrm>
            <a:off x="548640" y="4343400"/>
            <a:ext cx="3108960" cy="420624"/>
          </a:xfrm>
          <a:prstGeom prst="roundRect">
            <a:avLst>
              <a:gd name="adj" fmla="val 13043"/>
            </a:avLst>
          </a:prstGeom>
          <a:solidFill>
            <a:schemeClr val="accent1">
              <a:alpha val="20000"/>
            </a:schemeClr>
          </a:solidFill>
          <a:ln w="15875">
            <a:solidFill>
              <a:schemeClr val="accent1"/>
            </a:solidFill>
            <a:prstDash val="solid"/>
          </a:ln>
        </p:spPr>
      </p:sp>
      <p:sp>
        <p:nvSpPr>
          <p:cNvPr id="40" name="Text 38"/>
          <p:cNvSpPr txBox="1"/>
          <p:nvPr/>
        </p:nvSpPr>
        <p:spPr>
          <a:xfrm>
            <a:off x="548640" y="4343400"/>
            <a:ext cx="3108960" cy="420624"/>
          </a:xfrm>
          <a:prstGeom prst="rect">
            <a:avLst/>
          </a:prstGeom>
          <a:noFill/>
          <a:ln/>
        </p:spPr>
        <p:txBody>
          <a:bodyPr wrap="square" lIns="0" tIns="0" rIns="0" bIns="0" rtlCol="0" anchor="ctr"/>
          <a:lstStyle/>
          <a:p>
            <a:pPr marL="0" indent="0" algn="ctr">
              <a:buNone/>
            </a:pPr>
            <a:r>
              <a:rPr lang="en-US" sz="1150" dirty="0">
                <a:solidFill>
                  <a:schemeClr val="tx1"/>
                </a:solidFill>
                <a:latin typeface="Courier New" pitchFamily="34" charset="0"/>
                <a:ea typeface="Courier New" pitchFamily="34" charset="-122"/>
                <a:cs typeface="Courier New" pitchFamily="34" charset="-120"/>
              </a:rPr>
              <a:t>processed/skills_demand/</a:t>
            </a:r>
            <a:endParaRPr lang="en-US" sz="1150" dirty="0"/>
          </a:p>
        </p:txBody>
      </p:sp>
      <p:sp>
        <p:nvSpPr>
          <p:cNvPr id="41" name="Shape 39"/>
          <p:cNvSpPr/>
          <p:nvPr/>
        </p:nvSpPr>
        <p:spPr>
          <a:xfrm>
            <a:off x="3657600" y="4553712"/>
            <a:ext cx="731520" cy="0"/>
          </a:xfrm>
          <a:prstGeom prst="line">
            <a:avLst/>
          </a:prstGeom>
          <a:noFill/>
          <a:ln w="19050">
            <a:solidFill>
              <a:schemeClr val="tx2"/>
            </a:solidFill>
            <a:prstDash val="solid"/>
            <a:tailEnd type="triangle"/>
          </a:ln>
        </p:spPr>
      </p:sp>
      <p:sp>
        <p:nvSpPr>
          <p:cNvPr id="42" name="Shape 40"/>
          <p:cNvSpPr/>
          <p:nvPr/>
        </p:nvSpPr>
        <p:spPr>
          <a:xfrm>
            <a:off x="4389120" y="4343400"/>
            <a:ext cx="3108960" cy="420624"/>
          </a:xfrm>
          <a:prstGeom prst="roundRect">
            <a:avLst>
              <a:gd name="adj" fmla="val 13043"/>
            </a:avLst>
          </a:prstGeom>
          <a:solidFill>
            <a:schemeClr val="accent3"/>
          </a:solidFill>
          <a:ln/>
        </p:spPr>
      </p:sp>
      <p:sp>
        <p:nvSpPr>
          <p:cNvPr id="43" name="Text 41"/>
          <p:cNvSpPr txBox="1"/>
          <p:nvPr/>
        </p:nvSpPr>
        <p:spPr>
          <a:xfrm>
            <a:off x="4389120" y="4343400"/>
            <a:ext cx="3108960" cy="420624"/>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skills_demand</a:t>
            </a:r>
            <a:endParaRPr lang="en-US" sz="1300" dirty="0"/>
          </a:p>
        </p:txBody>
      </p:sp>
      <p:sp>
        <p:nvSpPr>
          <p:cNvPr id="44" name="Text 42"/>
          <p:cNvSpPr txBox="1"/>
          <p:nvPr/>
        </p:nvSpPr>
        <p:spPr>
          <a:xfrm>
            <a:off x="7863840" y="4343400"/>
            <a:ext cx="3794760" cy="420624"/>
          </a:xfrm>
          <a:prstGeom prst="rect">
            <a:avLst/>
          </a:prstGeom>
          <a:noFill/>
          <a:ln/>
        </p:spPr>
        <p:txBody>
          <a:bodyPr wrap="square" lIns="0" tIns="0" rIns="0" bIns="0" rtlCol="0" anchor="ctr"/>
          <a:lstStyle/>
          <a:p>
            <a:pPr marL="0" indent="0">
              <a:buNone/>
            </a:pPr>
            <a:r>
              <a:rPr lang="en-US" sz="1400" dirty="0">
                <a:solidFill>
                  <a:schemeClr val="tx1"/>
                </a:solidFill>
              </a:rPr>
              <a:t>Postings per skill</a:t>
            </a:r>
            <a:endParaRPr lang="en-US" sz="1400" dirty="0"/>
          </a:p>
        </p:txBody>
      </p:sp>
      <p:sp>
        <p:nvSpPr>
          <p:cNvPr id="45" name="Shape 43"/>
          <p:cNvSpPr/>
          <p:nvPr/>
        </p:nvSpPr>
        <p:spPr>
          <a:xfrm>
            <a:off x="548640" y="4873752"/>
            <a:ext cx="3108960" cy="420624"/>
          </a:xfrm>
          <a:prstGeom prst="roundRect">
            <a:avLst>
              <a:gd name="adj" fmla="val 13043"/>
            </a:avLst>
          </a:prstGeom>
          <a:solidFill>
            <a:schemeClr val="accent1">
              <a:alpha val="20000"/>
            </a:schemeClr>
          </a:solidFill>
          <a:ln w="15875">
            <a:solidFill>
              <a:schemeClr val="accent1"/>
            </a:solidFill>
            <a:prstDash val="solid"/>
          </a:ln>
        </p:spPr>
      </p:sp>
      <p:sp>
        <p:nvSpPr>
          <p:cNvPr id="46" name="Text 44"/>
          <p:cNvSpPr txBox="1"/>
          <p:nvPr/>
        </p:nvSpPr>
        <p:spPr>
          <a:xfrm>
            <a:off x="548640" y="4873752"/>
            <a:ext cx="3108960" cy="420624"/>
          </a:xfrm>
          <a:prstGeom prst="rect">
            <a:avLst/>
          </a:prstGeom>
          <a:noFill/>
          <a:ln/>
        </p:spPr>
        <p:txBody>
          <a:bodyPr wrap="square" lIns="0" tIns="0" rIns="0" bIns="0" rtlCol="0" anchor="ctr"/>
          <a:lstStyle/>
          <a:p>
            <a:pPr marL="0" indent="0" algn="ctr">
              <a:buNone/>
            </a:pPr>
            <a:r>
              <a:rPr lang="en-US" sz="1150" dirty="0">
                <a:solidFill>
                  <a:schemeClr val="tx1"/>
                </a:solidFill>
                <a:latin typeface="Courier New" pitchFamily="34" charset="0"/>
                <a:ea typeface="Courier New" pitchFamily="34" charset="-122"/>
                <a:cs typeface="Courier New" pitchFamily="34" charset="-120"/>
              </a:rPr>
              <a:t>processed/time_based/</a:t>
            </a:r>
            <a:endParaRPr lang="en-US" sz="1150" dirty="0"/>
          </a:p>
        </p:txBody>
      </p:sp>
      <p:sp>
        <p:nvSpPr>
          <p:cNvPr id="47" name="Shape 45"/>
          <p:cNvSpPr/>
          <p:nvPr/>
        </p:nvSpPr>
        <p:spPr>
          <a:xfrm>
            <a:off x="3657600" y="5084064"/>
            <a:ext cx="731520" cy="0"/>
          </a:xfrm>
          <a:prstGeom prst="line">
            <a:avLst/>
          </a:prstGeom>
          <a:noFill/>
          <a:ln w="19050">
            <a:solidFill>
              <a:schemeClr val="tx2"/>
            </a:solidFill>
            <a:prstDash val="solid"/>
            <a:tailEnd type="triangle"/>
          </a:ln>
        </p:spPr>
      </p:sp>
      <p:sp>
        <p:nvSpPr>
          <p:cNvPr id="48" name="Shape 46"/>
          <p:cNvSpPr/>
          <p:nvPr/>
        </p:nvSpPr>
        <p:spPr>
          <a:xfrm>
            <a:off x="4389120" y="4873752"/>
            <a:ext cx="3108960" cy="420624"/>
          </a:xfrm>
          <a:prstGeom prst="roundRect">
            <a:avLst>
              <a:gd name="adj" fmla="val 13043"/>
            </a:avLst>
          </a:prstGeom>
          <a:solidFill>
            <a:schemeClr val="accent3"/>
          </a:solidFill>
          <a:ln/>
        </p:spPr>
      </p:sp>
      <p:sp>
        <p:nvSpPr>
          <p:cNvPr id="49" name="Text 47"/>
          <p:cNvSpPr txBox="1"/>
          <p:nvPr/>
        </p:nvSpPr>
        <p:spPr>
          <a:xfrm>
            <a:off x="4389120" y="4873752"/>
            <a:ext cx="3108960" cy="420624"/>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time_based</a:t>
            </a:r>
            <a:endParaRPr lang="en-US" sz="1300" dirty="0"/>
          </a:p>
        </p:txBody>
      </p:sp>
      <p:sp>
        <p:nvSpPr>
          <p:cNvPr id="50" name="Text 48"/>
          <p:cNvSpPr txBox="1"/>
          <p:nvPr/>
        </p:nvSpPr>
        <p:spPr>
          <a:xfrm>
            <a:off x="7863840" y="4873752"/>
            <a:ext cx="3794760" cy="420624"/>
          </a:xfrm>
          <a:prstGeom prst="rect">
            <a:avLst/>
          </a:prstGeom>
          <a:noFill/>
          <a:ln/>
        </p:spPr>
        <p:txBody>
          <a:bodyPr wrap="square" lIns="0" tIns="0" rIns="0" bIns="0" rtlCol="0" anchor="ctr"/>
          <a:lstStyle/>
          <a:p>
            <a:pPr marL="0" indent="0">
              <a:buNone/>
            </a:pPr>
            <a:r>
              <a:rPr lang="en-US" sz="1400" dirty="0">
                <a:solidFill>
                  <a:schemeClr val="tx1"/>
                </a:solidFill>
              </a:rPr>
              <a:t>Postings per recency bucket</a:t>
            </a:r>
            <a:endParaRPr lang="en-US" sz="1400" dirty="0"/>
          </a:p>
        </p:txBody>
      </p:sp>
      <p:sp>
        <p:nvSpPr>
          <p:cNvPr id="51" name="Shape 49"/>
          <p:cNvSpPr/>
          <p:nvPr/>
        </p:nvSpPr>
        <p:spPr>
          <a:xfrm>
            <a:off x="548640" y="5404104"/>
            <a:ext cx="3108960" cy="420624"/>
          </a:xfrm>
          <a:prstGeom prst="roundRect">
            <a:avLst>
              <a:gd name="adj" fmla="val 13043"/>
            </a:avLst>
          </a:prstGeom>
          <a:solidFill>
            <a:schemeClr val="accent4">
              <a:alpha val="15000"/>
            </a:schemeClr>
          </a:solidFill>
          <a:ln w="15875">
            <a:solidFill>
              <a:schemeClr val="accent4"/>
            </a:solidFill>
            <a:prstDash val="dash"/>
          </a:ln>
        </p:spPr>
      </p:sp>
      <p:sp>
        <p:nvSpPr>
          <p:cNvPr id="52" name="Text 50"/>
          <p:cNvSpPr txBox="1"/>
          <p:nvPr/>
        </p:nvSpPr>
        <p:spPr>
          <a:xfrm>
            <a:off x="548640" y="5404104"/>
            <a:ext cx="3108960" cy="420624"/>
          </a:xfrm>
          <a:prstGeom prst="rect">
            <a:avLst/>
          </a:prstGeom>
          <a:noFill/>
          <a:ln/>
        </p:spPr>
        <p:txBody>
          <a:bodyPr wrap="square" lIns="0" tIns="0" rIns="0" bIns="0" rtlCol="0" anchor="ctr"/>
          <a:lstStyle/>
          <a:p>
            <a:pPr marL="0" indent="0" algn="ctr">
              <a:buNone/>
            </a:pPr>
            <a:r>
              <a:rPr lang="en-US" sz="1150" dirty="0">
                <a:solidFill>
                  <a:schemeClr val="tx1"/>
                </a:solidFill>
                <a:latin typeface="Courier New" pitchFamily="34" charset="0"/>
                <a:ea typeface="Courier New" pitchFamily="34" charset="-122"/>
                <a:cs typeface="Courier New" pitchFamily="34" charset="-120"/>
              </a:rPr>
              <a:t>(derived in Hive)</a:t>
            </a:r>
            <a:endParaRPr lang="en-US" sz="1150" dirty="0"/>
          </a:p>
        </p:txBody>
      </p:sp>
      <p:sp>
        <p:nvSpPr>
          <p:cNvPr id="53" name="Shape 51"/>
          <p:cNvSpPr/>
          <p:nvPr/>
        </p:nvSpPr>
        <p:spPr>
          <a:xfrm>
            <a:off x="3657600" y="5614416"/>
            <a:ext cx="731520" cy="0"/>
          </a:xfrm>
          <a:prstGeom prst="line">
            <a:avLst/>
          </a:prstGeom>
          <a:noFill/>
          <a:ln w="19050">
            <a:solidFill>
              <a:schemeClr val="tx2"/>
            </a:solidFill>
            <a:prstDash val="solid"/>
            <a:tailEnd type="triangle"/>
          </a:ln>
        </p:spPr>
      </p:sp>
      <p:sp>
        <p:nvSpPr>
          <p:cNvPr id="54" name="Shape 52"/>
          <p:cNvSpPr/>
          <p:nvPr/>
        </p:nvSpPr>
        <p:spPr>
          <a:xfrm>
            <a:off x="4389120" y="5404104"/>
            <a:ext cx="3108960" cy="420624"/>
          </a:xfrm>
          <a:prstGeom prst="roundRect">
            <a:avLst>
              <a:gd name="adj" fmla="val 13043"/>
            </a:avLst>
          </a:prstGeom>
          <a:solidFill>
            <a:schemeClr val="accent3"/>
          </a:solidFill>
          <a:ln/>
        </p:spPr>
      </p:sp>
      <p:sp>
        <p:nvSpPr>
          <p:cNvPr id="55" name="Text 53"/>
          <p:cNvSpPr txBox="1"/>
          <p:nvPr/>
        </p:nvSpPr>
        <p:spPr>
          <a:xfrm>
            <a:off x="4389120" y="5404104"/>
            <a:ext cx="3108960" cy="420624"/>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skill_trends</a:t>
            </a:r>
            <a:endParaRPr lang="en-US" sz="1300" dirty="0"/>
          </a:p>
        </p:txBody>
      </p:sp>
      <p:sp>
        <p:nvSpPr>
          <p:cNvPr id="56" name="Text 54"/>
          <p:cNvSpPr txBox="1"/>
          <p:nvPr/>
        </p:nvSpPr>
        <p:spPr>
          <a:xfrm>
            <a:off x="7863840" y="5404104"/>
            <a:ext cx="3794760" cy="420624"/>
          </a:xfrm>
          <a:prstGeom prst="rect">
            <a:avLst/>
          </a:prstGeom>
          <a:noFill/>
          <a:ln/>
        </p:spPr>
        <p:txBody>
          <a:bodyPr wrap="square" lIns="0" tIns="0" rIns="0" bIns="0" rtlCol="0" anchor="ctr"/>
          <a:lstStyle/>
          <a:p>
            <a:pPr marL="0" indent="0">
              <a:buNone/>
            </a:pPr>
            <a:r>
              <a:rPr lang="en-US" sz="1400" dirty="0">
                <a:solidFill>
                  <a:schemeClr val="tx1"/>
                </a:solidFill>
              </a:rPr>
              <a:t>44,021 rows; period = unknown</a:t>
            </a:r>
            <a:endParaRPr lang="en-US" sz="1400" dirty="0"/>
          </a:p>
        </p:txBody>
      </p:sp>
      <p:sp>
        <p:nvSpPr>
          <p:cNvPr id="57" name="Shape 55"/>
          <p:cNvSpPr/>
          <p:nvPr/>
        </p:nvSpPr>
        <p:spPr>
          <a:xfrm>
            <a:off x="548640" y="5989320"/>
            <a:ext cx="11109960" cy="365760"/>
          </a:xfrm>
          <a:prstGeom prst="roundRect">
            <a:avLst>
              <a:gd name="adj" fmla="val 20000"/>
            </a:avLst>
          </a:prstGeom>
          <a:solidFill>
            <a:schemeClr val="tx2"/>
          </a:solidFill>
          <a:ln/>
        </p:spPr>
      </p:sp>
      <p:sp>
        <p:nvSpPr>
          <p:cNvPr id="58" name="Text 56"/>
          <p:cNvSpPr txBox="1"/>
          <p:nvPr/>
        </p:nvSpPr>
        <p:spPr>
          <a:xfrm>
            <a:off x="731520" y="5989320"/>
            <a:ext cx="10789920" cy="365760"/>
          </a:xfrm>
          <a:prstGeom prst="rect">
            <a:avLst/>
          </a:prstGeom>
          <a:noFill/>
          <a:ln/>
        </p:spPr>
        <p:txBody>
          <a:bodyPr wrap="square" lIns="0" tIns="0" rIns="0" bIns="0" rtlCol="0" anchor="ctr"/>
          <a:lstStyle/>
          <a:p>
            <a:pPr marL="0" indent="0">
              <a:buNone/>
            </a:pPr>
            <a:r>
              <a:rPr lang="en-US" sz="1300" b="1" dirty="0">
                <a:solidFill>
                  <a:srgbClr val="FFFFFF"/>
                </a:solidFill>
              </a:rPr>
              <a:t>Data stays as files in HDFS; Hive adds table definitions on top, in the jobmarket schema, and queries run as MapReduce jobs.</a:t>
            </a:r>
            <a:endParaRPr lang="en-US" sz="1300" dirty="0"/>
          </a:p>
        </p:txBody>
      </p:sp>
      <p:sp>
        <p:nvSpPr>
          <p:cNvPr id="201" name="Text 201"/>
          <p:cNvSpPr txBox="1"/>
          <p:nvPr/>
        </p:nvSpPr>
        <p:spPr>
          <a:xfrm>
            <a:off x="5806440" y="566928"/>
            <a:ext cx="5833872" cy="566928"/>
          </a:xfrm>
          <a:prstGeom prst="rect">
            <a:avLst/>
          </a:prstGeom>
          <a:noFill/>
          <a:ln/>
        </p:spPr>
        <p:txBody>
          <a:bodyPr wrap="square" lIns="0" tIns="0" rIns="0" bIns="0" rtlCol="0" anchor="ctr"/>
          <a:lstStyle/>
          <a:p>
            <a:pPr marL="0" indent="0" algn="r">
              <a:spcAft>
                <a:spcPts val="200"/>
              </a:spcAft>
              <a:buNone/>
            </a:pPr>
            <a:r>
              <a:rPr lang="en-US" sz="1200" b="1" dirty="0">
                <a:solidFill>
                  <a:schemeClr val="tx2"/>
                </a:solidFill>
              </a:rPr>
              <a:t>Apache Hive 3.1.3  |  Hadoop 3.3.6 on WSL 2</a:t>
            </a:r>
            <a:endParaRPr lang="en-US" sz="1200" dirty="0"/>
          </a:p>
          <a:p>
            <a:pPr marL="0" indent="0" algn="r">
              <a:buNone/>
            </a:pPr>
            <a:r>
              <a:rPr lang="en-US" sz="1200" dirty="0">
                <a:solidFill>
                  <a:schemeClr val="accent4"/>
                </a:solidFill>
              </a:rPr>
              <a:t>Schema: jobmarket  |  hive -e, hive -S -e or interactive shell</a:t>
            </a:r>
            <a:endParaRPr lang="en-US" sz="1200" dirty="0"/>
          </a:p>
        </p:txBody>
      </p:sp>
      <p:sp>
        <p:nvSpPr>
          <p:cNvPr id="59" name="Slide Number Placeholder 0"/>
          <p:cNvSpPr>
            <a:spLocks noGrp="1"/>
          </p:cNvSpPr>
          <p:nvPr>
            <p:ph type="sldNum" sz="quarter" idx="4294967295"/>
          </p:nvPr>
        </p:nvSpPr>
        <p:spPr>
          <a:xfrm>
            <a:off x="10972800" y="6446520"/>
            <a:ext cx="64008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TASK 3: QUERIES</a:t>
            </a:r>
            <a:endParaRPr lang="en-US" sz="1200" dirty="0"/>
          </a:p>
        </p:txBody>
      </p:sp>
      <p:sp>
        <p:nvSpPr>
          <p:cNvPr id="3" name="Text 0"/>
          <p:cNvSpPr>
            <a:spLocks noGrp="1"/>
          </p:cNvSpPr>
          <p:nvPr>
            <p:ph type="title" idx="100" hasCustomPrompt="1"/>
          </p:nvPr>
        </p:nvSpPr>
        <p:spPr>
          <a:xfrm>
            <a:off x="548640" y="566928"/>
            <a:ext cx="9418320" cy="685800"/>
          </a:xfrm>
          <a:prstGeom prst="rect">
            <a:avLst/>
          </a:prstGeom>
          <a:noFill/>
          <a:ln/>
        </p:spPr>
        <p:txBody>
          <a:bodyPr wrap="square" lIns="0" tIns="0" rIns="0" bIns="0" rtlCol="0" anchor="ctr"/>
          <a:lstStyle/>
          <a:p>
            <a:pPr marL="0" indent="0" algn="l">
              <a:buNone/>
            </a:pPr>
            <a:r>
              <a:rPr lang="en-US" sz="3200" b="1" dirty="0">
                <a:solidFill>
                  <a:schemeClr val="tx2"/>
                </a:solidFill>
              </a:rPr>
              <a:t>Hive Queries and Analytical Workflow</a:t>
            </a:r>
            <a:endParaRPr lang="en-US" sz="3200" dirty="0"/>
          </a:p>
        </p:txBody>
      </p:sp>
      <p:graphicFrame>
        <p:nvGraphicFramePr>
          <p:cNvPr id="11" name="Table 11"/>
          <p:cNvGraphicFramePr>
            <a:graphicFrameLocks noGrp="1"/>
          </p:cNvGraphicFramePr>
          <p:nvPr/>
        </p:nvGraphicFramePr>
        <p:xfrm>
          <a:off x="548640" y="1371600"/>
          <a:ext cx="6355080" cy="4059936"/>
        </p:xfrm>
        <a:graphic>
          <a:graphicData uri="http://schemas.openxmlformats.org/drawingml/2006/table">
            <a:tbl>
              <a:tblPr/>
              <a:tblGrid>
                <a:gridCol w="137160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347472">
                <a:tc>
                  <a:txBody>
                    <a:bodyPr/>
                    <a:lstStyle/>
                    <a:p>
                      <a:pPr marL="0" indent="0" algn="l">
                        <a:buNone/>
                      </a:pPr>
                      <a:r>
                        <a:rPr lang="en-US" sz="1200" b="1" dirty="0">
                          <a:solidFill>
                            <a:srgbClr val="FFFFFF"/>
                          </a:solidFill>
                        </a:rPr>
                        <a:t>Analysis domain</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B1F3A"/>
                    </a:solidFill>
                  </a:tcPr>
                </a:tc>
                <a:tc>
                  <a:txBody>
                    <a:bodyPr/>
                    <a:lstStyle/>
                    <a:p>
                      <a:pPr marL="0" indent="0" algn="l">
                        <a:buNone/>
                      </a:pPr>
                      <a:r>
                        <a:rPr lang="en-US" sz="1200" b="1" dirty="0">
                          <a:solidFill>
                            <a:srgbClr val="FFFFFF"/>
                          </a:solidFill>
                        </a:rPr>
                        <a:t>HiveQL logic</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B1F3A"/>
                    </a:solidFill>
                  </a:tcPr>
                </a:tc>
                <a:tc>
                  <a:txBody>
                    <a:bodyPr/>
                    <a:lstStyle/>
                    <a:p>
                      <a:pPr marL="0" indent="0" algn="l">
                        <a:buNone/>
                      </a:pPr>
                      <a:r>
                        <a:rPr lang="en-US" sz="1200" b="1" dirty="0">
                          <a:solidFill>
                            <a:srgbClr val="FFFFFF"/>
                          </a:solidFill>
                        </a:rPr>
                        <a:t>Headline result</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530352">
                <a:tc>
                  <a:txBody>
                    <a:bodyPr/>
                    <a:lstStyle/>
                    <a:p>
                      <a:pPr marL="0" indent="0" algn="l">
                        <a:buNone/>
                      </a:pPr>
                      <a:r>
                        <a:rPr lang="en-US" sz="1150" b="1" dirty="0">
                          <a:solidFill>
                            <a:schemeClr val="tx2"/>
                          </a:solidFill>
                        </a:rPr>
                        <a:t>Top job roles</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lgn="l">
                        <a:buNone/>
                      </a:pPr>
                      <a:r>
                        <a:rPr lang="en-US" sz="1150" dirty="0">
                          <a:solidFill>
                            <a:schemeClr val="tx1"/>
                          </a:solidFill>
                        </a:rPr>
                        <a:t>GROUP BY job_title, ORDER BY count DESC, LIMIT 10</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lgn="l">
                        <a:buNone/>
                      </a:pPr>
                      <a:r>
                        <a:rPr lang="en-US" sz="1150" dirty="0">
                          <a:solidFill>
                            <a:schemeClr val="tx1"/>
                          </a:solidFill>
                        </a:rPr>
                        <a:t>Application developer (2,033) and application lead (1,346)</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lgn="l">
                        <a:buNone/>
                      </a:pPr>
                      <a:r>
                        <a:rPr lang="en-US" sz="1150" b="1" dirty="0">
                          <a:solidFill>
                            <a:schemeClr val="tx2"/>
                          </a:solidFill>
                        </a:rPr>
                        <a:t>Skill demand</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lgn="l">
                        <a:buNone/>
                      </a:pPr>
                      <a:r>
                        <a:rPr lang="en-US" sz="1150" dirty="0">
                          <a:solidFill>
                            <a:schemeClr val="tx1"/>
                          </a:solidFill>
                        </a:rPr>
                        <a:t>LOWER(TRIM(skill)) with COUNT(DISTINCT job_id)</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lgn="l">
                        <a:buNone/>
                      </a:pPr>
                      <a:r>
                        <a:rPr lang="en-US" sz="1150" dirty="0">
                          <a:solidFill>
                            <a:schemeClr val="tx1"/>
                          </a:solidFill>
                        </a:rPr>
                        <a:t>Sales (9,178) and python (5,846) lead</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530352">
                <a:tc>
                  <a:txBody>
                    <a:bodyPr/>
                    <a:lstStyle/>
                    <a:p>
                      <a:pPr marL="0" indent="0" algn="l">
                        <a:buNone/>
                      </a:pPr>
                      <a:r>
                        <a:rPr lang="en-US" sz="1150" b="1" dirty="0">
                          <a:solidFill>
                            <a:schemeClr val="tx2"/>
                          </a:solidFill>
                        </a:rPr>
                        <a:t>Location distribution</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lgn="l">
                        <a:buNone/>
                      </a:pPr>
                      <a:r>
                        <a:rPr lang="en-US" sz="1150" dirty="0">
                          <a:solidFill>
                            <a:schemeClr val="tx1"/>
                          </a:solidFill>
                        </a:rPr>
                        <a:t>job_locations ordered by CAST(job_count AS INT)</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lgn="l">
                        <a:buNone/>
                      </a:pPr>
                      <a:r>
                        <a:rPr lang="en-US" sz="1150" dirty="0">
                          <a:solidFill>
                            <a:schemeClr val="tx1"/>
                          </a:solidFill>
                        </a:rPr>
                        <a:t>Bengaluru (18,320), then Hyderabad and Pune</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lgn="l">
                        <a:buNone/>
                      </a:pPr>
                      <a:r>
                        <a:rPr lang="en-US" sz="1150" b="1" dirty="0">
                          <a:solidFill>
                            <a:schemeClr val="tx2"/>
                          </a:solidFill>
                        </a:rPr>
                        <a:t>Salary by role</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lgn="l">
                        <a:buNone/>
                      </a:pPr>
                      <a:r>
                        <a:rPr lang="en-US" sz="1150" dirty="0">
                          <a:solidFill>
                            <a:schemeClr val="tx1"/>
                          </a:solidFill>
                        </a:rPr>
                        <a:t>CAST to DOUBLE, avg_salary &gt; 0, HAVING COUNT(*) &gt;= 5</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lgn="l">
                        <a:buNone/>
                      </a:pPr>
                      <a:r>
                        <a:rPr lang="en-US" sz="1150" dirty="0">
                          <a:solidFill>
                            <a:schemeClr val="tx1"/>
                          </a:solidFill>
                        </a:rPr>
                        <a:t>Medical and data / architecture roles lead</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r h="530352">
                <a:tc>
                  <a:txBody>
                    <a:bodyPr/>
                    <a:lstStyle/>
                    <a:p>
                      <a:pPr marL="0" indent="0" algn="l">
                        <a:buNone/>
                      </a:pPr>
                      <a:r>
                        <a:rPr lang="en-US" sz="1150" b="1" dirty="0">
                          <a:solidFill>
                            <a:schemeClr val="tx2"/>
                          </a:solidFill>
                        </a:rPr>
                        <a:t>Skill-role pairs</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lgn="l">
                        <a:buNone/>
                      </a:pPr>
                      <a:r>
                        <a:rPr lang="en-US" sz="1150" dirty="0">
                          <a:solidFill>
                            <a:schemeClr val="tx1"/>
                          </a:solidFill>
                        </a:rPr>
                        <a:t>GROUP BY job_title, skill; COUNT(DISTINCT job_id)</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lgn="l">
                        <a:buNone/>
                      </a:pPr>
                      <a:r>
                        <a:rPr lang="en-US" sz="1150" dirty="0">
                          <a:solidFill>
                            <a:schemeClr val="tx1"/>
                          </a:solidFill>
                        </a:rPr>
                        <a:t>Application developer spans CSS, SAP, REST, Python</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0352">
                <a:tc>
                  <a:txBody>
                    <a:bodyPr/>
                    <a:lstStyle/>
                    <a:p>
                      <a:pPr marL="0" indent="0" algn="l">
                        <a:buNone/>
                      </a:pPr>
                      <a:r>
                        <a:rPr lang="en-US" sz="1150" b="1" dirty="0">
                          <a:solidFill>
                            <a:schemeClr val="tx2"/>
                          </a:solidFill>
                        </a:rPr>
                        <a:t>Posting recency</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lgn="l">
                        <a:buNone/>
                      </a:pPr>
                      <a:r>
                        <a:rPr lang="en-US" sz="1150" dirty="0">
                          <a:solidFill>
                            <a:schemeClr val="tx1"/>
                          </a:solidFill>
                        </a:rPr>
                        <a:t>time_based ordered by job_count</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lgn="l">
                        <a:buNone/>
                      </a:pPr>
                      <a:r>
                        <a:rPr lang="en-US" sz="1150" dirty="0">
                          <a:solidFill>
                            <a:schemeClr val="tx1"/>
                          </a:solidFill>
                        </a:rPr>
                        <a:t>88.1% of postings are 1-7 days old</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extLst>
                  <a:ext uri="{0D108BD9-81ED-4DB2-BD59-A6C34878D82A}">
                    <a16:rowId xmlns:a16="http://schemas.microsoft.com/office/drawing/2014/main" val="10006"/>
                  </a:ext>
                </a:extLst>
              </a:tr>
              <a:tr h="530352">
                <a:tc>
                  <a:txBody>
                    <a:bodyPr/>
                    <a:lstStyle/>
                    <a:p>
                      <a:pPr marL="0" indent="0" algn="l">
                        <a:buNone/>
                      </a:pPr>
                      <a:r>
                        <a:rPr lang="en-US" sz="1150" b="1" dirty="0">
                          <a:solidFill>
                            <a:schemeClr val="tx2"/>
                          </a:solidFill>
                        </a:rPr>
                        <a:t>Skill trend analytics</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lgn="l">
                        <a:buNone/>
                      </a:pPr>
                      <a:r>
                        <a:rPr lang="en-US" sz="1150" dirty="0">
                          <a:solidFill>
                            <a:schemeClr val="tx1"/>
                          </a:solidFill>
                        </a:rPr>
                        <a:t>skill_trends period / growth_pct</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lgn="l">
                        <a:buNone/>
                      </a:pPr>
                      <a:r>
                        <a:rPr lang="en-US" sz="1150" dirty="0">
                          <a:solidFill>
                            <a:schemeClr val="tx1"/>
                          </a:solidFill>
                        </a:rPr>
                        <a:t>Limited by data scarcity (period = unknown)</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2" name="Code block 12"/>
          <p:cNvSpPr/>
          <p:nvPr/>
        </p:nvSpPr>
        <p:spPr>
          <a:xfrm>
            <a:off x="7178040" y="1371600"/>
            <a:ext cx="4462272" cy="2103120"/>
          </a:xfrm>
          <a:prstGeom prst="roundRect">
            <a:avLst>
              <a:gd name="adj" fmla="val 4255"/>
            </a:avLst>
          </a:prstGeom>
          <a:solidFill>
            <a:srgbClr val="0B1F3A"/>
          </a:solidFill>
          <a:ln/>
        </p:spPr>
      </p:sp>
      <p:sp>
        <p:nvSpPr>
          <p:cNvPr id="13" name="Text 13"/>
          <p:cNvSpPr txBox="1"/>
          <p:nvPr/>
        </p:nvSpPr>
        <p:spPr>
          <a:xfrm>
            <a:off x="7360920" y="1499616"/>
            <a:ext cx="4096512" cy="228600"/>
          </a:xfrm>
          <a:prstGeom prst="rect">
            <a:avLst/>
          </a:prstGeom>
          <a:noFill/>
          <a:ln/>
        </p:spPr>
        <p:txBody>
          <a:bodyPr wrap="square" lIns="0" tIns="0" rIns="0" bIns="0" rtlCol="0" anchor="t"/>
          <a:lstStyle/>
          <a:p>
            <a:pPr marL="0" indent="0" algn="l">
              <a:buNone/>
            </a:pPr>
            <a:r>
              <a:rPr lang="en-US" sz="1000" b="1" dirty="0">
                <a:solidFill>
                  <a:srgbClr val="8FA3B8"/>
                </a:solidFill>
              </a:rPr>
              <a:t>Skill demand (job_skills)</a:t>
            </a:r>
            <a:endParaRPr lang="en-US" sz="1000" dirty="0"/>
          </a:p>
        </p:txBody>
      </p:sp>
      <p:sp>
        <p:nvSpPr>
          <p:cNvPr id="14" name="Text 14"/>
          <p:cNvSpPr txBox="1"/>
          <p:nvPr/>
        </p:nvSpPr>
        <p:spPr>
          <a:xfrm>
            <a:off x="7360920" y="1792224"/>
            <a:ext cx="4096512" cy="1591056"/>
          </a:xfrm>
          <a:prstGeom prst="rect">
            <a:avLst/>
          </a:prstGeom>
          <a:noFill/>
          <a:ln/>
        </p:spPr>
        <p:txBody>
          <a:bodyPr wrap="square" lIns="0" tIns="0" rIns="0" bIns="0" rtlCol="0" anchor="t"/>
          <a:lstStyle/>
          <a:p>
            <a:pPr marL="0" indent="0" algn="l">
              <a:lnSpc>
                <a:spcPct val="112000"/>
              </a:lnSpc>
              <a:buNone/>
            </a:pPr>
            <a:r>
              <a:rPr lang="en-US" sz="1100" dirty="0">
                <a:solidFill>
                  <a:srgbClr val="7CC4FF"/>
                </a:solidFill>
                <a:latin typeface="Courier New" pitchFamily="34" charset="0"/>
                <a:ea typeface="Courier New" pitchFamily="34" charset="-122"/>
                <a:cs typeface="Courier New" pitchFamily="34" charset="-120"/>
              </a:rPr>
              <a:t>SELECT</a:t>
            </a:r>
            <a:r>
              <a:rPr lang="en-US" sz="1100" dirty="0">
                <a:solidFill>
                  <a:srgbClr val="E6EEF7"/>
                </a:solidFill>
                <a:latin typeface="Courier New" pitchFamily="34" charset="0"/>
                <a:ea typeface="Courier New" pitchFamily="34" charset="-122"/>
                <a:cs typeface="Courier New" pitchFamily="34" charset="-120"/>
              </a:rPr>
              <a:t> </a:t>
            </a:r>
            <a:r>
              <a:rPr lang="en-US" sz="1100" dirty="0">
                <a:solidFill>
                  <a:srgbClr val="F2C46D"/>
                </a:solidFill>
                <a:latin typeface="Courier New" pitchFamily="34" charset="0"/>
                <a:ea typeface="Courier New" pitchFamily="34" charset="-122"/>
                <a:cs typeface="Courier New" pitchFamily="34" charset="-120"/>
              </a:rPr>
              <a:t>LOWER</a:t>
            </a:r>
            <a:r>
              <a:rPr lang="en-US" sz="1100" dirty="0">
                <a:solidFill>
                  <a:srgbClr val="E6EEF7"/>
                </a:solidFill>
                <a:latin typeface="Courier New" pitchFamily="34" charset="0"/>
                <a:ea typeface="Courier New" pitchFamily="34" charset="-122"/>
                <a:cs typeface="Courier New" pitchFamily="34" charset="-120"/>
              </a:rPr>
              <a:t>(</a:t>
            </a:r>
            <a:r>
              <a:rPr lang="en-US" sz="1100" dirty="0">
                <a:solidFill>
                  <a:srgbClr val="F2C46D"/>
                </a:solidFill>
                <a:latin typeface="Courier New" pitchFamily="34" charset="0"/>
                <a:ea typeface="Courier New" pitchFamily="34" charset="-122"/>
                <a:cs typeface="Courier New" pitchFamily="34" charset="-120"/>
              </a:rPr>
              <a:t>TRIM</a:t>
            </a:r>
            <a:r>
              <a:rPr lang="en-US" sz="1100" dirty="0">
                <a:solidFill>
                  <a:srgbClr val="E6EEF7"/>
                </a:solidFill>
                <a:latin typeface="Courier New" pitchFamily="34" charset="0"/>
                <a:ea typeface="Courier New" pitchFamily="34" charset="-122"/>
                <a:cs typeface="Courier New" pitchFamily="34" charset="-120"/>
              </a:rPr>
              <a:t>(skill)) </a:t>
            </a:r>
            <a:r>
              <a:rPr lang="en-US" sz="1100" dirty="0">
                <a:solidFill>
                  <a:srgbClr val="7CC4FF"/>
                </a:solidFill>
                <a:latin typeface="Courier New" pitchFamily="34" charset="0"/>
                <a:ea typeface="Courier New" pitchFamily="34" charset="-122"/>
                <a:cs typeface="Courier New" pitchFamily="34" charset="-120"/>
              </a:rPr>
              <a:t>AS</a:t>
            </a:r>
            <a:r>
              <a:rPr lang="en-US" sz="1100" dirty="0">
                <a:solidFill>
                  <a:srgbClr val="E6EEF7"/>
                </a:solidFill>
                <a:latin typeface="Courier New" pitchFamily="34" charset="0"/>
                <a:ea typeface="Courier New" pitchFamily="34" charset="-122"/>
                <a:cs typeface="Courier New" pitchFamily="34" charset="-120"/>
              </a:rPr>
              <a:t> skill,</a:t>
            </a:r>
            <a:endParaRPr lang="en-US" sz="1100" dirty="0"/>
          </a:p>
          <a:p>
            <a:pPr marL="0" indent="0" algn="l">
              <a:lnSpc>
                <a:spcPct val="112000"/>
              </a:lnSpc>
              <a:buNone/>
            </a:pPr>
            <a:r>
              <a:rPr lang="en-US" sz="1100" dirty="0">
                <a:solidFill>
                  <a:srgbClr val="E6EEF7"/>
                </a:solidFill>
                <a:latin typeface="Courier New" pitchFamily="34" charset="0"/>
                <a:ea typeface="Courier New" pitchFamily="34" charset="-122"/>
                <a:cs typeface="Courier New" pitchFamily="34" charset="-120"/>
              </a:rPr>
              <a:t>       </a:t>
            </a:r>
            <a:r>
              <a:rPr lang="en-US" sz="1100" dirty="0">
                <a:solidFill>
                  <a:srgbClr val="F2C46D"/>
                </a:solidFill>
                <a:latin typeface="Courier New" pitchFamily="34" charset="0"/>
                <a:ea typeface="Courier New" pitchFamily="34" charset="-122"/>
                <a:cs typeface="Courier New" pitchFamily="34" charset="-120"/>
              </a:rPr>
              <a:t>COUNT</a:t>
            </a:r>
            <a:r>
              <a:rPr lang="en-US" sz="1100" dirty="0">
                <a:solidFill>
                  <a:srgbClr val="E6EEF7"/>
                </a:solidFill>
                <a:latin typeface="Courier New" pitchFamily="34" charset="0"/>
                <a:ea typeface="Courier New" pitchFamily="34" charset="-122"/>
                <a:cs typeface="Courier New" pitchFamily="34" charset="-120"/>
              </a:rPr>
              <a:t>(</a:t>
            </a:r>
            <a:r>
              <a:rPr lang="en-US" sz="1100" dirty="0">
                <a:solidFill>
                  <a:srgbClr val="7CC4FF"/>
                </a:solidFill>
                <a:latin typeface="Courier New" pitchFamily="34" charset="0"/>
                <a:ea typeface="Courier New" pitchFamily="34" charset="-122"/>
                <a:cs typeface="Courier New" pitchFamily="34" charset="-120"/>
              </a:rPr>
              <a:t>DISTINCT</a:t>
            </a:r>
            <a:r>
              <a:rPr lang="en-US" sz="1100" dirty="0">
                <a:solidFill>
                  <a:srgbClr val="E6EEF7"/>
                </a:solidFill>
                <a:latin typeface="Courier New" pitchFamily="34" charset="0"/>
                <a:ea typeface="Courier New" pitchFamily="34" charset="-122"/>
                <a:cs typeface="Courier New" pitchFamily="34" charset="-120"/>
              </a:rPr>
              <a:t> job_id) </a:t>
            </a:r>
            <a:r>
              <a:rPr lang="en-US" sz="1100" dirty="0">
                <a:solidFill>
                  <a:srgbClr val="7CC4FF"/>
                </a:solidFill>
                <a:latin typeface="Courier New" pitchFamily="34" charset="0"/>
                <a:ea typeface="Courier New" pitchFamily="34" charset="-122"/>
                <a:cs typeface="Courier New" pitchFamily="34" charset="-120"/>
              </a:rPr>
              <a:t>AS</a:t>
            </a:r>
            <a:r>
              <a:rPr lang="en-US" sz="1100" dirty="0">
                <a:solidFill>
                  <a:srgbClr val="E6EEF7"/>
                </a:solidFill>
                <a:latin typeface="Courier New" pitchFamily="34" charset="0"/>
                <a:ea typeface="Courier New" pitchFamily="34" charset="-122"/>
                <a:cs typeface="Courier New" pitchFamily="34" charset="-120"/>
              </a:rPr>
              <a:t> job_count</a:t>
            </a:r>
            <a:endParaRPr lang="en-US" sz="1100" dirty="0"/>
          </a:p>
          <a:p>
            <a:pPr marL="0" indent="0" algn="l">
              <a:lnSpc>
                <a:spcPct val="112000"/>
              </a:lnSpc>
              <a:buNone/>
            </a:pPr>
            <a:r>
              <a:rPr lang="en-US" sz="1100" dirty="0">
                <a:solidFill>
                  <a:srgbClr val="7CC4FF"/>
                </a:solidFill>
                <a:latin typeface="Courier New" pitchFamily="34" charset="0"/>
                <a:ea typeface="Courier New" pitchFamily="34" charset="-122"/>
                <a:cs typeface="Courier New" pitchFamily="34" charset="-120"/>
              </a:rPr>
              <a:t>FROM</a:t>
            </a:r>
            <a:r>
              <a:rPr lang="en-US" sz="1100" dirty="0">
                <a:solidFill>
                  <a:srgbClr val="E6EEF7"/>
                </a:solidFill>
                <a:latin typeface="Courier New" pitchFamily="34" charset="0"/>
                <a:ea typeface="Courier New" pitchFamily="34" charset="-122"/>
                <a:cs typeface="Courier New" pitchFamily="34" charset="-120"/>
              </a:rPr>
              <a:t> job_skills</a:t>
            </a:r>
            <a:endParaRPr lang="en-US" sz="1100" dirty="0"/>
          </a:p>
          <a:p>
            <a:pPr marL="0" indent="0" algn="l">
              <a:lnSpc>
                <a:spcPct val="112000"/>
              </a:lnSpc>
              <a:buNone/>
            </a:pPr>
            <a:r>
              <a:rPr lang="en-US" sz="1100" dirty="0">
                <a:solidFill>
                  <a:srgbClr val="7CC4FF"/>
                </a:solidFill>
                <a:latin typeface="Courier New" pitchFamily="34" charset="0"/>
                <a:ea typeface="Courier New" pitchFamily="34" charset="-122"/>
                <a:cs typeface="Courier New" pitchFamily="34" charset="-120"/>
              </a:rPr>
              <a:t>WHERE</a:t>
            </a:r>
            <a:r>
              <a:rPr lang="en-US" sz="1100" dirty="0">
                <a:solidFill>
                  <a:srgbClr val="E6EEF7"/>
                </a:solidFill>
                <a:latin typeface="Courier New" pitchFamily="34" charset="0"/>
                <a:ea typeface="Courier New" pitchFamily="34" charset="-122"/>
                <a:cs typeface="Courier New" pitchFamily="34" charset="-120"/>
              </a:rPr>
              <a:t> skill </a:t>
            </a:r>
            <a:r>
              <a:rPr lang="en-US" sz="1100" dirty="0">
                <a:solidFill>
                  <a:srgbClr val="7CC4FF"/>
                </a:solidFill>
                <a:latin typeface="Courier New" pitchFamily="34" charset="0"/>
                <a:ea typeface="Courier New" pitchFamily="34" charset="-122"/>
                <a:cs typeface="Courier New" pitchFamily="34" charset="-120"/>
              </a:rPr>
              <a:t>IS NOT NULL</a:t>
            </a:r>
            <a:endParaRPr lang="en-US" sz="1100" dirty="0"/>
          </a:p>
          <a:p>
            <a:pPr marL="0" indent="0" algn="l">
              <a:lnSpc>
                <a:spcPct val="112000"/>
              </a:lnSpc>
              <a:buNone/>
            </a:pPr>
            <a:r>
              <a:rPr lang="en-US" sz="1100" dirty="0">
                <a:solidFill>
                  <a:srgbClr val="E6EEF7"/>
                </a:solidFill>
                <a:latin typeface="Courier New" pitchFamily="34" charset="0"/>
                <a:ea typeface="Courier New" pitchFamily="34" charset="-122"/>
                <a:cs typeface="Courier New" pitchFamily="34" charset="-120"/>
              </a:rPr>
              <a:t>  </a:t>
            </a:r>
            <a:r>
              <a:rPr lang="en-US" sz="1100" dirty="0">
                <a:solidFill>
                  <a:srgbClr val="7CC4FF"/>
                </a:solidFill>
                <a:latin typeface="Courier New" pitchFamily="34" charset="0"/>
                <a:ea typeface="Courier New" pitchFamily="34" charset="-122"/>
                <a:cs typeface="Courier New" pitchFamily="34" charset="-120"/>
              </a:rPr>
              <a:t>AND</a:t>
            </a:r>
            <a:r>
              <a:rPr lang="en-US" sz="1100" dirty="0">
                <a:solidFill>
                  <a:srgbClr val="E6EEF7"/>
                </a:solidFill>
                <a:latin typeface="Courier New" pitchFamily="34" charset="0"/>
                <a:ea typeface="Courier New" pitchFamily="34" charset="-122"/>
                <a:cs typeface="Courier New" pitchFamily="34" charset="-120"/>
              </a:rPr>
              <a:t> </a:t>
            </a:r>
            <a:r>
              <a:rPr lang="en-US" sz="1100" dirty="0">
                <a:solidFill>
                  <a:srgbClr val="F2C46D"/>
                </a:solidFill>
                <a:latin typeface="Courier New" pitchFamily="34" charset="0"/>
                <a:ea typeface="Courier New" pitchFamily="34" charset="-122"/>
                <a:cs typeface="Courier New" pitchFamily="34" charset="-120"/>
              </a:rPr>
              <a:t>TRIM</a:t>
            </a:r>
            <a:r>
              <a:rPr lang="en-US" sz="1100" dirty="0">
                <a:solidFill>
                  <a:srgbClr val="E6EEF7"/>
                </a:solidFill>
                <a:latin typeface="Courier New" pitchFamily="34" charset="0"/>
                <a:ea typeface="Courier New" pitchFamily="34" charset="-122"/>
                <a:cs typeface="Courier New" pitchFamily="34" charset="-120"/>
              </a:rPr>
              <a:t>(skill) &lt;&gt; ''</a:t>
            </a:r>
            <a:endParaRPr lang="en-US" sz="1100" dirty="0"/>
          </a:p>
          <a:p>
            <a:pPr marL="0" indent="0" algn="l">
              <a:lnSpc>
                <a:spcPct val="112000"/>
              </a:lnSpc>
              <a:buNone/>
            </a:pPr>
            <a:r>
              <a:rPr lang="en-US" sz="1100" dirty="0">
                <a:solidFill>
                  <a:srgbClr val="E6EEF7"/>
                </a:solidFill>
                <a:latin typeface="Courier New" pitchFamily="34" charset="0"/>
                <a:ea typeface="Courier New" pitchFamily="34" charset="-122"/>
                <a:cs typeface="Courier New" pitchFamily="34" charset="-120"/>
              </a:rPr>
              <a:t>  </a:t>
            </a:r>
            <a:r>
              <a:rPr lang="en-US" sz="1100" dirty="0">
                <a:solidFill>
                  <a:srgbClr val="7CC4FF"/>
                </a:solidFill>
                <a:latin typeface="Courier New" pitchFamily="34" charset="0"/>
                <a:ea typeface="Courier New" pitchFamily="34" charset="-122"/>
                <a:cs typeface="Courier New" pitchFamily="34" charset="-120"/>
              </a:rPr>
              <a:t>AND</a:t>
            </a:r>
            <a:r>
              <a:rPr lang="en-US" sz="1100" dirty="0">
                <a:solidFill>
                  <a:srgbClr val="E6EEF7"/>
                </a:solidFill>
                <a:latin typeface="Courier New" pitchFamily="34" charset="0"/>
                <a:ea typeface="Courier New" pitchFamily="34" charset="-122"/>
                <a:cs typeface="Courier New" pitchFamily="34" charset="-120"/>
              </a:rPr>
              <a:t> job_id </a:t>
            </a:r>
            <a:r>
              <a:rPr lang="en-US" sz="1100" dirty="0">
                <a:solidFill>
                  <a:srgbClr val="7CC4FF"/>
                </a:solidFill>
                <a:latin typeface="Courier New" pitchFamily="34" charset="0"/>
                <a:ea typeface="Courier New" pitchFamily="34" charset="-122"/>
                <a:cs typeface="Courier New" pitchFamily="34" charset="-120"/>
              </a:rPr>
              <a:t>IS NOT NULL</a:t>
            </a:r>
            <a:endParaRPr lang="en-US" sz="1100" dirty="0"/>
          </a:p>
          <a:p>
            <a:pPr marL="0" indent="0" algn="l">
              <a:lnSpc>
                <a:spcPct val="112000"/>
              </a:lnSpc>
              <a:buNone/>
            </a:pPr>
            <a:r>
              <a:rPr lang="en-US" sz="1100" dirty="0">
                <a:solidFill>
                  <a:srgbClr val="7CC4FF"/>
                </a:solidFill>
                <a:latin typeface="Courier New" pitchFamily="34" charset="0"/>
                <a:ea typeface="Courier New" pitchFamily="34" charset="-122"/>
                <a:cs typeface="Courier New" pitchFamily="34" charset="-120"/>
              </a:rPr>
              <a:t>GROUP BY</a:t>
            </a:r>
            <a:r>
              <a:rPr lang="en-US" sz="1100" dirty="0">
                <a:solidFill>
                  <a:srgbClr val="E6EEF7"/>
                </a:solidFill>
                <a:latin typeface="Courier New" pitchFamily="34" charset="0"/>
                <a:ea typeface="Courier New" pitchFamily="34" charset="-122"/>
                <a:cs typeface="Courier New" pitchFamily="34" charset="-120"/>
              </a:rPr>
              <a:t> </a:t>
            </a:r>
            <a:r>
              <a:rPr lang="en-US" sz="1100" dirty="0">
                <a:solidFill>
                  <a:srgbClr val="F2C46D"/>
                </a:solidFill>
                <a:latin typeface="Courier New" pitchFamily="34" charset="0"/>
                <a:ea typeface="Courier New" pitchFamily="34" charset="-122"/>
                <a:cs typeface="Courier New" pitchFamily="34" charset="-120"/>
              </a:rPr>
              <a:t>LOWER</a:t>
            </a:r>
            <a:r>
              <a:rPr lang="en-US" sz="1100" dirty="0">
                <a:solidFill>
                  <a:srgbClr val="E6EEF7"/>
                </a:solidFill>
                <a:latin typeface="Courier New" pitchFamily="34" charset="0"/>
                <a:ea typeface="Courier New" pitchFamily="34" charset="-122"/>
                <a:cs typeface="Courier New" pitchFamily="34" charset="-120"/>
              </a:rPr>
              <a:t>(</a:t>
            </a:r>
            <a:r>
              <a:rPr lang="en-US" sz="1100" dirty="0">
                <a:solidFill>
                  <a:srgbClr val="F2C46D"/>
                </a:solidFill>
                <a:latin typeface="Courier New" pitchFamily="34" charset="0"/>
                <a:ea typeface="Courier New" pitchFamily="34" charset="-122"/>
                <a:cs typeface="Courier New" pitchFamily="34" charset="-120"/>
              </a:rPr>
              <a:t>TRIM</a:t>
            </a:r>
            <a:r>
              <a:rPr lang="en-US" sz="1100" dirty="0">
                <a:solidFill>
                  <a:srgbClr val="E6EEF7"/>
                </a:solidFill>
                <a:latin typeface="Courier New" pitchFamily="34" charset="0"/>
                <a:ea typeface="Courier New" pitchFamily="34" charset="-122"/>
                <a:cs typeface="Courier New" pitchFamily="34" charset="-120"/>
              </a:rPr>
              <a:t>(skill))</a:t>
            </a:r>
            <a:endParaRPr lang="en-US" sz="1100" dirty="0"/>
          </a:p>
          <a:p>
            <a:pPr marL="0" indent="0" algn="l">
              <a:lnSpc>
                <a:spcPct val="112000"/>
              </a:lnSpc>
              <a:buNone/>
            </a:pPr>
            <a:r>
              <a:rPr lang="en-US" sz="1100" dirty="0">
                <a:solidFill>
                  <a:srgbClr val="7CC4FF"/>
                </a:solidFill>
                <a:latin typeface="Courier New" pitchFamily="34" charset="0"/>
                <a:ea typeface="Courier New" pitchFamily="34" charset="-122"/>
                <a:cs typeface="Courier New" pitchFamily="34" charset="-120"/>
              </a:rPr>
              <a:t>ORDER BY</a:t>
            </a:r>
            <a:r>
              <a:rPr lang="en-US" sz="1100" dirty="0">
                <a:solidFill>
                  <a:srgbClr val="E6EEF7"/>
                </a:solidFill>
                <a:latin typeface="Courier New" pitchFamily="34" charset="0"/>
                <a:ea typeface="Courier New" pitchFamily="34" charset="-122"/>
                <a:cs typeface="Courier New" pitchFamily="34" charset="-120"/>
              </a:rPr>
              <a:t> job_count </a:t>
            </a:r>
            <a:r>
              <a:rPr lang="en-US" sz="1100" dirty="0">
                <a:solidFill>
                  <a:srgbClr val="7CC4FF"/>
                </a:solidFill>
                <a:latin typeface="Courier New" pitchFamily="34" charset="0"/>
                <a:ea typeface="Courier New" pitchFamily="34" charset="-122"/>
                <a:cs typeface="Courier New" pitchFamily="34" charset="-120"/>
              </a:rPr>
              <a:t>DESC</a:t>
            </a:r>
            <a:r>
              <a:rPr lang="en-US" sz="1100" dirty="0">
                <a:solidFill>
                  <a:srgbClr val="E6EEF7"/>
                </a:solidFill>
                <a:latin typeface="Courier New" pitchFamily="34" charset="0"/>
                <a:ea typeface="Courier New" pitchFamily="34" charset="-122"/>
                <a:cs typeface="Courier New" pitchFamily="34" charset="-120"/>
              </a:rPr>
              <a:t> </a:t>
            </a:r>
            <a:r>
              <a:rPr lang="en-US" sz="1100" dirty="0">
                <a:solidFill>
                  <a:srgbClr val="7CC4FF"/>
                </a:solidFill>
                <a:latin typeface="Courier New" pitchFamily="34" charset="0"/>
                <a:ea typeface="Courier New" pitchFamily="34" charset="-122"/>
                <a:cs typeface="Courier New" pitchFamily="34" charset="-120"/>
              </a:rPr>
              <a:t>LIMIT</a:t>
            </a:r>
            <a:r>
              <a:rPr lang="en-US" sz="1100" dirty="0">
                <a:solidFill>
                  <a:srgbClr val="E6EEF7"/>
                </a:solidFill>
                <a:latin typeface="Courier New" pitchFamily="34" charset="0"/>
                <a:ea typeface="Courier New" pitchFamily="34" charset="-122"/>
                <a:cs typeface="Courier New" pitchFamily="34" charset="-120"/>
              </a:rPr>
              <a:t> 20;</a:t>
            </a:r>
            <a:endParaRPr lang="en-US" sz="1100" dirty="0"/>
          </a:p>
        </p:txBody>
      </p:sp>
      <p:sp>
        <p:nvSpPr>
          <p:cNvPr id="15" name="Code block 15"/>
          <p:cNvSpPr/>
          <p:nvPr/>
        </p:nvSpPr>
        <p:spPr>
          <a:xfrm>
            <a:off x="7178040" y="3657600"/>
            <a:ext cx="4462272" cy="1737360"/>
          </a:xfrm>
          <a:prstGeom prst="roundRect">
            <a:avLst>
              <a:gd name="adj" fmla="val 4255"/>
            </a:avLst>
          </a:prstGeom>
          <a:solidFill>
            <a:srgbClr val="0B1F3A"/>
          </a:solidFill>
          <a:ln/>
        </p:spPr>
      </p:sp>
      <p:sp>
        <p:nvSpPr>
          <p:cNvPr id="16" name="Text 16"/>
          <p:cNvSpPr txBox="1"/>
          <p:nvPr/>
        </p:nvSpPr>
        <p:spPr>
          <a:xfrm>
            <a:off x="7360920" y="3785616"/>
            <a:ext cx="4096512" cy="228600"/>
          </a:xfrm>
          <a:prstGeom prst="rect">
            <a:avLst/>
          </a:prstGeom>
          <a:noFill/>
          <a:ln/>
        </p:spPr>
        <p:txBody>
          <a:bodyPr wrap="square" lIns="0" tIns="0" rIns="0" bIns="0" rtlCol="0" anchor="t"/>
          <a:lstStyle/>
          <a:p>
            <a:pPr marL="0" indent="0" algn="l">
              <a:buNone/>
            </a:pPr>
            <a:r>
              <a:rPr lang="en-US" sz="1000" b="1" dirty="0">
                <a:solidFill>
                  <a:srgbClr val="8FA3B8"/>
                </a:solidFill>
              </a:rPr>
              <a:t>Locations (job_locations)</a:t>
            </a:r>
            <a:endParaRPr lang="en-US" sz="1000" dirty="0"/>
          </a:p>
        </p:txBody>
      </p:sp>
      <p:sp>
        <p:nvSpPr>
          <p:cNvPr id="17" name="Text 17"/>
          <p:cNvSpPr txBox="1"/>
          <p:nvPr/>
        </p:nvSpPr>
        <p:spPr>
          <a:xfrm>
            <a:off x="7360920" y="4078224"/>
            <a:ext cx="4096512" cy="1225296"/>
          </a:xfrm>
          <a:prstGeom prst="rect">
            <a:avLst/>
          </a:prstGeom>
          <a:noFill/>
          <a:ln/>
        </p:spPr>
        <p:txBody>
          <a:bodyPr wrap="square" lIns="0" tIns="0" rIns="0" bIns="0" rtlCol="0" anchor="t"/>
          <a:lstStyle/>
          <a:p>
            <a:pPr marL="0" indent="0" algn="l">
              <a:lnSpc>
                <a:spcPct val="112000"/>
              </a:lnSpc>
              <a:buNone/>
            </a:pPr>
            <a:r>
              <a:rPr lang="en-US" sz="1100" dirty="0">
                <a:solidFill>
                  <a:srgbClr val="7CC4FF"/>
                </a:solidFill>
                <a:latin typeface="Courier New" pitchFamily="34" charset="0"/>
                <a:ea typeface="Courier New" pitchFamily="34" charset="-122"/>
                <a:cs typeface="Courier New" pitchFamily="34" charset="-120"/>
              </a:rPr>
              <a:t>SELECT</a:t>
            </a:r>
            <a:r>
              <a:rPr lang="en-US" sz="1100" dirty="0">
                <a:solidFill>
                  <a:srgbClr val="E6EEF7"/>
                </a:solidFill>
                <a:latin typeface="Courier New" pitchFamily="34" charset="0"/>
                <a:ea typeface="Courier New" pitchFamily="34" charset="-122"/>
                <a:cs typeface="Courier New" pitchFamily="34" charset="-120"/>
              </a:rPr>
              <a:t> location, job_count</a:t>
            </a:r>
            <a:endParaRPr lang="en-US" sz="1100" dirty="0"/>
          </a:p>
          <a:p>
            <a:pPr marL="0" indent="0" algn="l">
              <a:lnSpc>
                <a:spcPct val="112000"/>
              </a:lnSpc>
              <a:buNone/>
            </a:pPr>
            <a:r>
              <a:rPr lang="en-US" sz="1100" dirty="0">
                <a:solidFill>
                  <a:srgbClr val="7CC4FF"/>
                </a:solidFill>
                <a:latin typeface="Courier New" pitchFamily="34" charset="0"/>
                <a:ea typeface="Courier New" pitchFamily="34" charset="-122"/>
                <a:cs typeface="Courier New" pitchFamily="34" charset="-120"/>
              </a:rPr>
              <a:t>FROM</a:t>
            </a:r>
            <a:r>
              <a:rPr lang="en-US" sz="1100" dirty="0">
                <a:solidFill>
                  <a:srgbClr val="E6EEF7"/>
                </a:solidFill>
                <a:latin typeface="Courier New" pitchFamily="34" charset="0"/>
                <a:ea typeface="Courier New" pitchFamily="34" charset="-122"/>
                <a:cs typeface="Courier New" pitchFamily="34" charset="-120"/>
              </a:rPr>
              <a:t> job_locations</a:t>
            </a:r>
            <a:endParaRPr lang="en-US" sz="1100" dirty="0"/>
          </a:p>
          <a:p>
            <a:pPr marL="0" indent="0" algn="l">
              <a:lnSpc>
                <a:spcPct val="112000"/>
              </a:lnSpc>
              <a:buNone/>
            </a:pPr>
            <a:r>
              <a:rPr lang="en-US" sz="1100" dirty="0">
                <a:solidFill>
                  <a:srgbClr val="7CC4FF"/>
                </a:solidFill>
                <a:latin typeface="Courier New" pitchFamily="34" charset="0"/>
                <a:ea typeface="Courier New" pitchFamily="34" charset="-122"/>
                <a:cs typeface="Courier New" pitchFamily="34" charset="-120"/>
              </a:rPr>
              <a:t>WHERE</a:t>
            </a:r>
            <a:r>
              <a:rPr lang="en-US" sz="1100" dirty="0">
                <a:solidFill>
                  <a:srgbClr val="E6EEF7"/>
                </a:solidFill>
                <a:latin typeface="Courier New" pitchFamily="34" charset="0"/>
                <a:ea typeface="Courier New" pitchFamily="34" charset="-122"/>
                <a:cs typeface="Courier New" pitchFamily="34" charset="-120"/>
              </a:rPr>
              <a:t> location </a:t>
            </a:r>
            <a:r>
              <a:rPr lang="en-US" sz="1100" dirty="0">
                <a:solidFill>
                  <a:srgbClr val="7CC4FF"/>
                </a:solidFill>
                <a:latin typeface="Courier New" pitchFamily="34" charset="0"/>
                <a:ea typeface="Courier New" pitchFamily="34" charset="-122"/>
                <a:cs typeface="Courier New" pitchFamily="34" charset="-120"/>
              </a:rPr>
              <a:t>IS NOT NULL</a:t>
            </a:r>
            <a:endParaRPr lang="en-US" sz="1100" dirty="0"/>
          </a:p>
          <a:p>
            <a:pPr marL="0" indent="0" algn="l">
              <a:lnSpc>
                <a:spcPct val="112000"/>
              </a:lnSpc>
              <a:buNone/>
            </a:pPr>
            <a:r>
              <a:rPr lang="en-US" sz="1100" dirty="0">
                <a:solidFill>
                  <a:srgbClr val="E6EEF7"/>
                </a:solidFill>
                <a:latin typeface="Courier New" pitchFamily="34" charset="0"/>
                <a:ea typeface="Courier New" pitchFamily="34" charset="-122"/>
                <a:cs typeface="Courier New" pitchFamily="34" charset="-120"/>
              </a:rPr>
              <a:t>  </a:t>
            </a:r>
            <a:r>
              <a:rPr lang="en-US" sz="1100" dirty="0">
                <a:solidFill>
                  <a:srgbClr val="7CC4FF"/>
                </a:solidFill>
                <a:latin typeface="Courier New" pitchFamily="34" charset="0"/>
                <a:ea typeface="Courier New" pitchFamily="34" charset="-122"/>
                <a:cs typeface="Courier New" pitchFamily="34" charset="-120"/>
              </a:rPr>
              <a:t>AND</a:t>
            </a:r>
            <a:r>
              <a:rPr lang="en-US" sz="1100" dirty="0">
                <a:solidFill>
                  <a:srgbClr val="E6EEF7"/>
                </a:solidFill>
                <a:latin typeface="Courier New" pitchFamily="34" charset="0"/>
                <a:ea typeface="Courier New" pitchFamily="34" charset="-122"/>
                <a:cs typeface="Courier New" pitchFamily="34" charset="-120"/>
              </a:rPr>
              <a:t> </a:t>
            </a:r>
            <a:r>
              <a:rPr lang="en-US" sz="1100" dirty="0">
                <a:solidFill>
                  <a:srgbClr val="F2C46D"/>
                </a:solidFill>
                <a:latin typeface="Courier New" pitchFamily="34" charset="0"/>
                <a:ea typeface="Courier New" pitchFamily="34" charset="-122"/>
                <a:cs typeface="Courier New" pitchFamily="34" charset="-120"/>
              </a:rPr>
              <a:t>TRIM</a:t>
            </a:r>
            <a:r>
              <a:rPr lang="en-US" sz="1100" dirty="0">
                <a:solidFill>
                  <a:srgbClr val="E6EEF7"/>
                </a:solidFill>
                <a:latin typeface="Courier New" pitchFamily="34" charset="0"/>
                <a:ea typeface="Courier New" pitchFamily="34" charset="-122"/>
                <a:cs typeface="Courier New" pitchFamily="34" charset="-120"/>
              </a:rPr>
              <a:t>(location) &lt;&gt; ''</a:t>
            </a:r>
            <a:endParaRPr lang="en-US" sz="1100" dirty="0"/>
          </a:p>
          <a:p>
            <a:pPr marL="0" indent="0" algn="l">
              <a:lnSpc>
                <a:spcPct val="112000"/>
              </a:lnSpc>
              <a:buNone/>
            </a:pPr>
            <a:r>
              <a:rPr lang="en-US" sz="1100" dirty="0">
                <a:solidFill>
                  <a:srgbClr val="7CC4FF"/>
                </a:solidFill>
                <a:latin typeface="Courier New" pitchFamily="34" charset="0"/>
                <a:ea typeface="Courier New" pitchFamily="34" charset="-122"/>
                <a:cs typeface="Courier New" pitchFamily="34" charset="-120"/>
              </a:rPr>
              <a:t>ORDER BY</a:t>
            </a:r>
            <a:r>
              <a:rPr lang="en-US" sz="1100" dirty="0">
                <a:solidFill>
                  <a:srgbClr val="E6EEF7"/>
                </a:solidFill>
                <a:latin typeface="Courier New" pitchFamily="34" charset="0"/>
                <a:ea typeface="Courier New" pitchFamily="34" charset="-122"/>
                <a:cs typeface="Courier New" pitchFamily="34" charset="-120"/>
              </a:rPr>
              <a:t> </a:t>
            </a:r>
            <a:r>
              <a:rPr lang="en-US" sz="1100" dirty="0">
                <a:solidFill>
                  <a:srgbClr val="F2C46D"/>
                </a:solidFill>
                <a:latin typeface="Courier New" pitchFamily="34" charset="0"/>
                <a:ea typeface="Courier New" pitchFamily="34" charset="-122"/>
                <a:cs typeface="Courier New" pitchFamily="34" charset="-120"/>
              </a:rPr>
              <a:t>CAST</a:t>
            </a:r>
            <a:r>
              <a:rPr lang="en-US" sz="1100" dirty="0">
                <a:solidFill>
                  <a:srgbClr val="E6EEF7"/>
                </a:solidFill>
                <a:latin typeface="Courier New" pitchFamily="34" charset="0"/>
                <a:ea typeface="Courier New" pitchFamily="34" charset="-122"/>
                <a:cs typeface="Courier New" pitchFamily="34" charset="-120"/>
              </a:rPr>
              <a:t>(job_count </a:t>
            </a:r>
            <a:r>
              <a:rPr lang="en-US" sz="1100" dirty="0">
                <a:solidFill>
                  <a:srgbClr val="7CC4FF"/>
                </a:solidFill>
                <a:latin typeface="Courier New" pitchFamily="34" charset="0"/>
                <a:ea typeface="Courier New" pitchFamily="34" charset="-122"/>
                <a:cs typeface="Courier New" pitchFamily="34" charset="-120"/>
              </a:rPr>
              <a:t>AS</a:t>
            </a:r>
            <a:r>
              <a:rPr lang="en-US" sz="1100" dirty="0">
                <a:solidFill>
                  <a:srgbClr val="E6EEF7"/>
                </a:solidFill>
                <a:latin typeface="Courier New" pitchFamily="34" charset="0"/>
                <a:ea typeface="Courier New" pitchFamily="34" charset="-122"/>
                <a:cs typeface="Courier New" pitchFamily="34" charset="-120"/>
              </a:rPr>
              <a:t> INT) </a:t>
            </a:r>
            <a:r>
              <a:rPr lang="en-US" sz="1100" dirty="0">
                <a:solidFill>
                  <a:srgbClr val="7CC4FF"/>
                </a:solidFill>
                <a:latin typeface="Courier New" pitchFamily="34" charset="0"/>
                <a:ea typeface="Courier New" pitchFamily="34" charset="-122"/>
                <a:cs typeface="Courier New" pitchFamily="34" charset="-120"/>
              </a:rPr>
              <a:t>DESC</a:t>
            </a:r>
            <a:endParaRPr lang="en-US" sz="1100" dirty="0"/>
          </a:p>
          <a:p>
            <a:pPr marL="0" indent="0" algn="l">
              <a:lnSpc>
                <a:spcPct val="112000"/>
              </a:lnSpc>
              <a:buNone/>
            </a:pPr>
            <a:r>
              <a:rPr lang="en-US" sz="1100" dirty="0">
                <a:solidFill>
                  <a:srgbClr val="7CC4FF"/>
                </a:solidFill>
                <a:latin typeface="Courier New" pitchFamily="34" charset="0"/>
                <a:ea typeface="Courier New" pitchFamily="34" charset="-122"/>
                <a:cs typeface="Courier New" pitchFamily="34" charset="-120"/>
              </a:rPr>
              <a:t>LIMIT</a:t>
            </a:r>
            <a:r>
              <a:rPr lang="en-US" sz="1100" dirty="0">
                <a:solidFill>
                  <a:srgbClr val="E6EEF7"/>
                </a:solidFill>
                <a:latin typeface="Courier New" pitchFamily="34" charset="0"/>
                <a:ea typeface="Courier New" pitchFamily="34" charset="-122"/>
                <a:cs typeface="Courier New" pitchFamily="34" charset="-120"/>
              </a:rPr>
              <a:t> 10;</a:t>
            </a:r>
            <a:endParaRPr lang="en-US" sz="1100" dirty="0"/>
          </a:p>
        </p:txBody>
      </p:sp>
      <p:sp>
        <p:nvSpPr>
          <p:cNvPr id="18" name="Shape 18"/>
          <p:cNvSpPr/>
          <p:nvPr/>
        </p:nvSpPr>
        <p:spPr>
          <a:xfrm>
            <a:off x="548640" y="5715000"/>
            <a:ext cx="11091672" cy="384048"/>
          </a:xfrm>
          <a:prstGeom prst="roundRect">
            <a:avLst>
              <a:gd name="adj" fmla="val 20000"/>
            </a:avLst>
          </a:prstGeom>
          <a:solidFill>
            <a:schemeClr val="tx2"/>
          </a:solidFill>
          <a:ln/>
        </p:spPr>
      </p:sp>
      <p:sp>
        <p:nvSpPr>
          <p:cNvPr id="19" name="Text 19"/>
          <p:cNvSpPr txBox="1"/>
          <p:nvPr/>
        </p:nvSpPr>
        <p:spPr>
          <a:xfrm>
            <a:off x="713232" y="5715000"/>
            <a:ext cx="10762488" cy="384048"/>
          </a:xfrm>
          <a:prstGeom prst="rect">
            <a:avLst/>
          </a:prstGeom>
          <a:noFill/>
          <a:ln/>
        </p:spPr>
        <p:txBody>
          <a:bodyPr wrap="square" lIns="0" tIns="0" rIns="0" bIns="0" rtlCol="0" anchor="ctr"/>
          <a:lstStyle/>
          <a:p>
            <a:pPr marL="0" indent="0" algn="l">
              <a:buNone/>
            </a:pPr>
            <a:r>
              <a:rPr lang="en-US" sz="1300" b="1" dirty="0">
                <a:solidFill>
                  <a:srgbClr val="FFFFFF"/>
                </a:solidFill>
              </a:rPr>
              <a:t>Each skill is counted once per posting (COUNT DISTINCT job_id), so rankings show how many postings request a skill.</a:t>
            </a:r>
            <a:endParaRPr lang="en-US" sz="1200" dirty="0"/>
          </a:p>
        </p:txBody>
      </p:sp>
      <p:sp>
        <p:nvSpPr>
          <p:cNvPr id="990" name="Slide Number Placeholder 0"/>
          <p:cNvSpPr>
            <a:spLocks noGrp="1"/>
          </p:cNvSpPr>
          <p:nvPr>
            <p:ph type="sldNum" sz="quarter" idx="4294967295"/>
          </p:nvPr>
        </p:nvSpPr>
        <p:spPr>
          <a:xfrm>
            <a:off x="10972800" y="6446520"/>
            <a:ext cx="640080" cy="256032"/>
          </a:xfrm>
          <a:prstGeom prst="rect">
            <a:avLst/>
          </a:prstGeom>
        </p:spPr>
        <p:txBody>
          <a:bodyPr/>
          <a:lstStyle>
            <a:lvl1pPr>
              <a:defRPr sz="1000">
                <a:solidFill>
                  <a:schemeClr val="accent4"/>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TASK 3: RESULTS</a:t>
            </a:r>
            <a:endParaRPr lang="en-US" sz="1200" dirty="0"/>
          </a:p>
        </p:txBody>
      </p:sp>
      <p:sp>
        <p:nvSpPr>
          <p:cNvPr id="3" name="Text 0"/>
          <p:cNvSpPr>
            <a:spLocks noGrp="1"/>
          </p:cNvSpPr>
          <p:nvPr>
            <p:ph type="title" idx="100" hasCustomPrompt="1"/>
          </p:nvPr>
        </p:nvSpPr>
        <p:spPr>
          <a:xfrm>
            <a:off x="548640" y="566928"/>
            <a:ext cx="9418320" cy="685800"/>
          </a:xfrm>
          <a:prstGeom prst="rect">
            <a:avLst/>
          </a:prstGeom>
          <a:noFill/>
          <a:ln/>
        </p:spPr>
        <p:txBody>
          <a:bodyPr wrap="square" lIns="0" tIns="0" rIns="0" bIns="0" rtlCol="0" anchor="ctr"/>
          <a:lstStyle/>
          <a:p>
            <a:pPr marL="0" indent="0" algn="l">
              <a:buNone/>
            </a:pPr>
            <a:r>
              <a:rPr lang="en-US" sz="3200" b="1" dirty="0">
                <a:solidFill>
                  <a:schemeClr val="tx2"/>
                </a:solidFill>
              </a:rPr>
              <a:t>Query Results: Skills, Roles, Locations</a:t>
            </a:r>
            <a:endParaRPr lang="en-US" sz="3200" dirty="0"/>
          </a:p>
        </p:txBody>
      </p:sp>
      <p:sp>
        <p:nvSpPr>
          <p:cNvPr id="11" name="Shape 11"/>
          <p:cNvSpPr/>
          <p:nvPr/>
        </p:nvSpPr>
        <p:spPr>
          <a:xfrm>
            <a:off x="548640" y="1371600"/>
            <a:ext cx="3593592" cy="3886200"/>
          </a:xfrm>
          <a:prstGeom prst="roundRect">
            <a:avLst>
              <a:gd name="adj" fmla="val 3500"/>
            </a:avLst>
          </a:prstGeom>
          <a:solidFill>
            <a:srgbClr val="FFFFFF"/>
          </a:solidFill>
          <a:ln w="12700">
            <a:solidFill>
              <a:srgbClr val="D8E0E8"/>
            </a:solidFill>
            <a:prstDash val="solid"/>
          </a:ln>
        </p:spPr>
      </p:sp>
      <p:sp>
        <p:nvSpPr>
          <p:cNvPr id="12" name="Shape 12"/>
          <p:cNvSpPr/>
          <p:nvPr/>
        </p:nvSpPr>
        <p:spPr>
          <a:xfrm>
            <a:off x="731520" y="1536192"/>
            <a:ext cx="3227832" cy="365760"/>
          </a:xfrm>
          <a:prstGeom prst="roundRect">
            <a:avLst>
              <a:gd name="adj" fmla="val 50000"/>
            </a:avLst>
          </a:prstGeom>
          <a:solidFill>
            <a:schemeClr val="accent2"/>
          </a:solidFill>
          <a:ln/>
        </p:spPr>
      </p:sp>
      <p:sp>
        <p:nvSpPr>
          <p:cNvPr id="13" name="Text 13"/>
          <p:cNvSpPr txBox="1"/>
          <p:nvPr/>
        </p:nvSpPr>
        <p:spPr>
          <a:xfrm>
            <a:off x="777240" y="1536192"/>
            <a:ext cx="3136392" cy="365760"/>
          </a:xfrm>
          <a:prstGeom prst="rect">
            <a:avLst/>
          </a:prstGeom>
          <a:noFill/>
          <a:ln/>
        </p:spPr>
        <p:txBody>
          <a:bodyPr wrap="square" lIns="0" tIns="0" rIns="0" bIns="0" rtlCol="0" anchor="ctr"/>
          <a:lstStyle/>
          <a:p>
            <a:pPr marL="0" indent="0" algn="ctr">
              <a:buNone/>
            </a:pPr>
            <a:r>
              <a:rPr lang="en-US" sz="1250" b="1" dirty="0">
                <a:solidFill>
                  <a:srgbClr val="FFFFFF"/>
                </a:solidFill>
              </a:rPr>
              <a:t>Skill demand</a:t>
            </a:r>
            <a:endParaRPr lang="en-US" sz="1200" dirty="0"/>
          </a:p>
        </p:txBody>
      </p:sp>
      <p:sp>
        <p:nvSpPr>
          <p:cNvPr id="14" name="Text 14"/>
          <p:cNvSpPr txBox="1"/>
          <p:nvPr/>
        </p:nvSpPr>
        <p:spPr>
          <a:xfrm>
            <a:off x="731520" y="2084832"/>
            <a:ext cx="3227832" cy="201168"/>
          </a:xfrm>
          <a:prstGeom prst="rect">
            <a:avLst/>
          </a:prstGeom>
          <a:noFill/>
          <a:ln/>
        </p:spPr>
        <p:txBody>
          <a:bodyPr wrap="square" lIns="0" tIns="0" rIns="0" bIns="0" rtlCol="0" anchor="ctr"/>
          <a:lstStyle/>
          <a:p>
            <a:pPr marL="0" indent="0" algn="l">
              <a:buNone/>
            </a:pPr>
            <a:r>
              <a:rPr lang="en-US" sz="1150" dirty="0">
                <a:solidFill>
                  <a:schemeClr val="tx1"/>
                </a:solidFill>
              </a:rPr>
              <a:t>sales</a:t>
            </a:r>
            <a:endParaRPr lang="en-US" sz="1200" dirty="0"/>
          </a:p>
        </p:txBody>
      </p:sp>
      <p:sp>
        <p:nvSpPr>
          <p:cNvPr id="15" name="Shape 15"/>
          <p:cNvSpPr/>
          <p:nvPr/>
        </p:nvSpPr>
        <p:spPr>
          <a:xfrm>
            <a:off x="731520" y="2331720"/>
            <a:ext cx="2496312" cy="155448"/>
          </a:xfrm>
          <a:prstGeom prst="roundRect">
            <a:avLst>
              <a:gd name="adj" fmla="val 50000"/>
            </a:avLst>
          </a:prstGeom>
          <a:solidFill>
            <a:schemeClr val="bg2"/>
          </a:solidFill>
          <a:ln/>
        </p:spPr>
      </p:sp>
      <p:sp>
        <p:nvSpPr>
          <p:cNvPr id="16" name="Shape 16"/>
          <p:cNvSpPr/>
          <p:nvPr/>
        </p:nvSpPr>
        <p:spPr>
          <a:xfrm>
            <a:off x="731520" y="2331720"/>
            <a:ext cx="2496312" cy="155448"/>
          </a:xfrm>
          <a:prstGeom prst="roundRect">
            <a:avLst>
              <a:gd name="adj" fmla="val 50000"/>
            </a:avLst>
          </a:prstGeom>
          <a:solidFill>
            <a:schemeClr val="accent2"/>
          </a:solidFill>
          <a:ln/>
        </p:spPr>
      </p:sp>
      <p:sp>
        <p:nvSpPr>
          <p:cNvPr id="17" name="Text 17"/>
          <p:cNvSpPr txBox="1"/>
          <p:nvPr/>
        </p:nvSpPr>
        <p:spPr>
          <a:xfrm>
            <a:off x="3300984" y="2281428"/>
            <a:ext cx="658368" cy="246888"/>
          </a:xfrm>
          <a:prstGeom prst="rect">
            <a:avLst/>
          </a:prstGeom>
          <a:noFill/>
          <a:ln/>
        </p:spPr>
        <p:txBody>
          <a:bodyPr wrap="square" lIns="0" tIns="0" rIns="0" bIns="0" rtlCol="0" anchor="ctr"/>
          <a:lstStyle/>
          <a:p>
            <a:pPr marL="0" indent="0" algn="r">
              <a:buNone/>
            </a:pPr>
            <a:r>
              <a:rPr lang="en-US" sz="1200" b="1" dirty="0">
                <a:solidFill>
                  <a:schemeClr val="tx2"/>
                </a:solidFill>
              </a:rPr>
              <a:t>9,178</a:t>
            </a:r>
            <a:endParaRPr lang="en-US" sz="1200" dirty="0"/>
          </a:p>
        </p:txBody>
      </p:sp>
      <p:sp>
        <p:nvSpPr>
          <p:cNvPr id="18" name="Text 18"/>
          <p:cNvSpPr txBox="1"/>
          <p:nvPr/>
        </p:nvSpPr>
        <p:spPr>
          <a:xfrm>
            <a:off x="731520" y="2596896"/>
            <a:ext cx="3227832" cy="201168"/>
          </a:xfrm>
          <a:prstGeom prst="rect">
            <a:avLst/>
          </a:prstGeom>
          <a:noFill/>
          <a:ln/>
        </p:spPr>
        <p:txBody>
          <a:bodyPr wrap="square" lIns="0" tIns="0" rIns="0" bIns="0" rtlCol="0" anchor="ctr"/>
          <a:lstStyle/>
          <a:p>
            <a:pPr marL="0" indent="0" algn="l">
              <a:buNone/>
            </a:pPr>
            <a:r>
              <a:rPr lang="en-US" sz="1150" dirty="0">
                <a:solidFill>
                  <a:schemeClr val="tx1"/>
                </a:solidFill>
              </a:rPr>
              <a:t>python</a:t>
            </a:r>
            <a:endParaRPr lang="en-US" sz="1200" dirty="0"/>
          </a:p>
        </p:txBody>
      </p:sp>
      <p:sp>
        <p:nvSpPr>
          <p:cNvPr id="19" name="Shape 19"/>
          <p:cNvSpPr/>
          <p:nvPr/>
        </p:nvSpPr>
        <p:spPr>
          <a:xfrm>
            <a:off x="731520" y="2843784"/>
            <a:ext cx="2496312" cy="155448"/>
          </a:xfrm>
          <a:prstGeom prst="roundRect">
            <a:avLst>
              <a:gd name="adj" fmla="val 50000"/>
            </a:avLst>
          </a:prstGeom>
          <a:solidFill>
            <a:schemeClr val="bg2"/>
          </a:solidFill>
          <a:ln/>
        </p:spPr>
      </p:sp>
      <p:sp>
        <p:nvSpPr>
          <p:cNvPr id="20" name="Shape 20"/>
          <p:cNvSpPr/>
          <p:nvPr/>
        </p:nvSpPr>
        <p:spPr>
          <a:xfrm>
            <a:off x="731520" y="2843784"/>
            <a:ext cx="1590046" cy="155448"/>
          </a:xfrm>
          <a:prstGeom prst="roundRect">
            <a:avLst>
              <a:gd name="adj" fmla="val 50000"/>
            </a:avLst>
          </a:prstGeom>
          <a:solidFill>
            <a:schemeClr val="accent2"/>
          </a:solidFill>
          <a:ln/>
        </p:spPr>
      </p:sp>
      <p:sp>
        <p:nvSpPr>
          <p:cNvPr id="21" name="Text 21"/>
          <p:cNvSpPr txBox="1"/>
          <p:nvPr/>
        </p:nvSpPr>
        <p:spPr>
          <a:xfrm>
            <a:off x="3300984" y="2793492"/>
            <a:ext cx="658368" cy="246888"/>
          </a:xfrm>
          <a:prstGeom prst="rect">
            <a:avLst/>
          </a:prstGeom>
          <a:noFill/>
          <a:ln/>
        </p:spPr>
        <p:txBody>
          <a:bodyPr wrap="square" lIns="0" tIns="0" rIns="0" bIns="0" rtlCol="0" anchor="ctr"/>
          <a:lstStyle/>
          <a:p>
            <a:pPr marL="0" indent="0" algn="r">
              <a:buNone/>
            </a:pPr>
            <a:r>
              <a:rPr lang="en-US" sz="1200" b="1" dirty="0">
                <a:solidFill>
                  <a:schemeClr val="tx2"/>
                </a:solidFill>
              </a:rPr>
              <a:t>5,846</a:t>
            </a:r>
            <a:endParaRPr lang="en-US" sz="1200" dirty="0"/>
          </a:p>
        </p:txBody>
      </p:sp>
      <p:sp>
        <p:nvSpPr>
          <p:cNvPr id="22" name="Text 22"/>
          <p:cNvSpPr txBox="1"/>
          <p:nvPr/>
        </p:nvSpPr>
        <p:spPr>
          <a:xfrm>
            <a:off x="731520" y="3108960"/>
            <a:ext cx="3227832" cy="201168"/>
          </a:xfrm>
          <a:prstGeom prst="rect">
            <a:avLst/>
          </a:prstGeom>
          <a:noFill/>
          <a:ln/>
        </p:spPr>
        <p:txBody>
          <a:bodyPr wrap="square" lIns="0" tIns="0" rIns="0" bIns="0" rtlCol="0" anchor="ctr"/>
          <a:lstStyle/>
          <a:p>
            <a:pPr marL="0" indent="0" algn="l">
              <a:buNone/>
            </a:pPr>
            <a:r>
              <a:rPr lang="en-US" sz="1150" dirty="0">
                <a:solidFill>
                  <a:schemeClr val="tx1"/>
                </a:solidFill>
              </a:rPr>
              <a:t>project management</a:t>
            </a:r>
            <a:endParaRPr lang="en-US" sz="1200" dirty="0"/>
          </a:p>
        </p:txBody>
      </p:sp>
      <p:sp>
        <p:nvSpPr>
          <p:cNvPr id="23" name="Shape 23"/>
          <p:cNvSpPr/>
          <p:nvPr/>
        </p:nvSpPr>
        <p:spPr>
          <a:xfrm>
            <a:off x="731520" y="3355848"/>
            <a:ext cx="2496312" cy="155448"/>
          </a:xfrm>
          <a:prstGeom prst="roundRect">
            <a:avLst>
              <a:gd name="adj" fmla="val 50000"/>
            </a:avLst>
          </a:prstGeom>
          <a:solidFill>
            <a:schemeClr val="bg2"/>
          </a:solidFill>
          <a:ln/>
        </p:spPr>
      </p:sp>
      <p:sp>
        <p:nvSpPr>
          <p:cNvPr id="24" name="Shape 24"/>
          <p:cNvSpPr/>
          <p:nvPr/>
        </p:nvSpPr>
        <p:spPr>
          <a:xfrm>
            <a:off x="731520" y="3355848"/>
            <a:ext cx="1507905" cy="155448"/>
          </a:xfrm>
          <a:prstGeom prst="roundRect">
            <a:avLst>
              <a:gd name="adj" fmla="val 50000"/>
            </a:avLst>
          </a:prstGeom>
          <a:solidFill>
            <a:schemeClr val="accent2"/>
          </a:solidFill>
          <a:ln/>
        </p:spPr>
      </p:sp>
      <p:sp>
        <p:nvSpPr>
          <p:cNvPr id="25" name="Text 25"/>
          <p:cNvSpPr txBox="1"/>
          <p:nvPr/>
        </p:nvSpPr>
        <p:spPr>
          <a:xfrm>
            <a:off x="3300984" y="3305556"/>
            <a:ext cx="658368" cy="246888"/>
          </a:xfrm>
          <a:prstGeom prst="rect">
            <a:avLst/>
          </a:prstGeom>
          <a:noFill/>
          <a:ln/>
        </p:spPr>
        <p:txBody>
          <a:bodyPr wrap="square" lIns="0" tIns="0" rIns="0" bIns="0" rtlCol="0" anchor="ctr"/>
          <a:lstStyle/>
          <a:p>
            <a:pPr marL="0" indent="0" algn="r">
              <a:buNone/>
            </a:pPr>
            <a:r>
              <a:rPr lang="en-US" sz="1200" b="1" dirty="0">
                <a:solidFill>
                  <a:schemeClr val="tx2"/>
                </a:solidFill>
              </a:rPr>
              <a:t>5,544</a:t>
            </a:r>
            <a:endParaRPr lang="en-US" sz="1200" dirty="0"/>
          </a:p>
        </p:txBody>
      </p:sp>
      <p:sp>
        <p:nvSpPr>
          <p:cNvPr id="26" name="Text 26"/>
          <p:cNvSpPr txBox="1"/>
          <p:nvPr/>
        </p:nvSpPr>
        <p:spPr>
          <a:xfrm>
            <a:off x="731520" y="3621024"/>
            <a:ext cx="3227832" cy="201168"/>
          </a:xfrm>
          <a:prstGeom prst="rect">
            <a:avLst/>
          </a:prstGeom>
          <a:noFill/>
          <a:ln/>
        </p:spPr>
        <p:txBody>
          <a:bodyPr wrap="square" lIns="0" tIns="0" rIns="0" bIns="0" rtlCol="0" anchor="ctr"/>
          <a:lstStyle/>
          <a:p>
            <a:pPr marL="0" indent="0" algn="l">
              <a:buNone/>
            </a:pPr>
            <a:r>
              <a:rPr lang="en-US" sz="1150" dirty="0">
                <a:solidFill>
                  <a:schemeClr val="tx1"/>
                </a:solidFill>
              </a:rPr>
              <a:t>customer service</a:t>
            </a:r>
            <a:endParaRPr lang="en-US" sz="1200" dirty="0"/>
          </a:p>
        </p:txBody>
      </p:sp>
      <p:sp>
        <p:nvSpPr>
          <p:cNvPr id="27" name="Shape 27"/>
          <p:cNvSpPr/>
          <p:nvPr/>
        </p:nvSpPr>
        <p:spPr>
          <a:xfrm>
            <a:off x="731520" y="3867912"/>
            <a:ext cx="2496312" cy="155448"/>
          </a:xfrm>
          <a:prstGeom prst="roundRect">
            <a:avLst>
              <a:gd name="adj" fmla="val 50000"/>
            </a:avLst>
          </a:prstGeom>
          <a:solidFill>
            <a:schemeClr val="bg2"/>
          </a:solidFill>
          <a:ln/>
        </p:spPr>
      </p:sp>
      <p:sp>
        <p:nvSpPr>
          <p:cNvPr id="28" name="Shape 28"/>
          <p:cNvSpPr/>
          <p:nvPr/>
        </p:nvSpPr>
        <p:spPr>
          <a:xfrm>
            <a:off x="731520" y="3867912"/>
            <a:ext cx="1393126" cy="155448"/>
          </a:xfrm>
          <a:prstGeom prst="roundRect">
            <a:avLst>
              <a:gd name="adj" fmla="val 50000"/>
            </a:avLst>
          </a:prstGeom>
          <a:solidFill>
            <a:schemeClr val="accent2"/>
          </a:solidFill>
          <a:ln/>
        </p:spPr>
      </p:sp>
      <p:sp>
        <p:nvSpPr>
          <p:cNvPr id="29" name="Text 29"/>
          <p:cNvSpPr txBox="1"/>
          <p:nvPr/>
        </p:nvSpPr>
        <p:spPr>
          <a:xfrm>
            <a:off x="3300984" y="3817620"/>
            <a:ext cx="658368" cy="246888"/>
          </a:xfrm>
          <a:prstGeom prst="rect">
            <a:avLst/>
          </a:prstGeom>
          <a:noFill/>
          <a:ln/>
        </p:spPr>
        <p:txBody>
          <a:bodyPr wrap="square" lIns="0" tIns="0" rIns="0" bIns="0" rtlCol="0" anchor="ctr"/>
          <a:lstStyle/>
          <a:p>
            <a:pPr marL="0" indent="0" algn="r">
              <a:buNone/>
            </a:pPr>
            <a:r>
              <a:rPr lang="en-US" sz="1200" b="1" dirty="0">
                <a:solidFill>
                  <a:schemeClr val="tx2"/>
                </a:solidFill>
              </a:rPr>
              <a:t>5,122</a:t>
            </a:r>
            <a:endParaRPr lang="en-US" sz="1200" dirty="0"/>
          </a:p>
        </p:txBody>
      </p:sp>
      <p:sp>
        <p:nvSpPr>
          <p:cNvPr id="30" name="Text 30"/>
          <p:cNvSpPr txBox="1"/>
          <p:nvPr/>
        </p:nvSpPr>
        <p:spPr>
          <a:xfrm>
            <a:off x="731520" y="4133088"/>
            <a:ext cx="3227832" cy="201168"/>
          </a:xfrm>
          <a:prstGeom prst="rect">
            <a:avLst/>
          </a:prstGeom>
          <a:noFill/>
          <a:ln/>
        </p:spPr>
        <p:txBody>
          <a:bodyPr wrap="square" lIns="0" tIns="0" rIns="0" bIns="0" rtlCol="0" anchor="ctr"/>
          <a:lstStyle/>
          <a:p>
            <a:pPr marL="0" indent="0" algn="l">
              <a:buNone/>
            </a:pPr>
            <a:r>
              <a:rPr lang="en-US" sz="1150" dirty="0">
                <a:solidFill>
                  <a:schemeClr val="tx1"/>
                </a:solidFill>
              </a:rPr>
              <a:t>sap</a:t>
            </a:r>
            <a:endParaRPr lang="en-US" sz="1200" dirty="0"/>
          </a:p>
        </p:txBody>
      </p:sp>
      <p:sp>
        <p:nvSpPr>
          <p:cNvPr id="31" name="Shape 31"/>
          <p:cNvSpPr/>
          <p:nvPr/>
        </p:nvSpPr>
        <p:spPr>
          <a:xfrm>
            <a:off x="731520" y="4379976"/>
            <a:ext cx="2496312" cy="155448"/>
          </a:xfrm>
          <a:prstGeom prst="roundRect">
            <a:avLst>
              <a:gd name="adj" fmla="val 50000"/>
            </a:avLst>
          </a:prstGeom>
          <a:solidFill>
            <a:schemeClr val="bg2"/>
          </a:solidFill>
          <a:ln/>
        </p:spPr>
      </p:sp>
      <p:sp>
        <p:nvSpPr>
          <p:cNvPr id="32" name="Shape 32"/>
          <p:cNvSpPr/>
          <p:nvPr/>
        </p:nvSpPr>
        <p:spPr>
          <a:xfrm>
            <a:off x="731520" y="4379976"/>
            <a:ext cx="1371639" cy="155448"/>
          </a:xfrm>
          <a:prstGeom prst="roundRect">
            <a:avLst>
              <a:gd name="adj" fmla="val 50000"/>
            </a:avLst>
          </a:prstGeom>
          <a:solidFill>
            <a:schemeClr val="accent2"/>
          </a:solidFill>
          <a:ln/>
        </p:spPr>
      </p:sp>
      <p:sp>
        <p:nvSpPr>
          <p:cNvPr id="33" name="Text 33"/>
          <p:cNvSpPr txBox="1"/>
          <p:nvPr/>
        </p:nvSpPr>
        <p:spPr>
          <a:xfrm>
            <a:off x="3300984" y="4329684"/>
            <a:ext cx="658368" cy="246888"/>
          </a:xfrm>
          <a:prstGeom prst="rect">
            <a:avLst/>
          </a:prstGeom>
          <a:noFill/>
          <a:ln/>
        </p:spPr>
        <p:txBody>
          <a:bodyPr wrap="square" lIns="0" tIns="0" rIns="0" bIns="0" rtlCol="0" anchor="ctr"/>
          <a:lstStyle/>
          <a:p>
            <a:pPr marL="0" indent="0" algn="r">
              <a:buNone/>
            </a:pPr>
            <a:r>
              <a:rPr lang="en-US" sz="1200" b="1" dirty="0">
                <a:solidFill>
                  <a:schemeClr val="tx2"/>
                </a:solidFill>
              </a:rPr>
              <a:t>5,043</a:t>
            </a:r>
            <a:endParaRPr lang="en-US" sz="1200" dirty="0"/>
          </a:p>
        </p:txBody>
      </p:sp>
      <p:sp>
        <p:nvSpPr>
          <p:cNvPr id="34" name="Text 34"/>
          <p:cNvSpPr txBox="1"/>
          <p:nvPr/>
        </p:nvSpPr>
        <p:spPr>
          <a:xfrm>
            <a:off x="731520" y="4645152"/>
            <a:ext cx="3227832" cy="201168"/>
          </a:xfrm>
          <a:prstGeom prst="rect">
            <a:avLst/>
          </a:prstGeom>
          <a:noFill/>
          <a:ln/>
        </p:spPr>
        <p:txBody>
          <a:bodyPr wrap="square" lIns="0" tIns="0" rIns="0" bIns="0" rtlCol="0" anchor="ctr"/>
          <a:lstStyle/>
          <a:p>
            <a:pPr marL="0" indent="0" algn="l">
              <a:buNone/>
            </a:pPr>
            <a:r>
              <a:rPr lang="en-US" sz="1150" dirty="0">
                <a:solidFill>
                  <a:schemeClr val="tx1"/>
                </a:solidFill>
              </a:rPr>
              <a:t>management</a:t>
            </a:r>
            <a:endParaRPr lang="en-US" sz="1200" dirty="0"/>
          </a:p>
        </p:txBody>
      </p:sp>
      <p:sp>
        <p:nvSpPr>
          <p:cNvPr id="35" name="Shape 35"/>
          <p:cNvSpPr/>
          <p:nvPr/>
        </p:nvSpPr>
        <p:spPr>
          <a:xfrm>
            <a:off x="731520" y="4892040"/>
            <a:ext cx="2496312" cy="155448"/>
          </a:xfrm>
          <a:prstGeom prst="roundRect">
            <a:avLst>
              <a:gd name="adj" fmla="val 50000"/>
            </a:avLst>
          </a:prstGeom>
          <a:solidFill>
            <a:schemeClr val="bg2"/>
          </a:solidFill>
          <a:ln/>
        </p:spPr>
      </p:sp>
      <p:sp>
        <p:nvSpPr>
          <p:cNvPr id="36" name="Shape 36"/>
          <p:cNvSpPr/>
          <p:nvPr/>
        </p:nvSpPr>
        <p:spPr>
          <a:xfrm>
            <a:off x="731520" y="4892040"/>
            <a:ext cx="1318873" cy="155448"/>
          </a:xfrm>
          <a:prstGeom prst="roundRect">
            <a:avLst>
              <a:gd name="adj" fmla="val 50000"/>
            </a:avLst>
          </a:prstGeom>
          <a:solidFill>
            <a:schemeClr val="accent2"/>
          </a:solidFill>
          <a:ln/>
        </p:spPr>
      </p:sp>
      <p:sp>
        <p:nvSpPr>
          <p:cNvPr id="37" name="Text 37"/>
          <p:cNvSpPr txBox="1"/>
          <p:nvPr/>
        </p:nvSpPr>
        <p:spPr>
          <a:xfrm>
            <a:off x="3300984" y="4841748"/>
            <a:ext cx="658368" cy="246888"/>
          </a:xfrm>
          <a:prstGeom prst="rect">
            <a:avLst/>
          </a:prstGeom>
          <a:noFill/>
          <a:ln/>
        </p:spPr>
        <p:txBody>
          <a:bodyPr wrap="square" lIns="0" tIns="0" rIns="0" bIns="0" rtlCol="0" anchor="ctr"/>
          <a:lstStyle/>
          <a:p>
            <a:pPr marL="0" indent="0" algn="r">
              <a:buNone/>
            </a:pPr>
            <a:r>
              <a:rPr lang="en-US" sz="1200" b="1" dirty="0">
                <a:solidFill>
                  <a:schemeClr val="tx2"/>
                </a:solidFill>
              </a:rPr>
              <a:t>4,849</a:t>
            </a:r>
            <a:endParaRPr lang="en-US" sz="1200" dirty="0"/>
          </a:p>
        </p:txBody>
      </p:sp>
      <p:sp>
        <p:nvSpPr>
          <p:cNvPr id="38" name="Shape 38"/>
          <p:cNvSpPr/>
          <p:nvPr/>
        </p:nvSpPr>
        <p:spPr>
          <a:xfrm>
            <a:off x="4297680" y="1371600"/>
            <a:ext cx="3593592" cy="3886200"/>
          </a:xfrm>
          <a:prstGeom prst="roundRect">
            <a:avLst>
              <a:gd name="adj" fmla="val 3500"/>
            </a:avLst>
          </a:prstGeom>
          <a:solidFill>
            <a:srgbClr val="FFFFFF"/>
          </a:solidFill>
          <a:ln w="12700">
            <a:solidFill>
              <a:srgbClr val="D8E0E8"/>
            </a:solidFill>
            <a:prstDash val="solid"/>
          </a:ln>
        </p:spPr>
      </p:sp>
      <p:sp>
        <p:nvSpPr>
          <p:cNvPr id="39" name="Shape 39"/>
          <p:cNvSpPr/>
          <p:nvPr/>
        </p:nvSpPr>
        <p:spPr>
          <a:xfrm>
            <a:off x="4480560" y="1536192"/>
            <a:ext cx="3227832" cy="365760"/>
          </a:xfrm>
          <a:prstGeom prst="roundRect">
            <a:avLst>
              <a:gd name="adj" fmla="val 50000"/>
            </a:avLst>
          </a:prstGeom>
          <a:solidFill>
            <a:schemeClr val="accent1"/>
          </a:solidFill>
          <a:ln/>
        </p:spPr>
      </p:sp>
      <p:sp>
        <p:nvSpPr>
          <p:cNvPr id="40" name="Text 40"/>
          <p:cNvSpPr txBox="1"/>
          <p:nvPr/>
        </p:nvSpPr>
        <p:spPr>
          <a:xfrm>
            <a:off x="4526280" y="1536192"/>
            <a:ext cx="3136392" cy="365760"/>
          </a:xfrm>
          <a:prstGeom prst="rect">
            <a:avLst/>
          </a:prstGeom>
          <a:noFill/>
          <a:ln/>
        </p:spPr>
        <p:txBody>
          <a:bodyPr wrap="square" lIns="0" tIns="0" rIns="0" bIns="0" rtlCol="0" anchor="ctr"/>
          <a:lstStyle/>
          <a:p>
            <a:pPr marL="0" indent="0" algn="ctr">
              <a:buNone/>
            </a:pPr>
            <a:r>
              <a:rPr lang="en-US" sz="1250" b="1" dirty="0">
                <a:solidFill>
                  <a:srgbClr val="FFFFFF"/>
                </a:solidFill>
              </a:rPr>
              <a:t>Top job roles</a:t>
            </a:r>
            <a:endParaRPr lang="en-US" sz="1200" dirty="0"/>
          </a:p>
        </p:txBody>
      </p:sp>
      <p:sp>
        <p:nvSpPr>
          <p:cNvPr id="41" name="Text 41"/>
          <p:cNvSpPr txBox="1"/>
          <p:nvPr/>
        </p:nvSpPr>
        <p:spPr>
          <a:xfrm>
            <a:off x="4480560" y="2066544"/>
            <a:ext cx="3227832" cy="457200"/>
          </a:xfrm>
          <a:prstGeom prst="rect">
            <a:avLst/>
          </a:prstGeom>
          <a:noFill/>
          <a:ln/>
        </p:spPr>
        <p:txBody>
          <a:bodyPr wrap="square" lIns="0" tIns="0" rIns="0" bIns="0" rtlCol="0" anchor="ctr"/>
          <a:lstStyle/>
          <a:p>
            <a:pPr marL="0" indent="0" algn="l">
              <a:buNone/>
            </a:pPr>
            <a:r>
              <a:rPr lang="en-US" sz="2800" b="1" dirty="0">
                <a:solidFill>
                  <a:schemeClr val="tx2"/>
                </a:solidFill>
              </a:rPr>
              <a:t>2,033</a:t>
            </a:r>
            <a:endParaRPr lang="en-US" sz="1200" dirty="0"/>
          </a:p>
        </p:txBody>
      </p:sp>
      <p:sp>
        <p:nvSpPr>
          <p:cNvPr id="42" name="Text 42"/>
          <p:cNvSpPr txBox="1"/>
          <p:nvPr/>
        </p:nvSpPr>
        <p:spPr>
          <a:xfrm>
            <a:off x="4480560" y="2542032"/>
            <a:ext cx="3227832" cy="256032"/>
          </a:xfrm>
          <a:prstGeom prst="rect">
            <a:avLst/>
          </a:prstGeom>
          <a:noFill/>
          <a:ln/>
        </p:spPr>
        <p:txBody>
          <a:bodyPr wrap="square" lIns="0" tIns="0" rIns="0" bIns="0" rtlCol="0" anchor="t"/>
          <a:lstStyle/>
          <a:p>
            <a:pPr marL="0" indent="0" algn="l">
              <a:buNone/>
            </a:pPr>
            <a:r>
              <a:rPr lang="en-US" sz="1100" dirty="0">
                <a:solidFill>
                  <a:schemeClr val="accent4"/>
                </a:solidFill>
              </a:rPr>
              <a:t>postings for the most advertised title</a:t>
            </a:r>
            <a:endParaRPr lang="en-US" sz="1200" dirty="0"/>
          </a:p>
        </p:txBody>
      </p:sp>
      <p:sp>
        <p:nvSpPr>
          <p:cNvPr id="43" name="Text 43"/>
          <p:cNvSpPr txBox="1"/>
          <p:nvPr/>
        </p:nvSpPr>
        <p:spPr>
          <a:xfrm>
            <a:off x="4480560" y="2980944"/>
            <a:ext cx="3227832" cy="201168"/>
          </a:xfrm>
          <a:prstGeom prst="rect">
            <a:avLst/>
          </a:prstGeom>
          <a:noFill/>
          <a:ln/>
        </p:spPr>
        <p:txBody>
          <a:bodyPr wrap="square" lIns="0" tIns="0" rIns="0" bIns="0" rtlCol="0" anchor="ctr"/>
          <a:lstStyle/>
          <a:p>
            <a:pPr marL="0" indent="0" algn="l">
              <a:buNone/>
            </a:pPr>
            <a:r>
              <a:rPr lang="en-US" sz="1150" dirty="0">
                <a:solidFill>
                  <a:schemeClr val="tx1"/>
                </a:solidFill>
              </a:rPr>
              <a:t>application developer</a:t>
            </a:r>
            <a:endParaRPr lang="en-US" sz="1200" dirty="0"/>
          </a:p>
        </p:txBody>
      </p:sp>
      <p:sp>
        <p:nvSpPr>
          <p:cNvPr id="44" name="Shape 44"/>
          <p:cNvSpPr/>
          <p:nvPr/>
        </p:nvSpPr>
        <p:spPr>
          <a:xfrm>
            <a:off x="4480560" y="3227832"/>
            <a:ext cx="2496312" cy="155448"/>
          </a:xfrm>
          <a:prstGeom prst="roundRect">
            <a:avLst>
              <a:gd name="adj" fmla="val 50000"/>
            </a:avLst>
          </a:prstGeom>
          <a:solidFill>
            <a:schemeClr val="bg2"/>
          </a:solidFill>
          <a:ln/>
        </p:spPr>
      </p:sp>
      <p:sp>
        <p:nvSpPr>
          <p:cNvPr id="45" name="Shape 45"/>
          <p:cNvSpPr/>
          <p:nvPr/>
        </p:nvSpPr>
        <p:spPr>
          <a:xfrm>
            <a:off x="4480560" y="3227832"/>
            <a:ext cx="2496312" cy="155448"/>
          </a:xfrm>
          <a:prstGeom prst="roundRect">
            <a:avLst>
              <a:gd name="adj" fmla="val 50000"/>
            </a:avLst>
          </a:prstGeom>
          <a:solidFill>
            <a:schemeClr val="accent1"/>
          </a:solidFill>
          <a:ln/>
        </p:spPr>
      </p:sp>
      <p:sp>
        <p:nvSpPr>
          <p:cNvPr id="46" name="Text 46"/>
          <p:cNvSpPr txBox="1"/>
          <p:nvPr/>
        </p:nvSpPr>
        <p:spPr>
          <a:xfrm>
            <a:off x="7050024" y="3177540"/>
            <a:ext cx="658368" cy="246888"/>
          </a:xfrm>
          <a:prstGeom prst="rect">
            <a:avLst/>
          </a:prstGeom>
          <a:noFill/>
          <a:ln/>
        </p:spPr>
        <p:txBody>
          <a:bodyPr wrap="square" lIns="0" tIns="0" rIns="0" bIns="0" rtlCol="0" anchor="ctr"/>
          <a:lstStyle/>
          <a:p>
            <a:pPr marL="0" indent="0" algn="r">
              <a:buNone/>
            </a:pPr>
            <a:r>
              <a:rPr lang="en-US" sz="1200" b="1" dirty="0">
                <a:solidFill>
                  <a:schemeClr val="tx2"/>
                </a:solidFill>
              </a:rPr>
              <a:t>2,033</a:t>
            </a:r>
            <a:endParaRPr lang="en-US" sz="1200" dirty="0"/>
          </a:p>
        </p:txBody>
      </p:sp>
      <p:sp>
        <p:nvSpPr>
          <p:cNvPr id="47" name="Text 47"/>
          <p:cNvSpPr txBox="1"/>
          <p:nvPr/>
        </p:nvSpPr>
        <p:spPr>
          <a:xfrm>
            <a:off x="4480560" y="3493008"/>
            <a:ext cx="3227832" cy="201168"/>
          </a:xfrm>
          <a:prstGeom prst="rect">
            <a:avLst/>
          </a:prstGeom>
          <a:noFill/>
          <a:ln/>
        </p:spPr>
        <p:txBody>
          <a:bodyPr wrap="square" lIns="0" tIns="0" rIns="0" bIns="0" rtlCol="0" anchor="ctr"/>
          <a:lstStyle/>
          <a:p>
            <a:pPr marL="0" indent="0" algn="l">
              <a:buNone/>
            </a:pPr>
            <a:r>
              <a:rPr lang="en-US" sz="1150" dirty="0">
                <a:solidFill>
                  <a:schemeClr val="tx1"/>
                </a:solidFill>
              </a:rPr>
              <a:t>application lead</a:t>
            </a:r>
            <a:endParaRPr lang="en-US" sz="1200" dirty="0"/>
          </a:p>
        </p:txBody>
      </p:sp>
      <p:sp>
        <p:nvSpPr>
          <p:cNvPr id="48" name="Shape 48"/>
          <p:cNvSpPr/>
          <p:nvPr/>
        </p:nvSpPr>
        <p:spPr>
          <a:xfrm>
            <a:off x="4480560" y="3739896"/>
            <a:ext cx="2496312" cy="155448"/>
          </a:xfrm>
          <a:prstGeom prst="roundRect">
            <a:avLst>
              <a:gd name="adj" fmla="val 50000"/>
            </a:avLst>
          </a:prstGeom>
          <a:solidFill>
            <a:schemeClr val="bg2"/>
          </a:solidFill>
          <a:ln/>
        </p:spPr>
      </p:sp>
      <p:sp>
        <p:nvSpPr>
          <p:cNvPr id="49" name="Shape 49"/>
          <p:cNvSpPr/>
          <p:nvPr/>
        </p:nvSpPr>
        <p:spPr>
          <a:xfrm>
            <a:off x="4480560" y="3739896"/>
            <a:ext cx="1652748" cy="155448"/>
          </a:xfrm>
          <a:prstGeom prst="roundRect">
            <a:avLst>
              <a:gd name="adj" fmla="val 50000"/>
            </a:avLst>
          </a:prstGeom>
          <a:solidFill>
            <a:schemeClr val="accent1"/>
          </a:solidFill>
          <a:ln/>
        </p:spPr>
      </p:sp>
      <p:sp>
        <p:nvSpPr>
          <p:cNvPr id="50" name="Text 50"/>
          <p:cNvSpPr txBox="1"/>
          <p:nvPr/>
        </p:nvSpPr>
        <p:spPr>
          <a:xfrm>
            <a:off x="7050024" y="3689604"/>
            <a:ext cx="658368" cy="246888"/>
          </a:xfrm>
          <a:prstGeom prst="rect">
            <a:avLst/>
          </a:prstGeom>
          <a:noFill/>
          <a:ln/>
        </p:spPr>
        <p:txBody>
          <a:bodyPr wrap="square" lIns="0" tIns="0" rIns="0" bIns="0" rtlCol="0" anchor="ctr"/>
          <a:lstStyle/>
          <a:p>
            <a:pPr marL="0" indent="0" algn="r">
              <a:buNone/>
            </a:pPr>
            <a:r>
              <a:rPr lang="en-US" sz="1200" b="1" dirty="0">
                <a:solidFill>
                  <a:schemeClr val="tx2"/>
                </a:solidFill>
              </a:rPr>
              <a:t>1,346</a:t>
            </a:r>
            <a:endParaRPr lang="en-US" sz="1200" dirty="0"/>
          </a:p>
        </p:txBody>
      </p:sp>
      <p:sp>
        <p:nvSpPr>
          <p:cNvPr id="51" name="Text 51"/>
          <p:cNvSpPr txBox="1"/>
          <p:nvPr/>
        </p:nvSpPr>
        <p:spPr>
          <a:xfrm>
            <a:off x="4480560" y="4005072"/>
            <a:ext cx="3227832" cy="201168"/>
          </a:xfrm>
          <a:prstGeom prst="rect">
            <a:avLst/>
          </a:prstGeom>
          <a:noFill/>
          <a:ln/>
        </p:spPr>
        <p:txBody>
          <a:bodyPr wrap="square" lIns="0" tIns="0" rIns="0" bIns="0" rtlCol="0" anchor="ctr"/>
          <a:lstStyle/>
          <a:p>
            <a:pPr marL="0" indent="0" algn="l">
              <a:buNone/>
            </a:pPr>
            <a:r>
              <a:rPr lang="en-US" sz="1150" dirty="0">
                <a:solidFill>
                  <a:schemeClr val="tx1"/>
                </a:solidFill>
              </a:rPr>
              <a:t>sales executive</a:t>
            </a:r>
            <a:endParaRPr lang="en-US" sz="1200" dirty="0"/>
          </a:p>
        </p:txBody>
      </p:sp>
      <p:sp>
        <p:nvSpPr>
          <p:cNvPr id="52" name="Shape 52"/>
          <p:cNvSpPr/>
          <p:nvPr/>
        </p:nvSpPr>
        <p:spPr>
          <a:xfrm>
            <a:off x="4480560" y="4251960"/>
            <a:ext cx="2496312" cy="155448"/>
          </a:xfrm>
          <a:prstGeom prst="roundRect">
            <a:avLst>
              <a:gd name="adj" fmla="val 50000"/>
            </a:avLst>
          </a:prstGeom>
          <a:solidFill>
            <a:schemeClr val="bg2"/>
          </a:solidFill>
          <a:ln/>
        </p:spPr>
      </p:sp>
      <p:sp>
        <p:nvSpPr>
          <p:cNvPr id="53" name="Shape 53"/>
          <p:cNvSpPr/>
          <p:nvPr/>
        </p:nvSpPr>
        <p:spPr>
          <a:xfrm>
            <a:off x="4480560" y="4251960"/>
            <a:ext cx="715863" cy="155448"/>
          </a:xfrm>
          <a:prstGeom prst="roundRect">
            <a:avLst>
              <a:gd name="adj" fmla="val 50000"/>
            </a:avLst>
          </a:prstGeom>
          <a:solidFill>
            <a:schemeClr val="accent1"/>
          </a:solidFill>
          <a:ln/>
        </p:spPr>
      </p:sp>
      <p:sp>
        <p:nvSpPr>
          <p:cNvPr id="54" name="Text 54"/>
          <p:cNvSpPr txBox="1"/>
          <p:nvPr/>
        </p:nvSpPr>
        <p:spPr>
          <a:xfrm>
            <a:off x="7050024" y="4201668"/>
            <a:ext cx="658368" cy="246888"/>
          </a:xfrm>
          <a:prstGeom prst="rect">
            <a:avLst/>
          </a:prstGeom>
          <a:noFill/>
          <a:ln/>
        </p:spPr>
        <p:txBody>
          <a:bodyPr wrap="square" lIns="0" tIns="0" rIns="0" bIns="0" rtlCol="0" anchor="ctr"/>
          <a:lstStyle/>
          <a:p>
            <a:pPr marL="0" indent="0" algn="r">
              <a:buNone/>
            </a:pPr>
            <a:r>
              <a:rPr lang="en-US" sz="1200" b="1" dirty="0">
                <a:solidFill>
                  <a:schemeClr val="tx2"/>
                </a:solidFill>
              </a:rPr>
              <a:t>583</a:t>
            </a:r>
            <a:endParaRPr lang="en-US" sz="1200" dirty="0"/>
          </a:p>
        </p:txBody>
      </p:sp>
      <p:sp>
        <p:nvSpPr>
          <p:cNvPr id="55" name="Text 55"/>
          <p:cNvSpPr txBox="1"/>
          <p:nvPr/>
        </p:nvSpPr>
        <p:spPr>
          <a:xfrm>
            <a:off x="4480560" y="4517136"/>
            <a:ext cx="3227832" cy="201168"/>
          </a:xfrm>
          <a:prstGeom prst="rect">
            <a:avLst/>
          </a:prstGeom>
          <a:noFill/>
          <a:ln/>
        </p:spPr>
        <p:txBody>
          <a:bodyPr wrap="square" lIns="0" tIns="0" rIns="0" bIns="0" rtlCol="0" anchor="ctr"/>
          <a:lstStyle/>
          <a:p>
            <a:pPr marL="0" indent="0" algn="l">
              <a:buNone/>
            </a:pPr>
            <a:r>
              <a:rPr lang="en-US" sz="1150" dirty="0">
                <a:solidFill>
                  <a:schemeClr val="tx1"/>
                </a:solidFill>
              </a:rPr>
              <a:t>software development engineer</a:t>
            </a:r>
            <a:endParaRPr lang="en-US" sz="1200" dirty="0"/>
          </a:p>
        </p:txBody>
      </p:sp>
      <p:sp>
        <p:nvSpPr>
          <p:cNvPr id="56" name="Shape 56"/>
          <p:cNvSpPr/>
          <p:nvPr/>
        </p:nvSpPr>
        <p:spPr>
          <a:xfrm>
            <a:off x="4480560" y="4764024"/>
            <a:ext cx="2496312" cy="155448"/>
          </a:xfrm>
          <a:prstGeom prst="roundRect">
            <a:avLst>
              <a:gd name="adj" fmla="val 50000"/>
            </a:avLst>
          </a:prstGeom>
          <a:solidFill>
            <a:schemeClr val="bg2"/>
          </a:solidFill>
          <a:ln/>
        </p:spPr>
      </p:sp>
      <p:sp>
        <p:nvSpPr>
          <p:cNvPr id="57" name="Shape 57"/>
          <p:cNvSpPr/>
          <p:nvPr/>
        </p:nvSpPr>
        <p:spPr>
          <a:xfrm>
            <a:off x="4480560" y="4764024"/>
            <a:ext cx="610264" cy="155448"/>
          </a:xfrm>
          <a:prstGeom prst="roundRect">
            <a:avLst>
              <a:gd name="adj" fmla="val 50000"/>
            </a:avLst>
          </a:prstGeom>
          <a:solidFill>
            <a:schemeClr val="accent1"/>
          </a:solidFill>
          <a:ln/>
        </p:spPr>
      </p:sp>
      <p:sp>
        <p:nvSpPr>
          <p:cNvPr id="58" name="Text 58"/>
          <p:cNvSpPr txBox="1"/>
          <p:nvPr/>
        </p:nvSpPr>
        <p:spPr>
          <a:xfrm>
            <a:off x="7050024" y="4713732"/>
            <a:ext cx="658368" cy="246888"/>
          </a:xfrm>
          <a:prstGeom prst="rect">
            <a:avLst/>
          </a:prstGeom>
          <a:noFill/>
          <a:ln/>
        </p:spPr>
        <p:txBody>
          <a:bodyPr wrap="square" lIns="0" tIns="0" rIns="0" bIns="0" rtlCol="0" anchor="ctr"/>
          <a:lstStyle/>
          <a:p>
            <a:pPr marL="0" indent="0" algn="r">
              <a:buNone/>
            </a:pPr>
            <a:r>
              <a:rPr lang="en-US" sz="1200" b="1" dirty="0">
                <a:solidFill>
                  <a:schemeClr val="tx2"/>
                </a:solidFill>
              </a:rPr>
              <a:t>497</a:t>
            </a:r>
            <a:endParaRPr lang="en-US" sz="1200" dirty="0"/>
          </a:p>
        </p:txBody>
      </p:sp>
      <p:sp>
        <p:nvSpPr>
          <p:cNvPr id="59" name="Shape 59"/>
          <p:cNvSpPr/>
          <p:nvPr/>
        </p:nvSpPr>
        <p:spPr>
          <a:xfrm>
            <a:off x="8046720" y="1371600"/>
            <a:ext cx="3593592" cy="3886200"/>
          </a:xfrm>
          <a:prstGeom prst="roundRect">
            <a:avLst>
              <a:gd name="adj" fmla="val 3500"/>
            </a:avLst>
          </a:prstGeom>
          <a:solidFill>
            <a:srgbClr val="FFFFFF"/>
          </a:solidFill>
          <a:ln w="12700">
            <a:solidFill>
              <a:srgbClr val="D8E0E8"/>
            </a:solidFill>
            <a:prstDash val="solid"/>
          </a:ln>
        </p:spPr>
      </p:sp>
      <p:sp>
        <p:nvSpPr>
          <p:cNvPr id="60" name="Shape 60"/>
          <p:cNvSpPr/>
          <p:nvPr/>
        </p:nvSpPr>
        <p:spPr>
          <a:xfrm>
            <a:off x="8229600" y="1536192"/>
            <a:ext cx="3227832" cy="365760"/>
          </a:xfrm>
          <a:prstGeom prst="roundRect">
            <a:avLst>
              <a:gd name="adj" fmla="val 50000"/>
            </a:avLst>
          </a:prstGeom>
          <a:solidFill>
            <a:schemeClr val="accent3"/>
          </a:solidFill>
          <a:ln/>
        </p:spPr>
      </p:sp>
      <p:sp>
        <p:nvSpPr>
          <p:cNvPr id="61" name="Text 61"/>
          <p:cNvSpPr txBox="1"/>
          <p:nvPr/>
        </p:nvSpPr>
        <p:spPr>
          <a:xfrm>
            <a:off x="8275320" y="1536192"/>
            <a:ext cx="3136392" cy="365760"/>
          </a:xfrm>
          <a:prstGeom prst="rect">
            <a:avLst/>
          </a:prstGeom>
          <a:noFill/>
          <a:ln/>
        </p:spPr>
        <p:txBody>
          <a:bodyPr wrap="square" lIns="0" tIns="0" rIns="0" bIns="0" rtlCol="0" anchor="ctr"/>
          <a:lstStyle/>
          <a:p>
            <a:pPr marL="0" indent="0" algn="ctr">
              <a:buNone/>
            </a:pPr>
            <a:r>
              <a:rPr lang="en-US" sz="1250" b="1" dirty="0">
                <a:solidFill>
                  <a:schemeClr val="tx2"/>
                </a:solidFill>
              </a:rPr>
              <a:t>Hiring locations</a:t>
            </a:r>
            <a:endParaRPr lang="en-US" sz="1200" dirty="0"/>
          </a:p>
        </p:txBody>
      </p:sp>
      <p:sp>
        <p:nvSpPr>
          <p:cNvPr id="62" name="Text 62"/>
          <p:cNvSpPr txBox="1"/>
          <p:nvPr/>
        </p:nvSpPr>
        <p:spPr>
          <a:xfrm>
            <a:off x="8229600" y="2084832"/>
            <a:ext cx="3227832" cy="201168"/>
          </a:xfrm>
          <a:prstGeom prst="rect">
            <a:avLst/>
          </a:prstGeom>
          <a:noFill/>
          <a:ln/>
        </p:spPr>
        <p:txBody>
          <a:bodyPr wrap="square" lIns="0" tIns="0" rIns="0" bIns="0" rtlCol="0" anchor="ctr"/>
          <a:lstStyle/>
          <a:p>
            <a:pPr marL="0" indent="0" algn="l">
              <a:buNone/>
            </a:pPr>
            <a:r>
              <a:rPr lang="en-US" sz="1150" dirty="0">
                <a:solidFill>
                  <a:schemeClr val="tx1"/>
                </a:solidFill>
              </a:rPr>
              <a:t>bengaluru</a:t>
            </a:r>
            <a:endParaRPr lang="en-US" sz="1200" dirty="0"/>
          </a:p>
        </p:txBody>
      </p:sp>
      <p:sp>
        <p:nvSpPr>
          <p:cNvPr id="63" name="Shape 63"/>
          <p:cNvSpPr/>
          <p:nvPr/>
        </p:nvSpPr>
        <p:spPr>
          <a:xfrm>
            <a:off x="8229600" y="2331720"/>
            <a:ext cx="2496312" cy="155448"/>
          </a:xfrm>
          <a:prstGeom prst="roundRect">
            <a:avLst>
              <a:gd name="adj" fmla="val 50000"/>
            </a:avLst>
          </a:prstGeom>
          <a:solidFill>
            <a:schemeClr val="bg2"/>
          </a:solidFill>
          <a:ln/>
        </p:spPr>
      </p:sp>
      <p:sp>
        <p:nvSpPr>
          <p:cNvPr id="64" name="Shape 64"/>
          <p:cNvSpPr/>
          <p:nvPr/>
        </p:nvSpPr>
        <p:spPr>
          <a:xfrm>
            <a:off x="8229600" y="2331720"/>
            <a:ext cx="2496312" cy="155448"/>
          </a:xfrm>
          <a:prstGeom prst="roundRect">
            <a:avLst>
              <a:gd name="adj" fmla="val 50000"/>
            </a:avLst>
          </a:prstGeom>
          <a:solidFill>
            <a:schemeClr val="accent3"/>
          </a:solidFill>
          <a:ln/>
        </p:spPr>
      </p:sp>
      <p:sp>
        <p:nvSpPr>
          <p:cNvPr id="65" name="Text 65"/>
          <p:cNvSpPr txBox="1"/>
          <p:nvPr/>
        </p:nvSpPr>
        <p:spPr>
          <a:xfrm>
            <a:off x="10799064" y="2281428"/>
            <a:ext cx="658368" cy="246888"/>
          </a:xfrm>
          <a:prstGeom prst="rect">
            <a:avLst/>
          </a:prstGeom>
          <a:noFill/>
          <a:ln/>
        </p:spPr>
        <p:txBody>
          <a:bodyPr wrap="square" lIns="0" tIns="0" rIns="0" bIns="0" rtlCol="0" anchor="ctr"/>
          <a:lstStyle/>
          <a:p>
            <a:pPr marL="0" indent="0" algn="r">
              <a:buNone/>
            </a:pPr>
            <a:r>
              <a:rPr lang="en-US" sz="1200" b="1" dirty="0">
                <a:solidFill>
                  <a:schemeClr val="tx2"/>
                </a:solidFill>
              </a:rPr>
              <a:t>18,320</a:t>
            </a:r>
            <a:endParaRPr lang="en-US" sz="1200" dirty="0"/>
          </a:p>
        </p:txBody>
      </p:sp>
      <p:sp>
        <p:nvSpPr>
          <p:cNvPr id="66" name="Text 66"/>
          <p:cNvSpPr txBox="1"/>
          <p:nvPr/>
        </p:nvSpPr>
        <p:spPr>
          <a:xfrm>
            <a:off x="8229600" y="2596896"/>
            <a:ext cx="3227832" cy="201168"/>
          </a:xfrm>
          <a:prstGeom prst="rect">
            <a:avLst/>
          </a:prstGeom>
          <a:noFill/>
          <a:ln/>
        </p:spPr>
        <p:txBody>
          <a:bodyPr wrap="square" lIns="0" tIns="0" rIns="0" bIns="0" rtlCol="0" anchor="ctr"/>
          <a:lstStyle/>
          <a:p>
            <a:pPr marL="0" indent="0" algn="l">
              <a:buNone/>
            </a:pPr>
            <a:r>
              <a:rPr lang="en-US" sz="1150" dirty="0">
                <a:solidFill>
                  <a:schemeClr val="tx1"/>
                </a:solidFill>
              </a:rPr>
              <a:t>hyderabad</a:t>
            </a:r>
            <a:endParaRPr lang="en-US" sz="1200" dirty="0"/>
          </a:p>
        </p:txBody>
      </p:sp>
      <p:sp>
        <p:nvSpPr>
          <p:cNvPr id="67" name="Shape 67"/>
          <p:cNvSpPr/>
          <p:nvPr/>
        </p:nvSpPr>
        <p:spPr>
          <a:xfrm>
            <a:off x="8229600" y="2843784"/>
            <a:ext cx="2496312" cy="155448"/>
          </a:xfrm>
          <a:prstGeom prst="roundRect">
            <a:avLst>
              <a:gd name="adj" fmla="val 50000"/>
            </a:avLst>
          </a:prstGeom>
          <a:solidFill>
            <a:schemeClr val="bg2"/>
          </a:solidFill>
          <a:ln/>
        </p:spPr>
      </p:sp>
      <p:sp>
        <p:nvSpPr>
          <p:cNvPr id="68" name="Shape 68"/>
          <p:cNvSpPr/>
          <p:nvPr/>
        </p:nvSpPr>
        <p:spPr>
          <a:xfrm>
            <a:off x="8229600" y="2843784"/>
            <a:ext cx="1485115" cy="155448"/>
          </a:xfrm>
          <a:prstGeom prst="roundRect">
            <a:avLst>
              <a:gd name="adj" fmla="val 50000"/>
            </a:avLst>
          </a:prstGeom>
          <a:solidFill>
            <a:schemeClr val="accent3"/>
          </a:solidFill>
          <a:ln/>
        </p:spPr>
      </p:sp>
      <p:sp>
        <p:nvSpPr>
          <p:cNvPr id="69" name="Text 69"/>
          <p:cNvSpPr txBox="1"/>
          <p:nvPr/>
        </p:nvSpPr>
        <p:spPr>
          <a:xfrm>
            <a:off x="10799064" y="2793492"/>
            <a:ext cx="658368" cy="246888"/>
          </a:xfrm>
          <a:prstGeom prst="rect">
            <a:avLst/>
          </a:prstGeom>
          <a:noFill/>
          <a:ln/>
        </p:spPr>
        <p:txBody>
          <a:bodyPr wrap="square" lIns="0" tIns="0" rIns="0" bIns="0" rtlCol="0" anchor="ctr"/>
          <a:lstStyle/>
          <a:p>
            <a:pPr marL="0" indent="0" algn="r">
              <a:buNone/>
            </a:pPr>
            <a:r>
              <a:rPr lang="en-US" sz="1200" b="1" dirty="0">
                <a:solidFill>
                  <a:schemeClr val="tx2"/>
                </a:solidFill>
              </a:rPr>
              <a:t>10,899</a:t>
            </a:r>
            <a:endParaRPr lang="en-US" sz="1200" dirty="0"/>
          </a:p>
        </p:txBody>
      </p:sp>
      <p:sp>
        <p:nvSpPr>
          <p:cNvPr id="70" name="Text 70"/>
          <p:cNvSpPr txBox="1"/>
          <p:nvPr/>
        </p:nvSpPr>
        <p:spPr>
          <a:xfrm>
            <a:off x="8229600" y="3108960"/>
            <a:ext cx="3227832" cy="201168"/>
          </a:xfrm>
          <a:prstGeom prst="rect">
            <a:avLst/>
          </a:prstGeom>
          <a:noFill/>
          <a:ln/>
        </p:spPr>
        <p:txBody>
          <a:bodyPr wrap="square" lIns="0" tIns="0" rIns="0" bIns="0" rtlCol="0" anchor="ctr"/>
          <a:lstStyle/>
          <a:p>
            <a:pPr marL="0" indent="0" algn="l">
              <a:buNone/>
            </a:pPr>
            <a:r>
              <a:rPr lang="en-US" sz="1150" dirty="0">
                <a:solidFill>
                  <a:schemeClr val="tx1"/>
                </a:solidFill>
              </a:rPr>
              <a:t>pune</a:t>
            </a:r>
            <a:endParaRPr lang="en-US" sz="1200" dirty="0"/>
          </a:p>
        </p:txBody>
      </p:sp>
      <p:sp>
        <p:nvSpPr>
          <p:cNvPr id="71" name="Shape 71"/>
          <p:cNvSpPr/>
          <p:nvPr/>
        </p:nvSpPr>
        <p:spPr>
          <a:xfrm>
            <a:off x="8229600" y="3355848"/>
            <a:ext cx="2496312" cy="155448"/>
          </a:xfrm>
          <a:prstGeom prst="roundRect">
            <a:avLst>
              <a:gd name="adj" fmla="val 50000"/>
            </a:avLst>
          </a:prstGeom>
          <a:solidFill>
            <a:schemeClr val="bg2"/>
          </a:solidFill>
          <a:ln/>
        </p:spPr>
      </p:sp>
      <p:sp>
        <p:nvSpPr>
          <p:cNvPr id="72" name="Shape 72"/>
          <p:cNvSpPr/>
          <p:nvPr/>
        </p:nvSpPr>
        <p:spPr>
          <a:xfrm>
            <a:off x="8229600" y="3355848"/>
            <a:ext cx="1145279" cy="155448"/>
          </a:xfrm>
          <a:prstGeom prst="roundRect">
            <a:avLst>
              <a:gd name="adj" fmla="val 50000"/>
            </a:avLst>
          </a:prstGeom>
          <a:solidFill>
            <a:schemeClr val="accent3"/>
          </a:solidFill>
          <a:ln/>
        </p:spPr>
      </p:sp>
      <p:sp>
        <p:nvSpPr>
          <p:cNvPr id="73" name="Text 73"/>
          <p:cNvSpPr txBox="1"/>
          <p:nvPr/>
        </p:nvSpPr>
        <p:spPr>
          <a:xfrm>
            <a:off x="10799064" y="3305556"/>
            <a:ext cx="658368" cy="246888"/>
          </a:xfrm>
          <a:prstGeom prst="rect">
            <a:avLst/>
          </a:prstGeom>
          <a:noFill/>
          <a:ln/>
        </p:spPr>
        <p:txBody>
          <a:bodyPr wrap="square" lIns="0" tIns="0" rIns="0" bIns="0" rtlCol="0" anchor="ctr"/>
          <a:lstStyle/>
          <a:p>
            <a:pPr marL="0" indent="0" algn="r">
              <a:buNone/>
            </a:pPr>
            <a:r>
              <a:rPr lang="en-US" sz="1200" b="1" dirty="0">
                <a:solidFill>
                  <a:schemeClr val="tx2"/>
                </a:solidFill>
              </a:rPr>
              <a:t>8,405</a:t>
            </a:r>
            <a:endParaRPr lang="en-US" sz="1200" dirty="0"/>
          </a:p>
        </p:txBody>
      </p:sp>
      <p:sp>
        <p:nvSpPr>
          <p:cNvPr id="74" name="Text 74"/>
          <p:cNvSpPr txBox="1"/>
          <p:nvPr/>
        </p:nvSpPr>
        <p:spPr>
          <a:xfrm>
            <a:off x="8229600" y="3621024"/>
            <a:ext cx="3227832" cy="201168"/>
          </a:xfrm>
          <a:prstGeom prst="rect">
            <a:avLst/>
          </a:prstGeom>
          <a:noFill/>
          <a:ln/>
        </p:spPr>
        <p:txBody>
          <a:bodyPr wrap="square" lIns="0" tIns="0" rIns="0" bIns="0" rtlCol="0" anchor="ctr"/>
          <a:lstStyle/>
          <a:p>
            <a:pPr marL="0" indent="0" algn="l">
              <a:buNone/>
            </a:pPr>
            <a:r>
              <a:rPr lang="en-US" sz="1150" dirty="0">
                <a:solidFill>
                  <a:schemeClr val="tx1"/>
                </a:solidFill>
              </a:rPr>
              <a:t>mumbai</a:t>
            </a:r>
            <a:endParaRPr lang="en-US" sz="1200" dirty="0"/>
          </a:p>
        </p:txBody>
      </p:sp>
      <p:sp>
        <p:nvSpPr>
          <p:cNvPr id="75" name="Shape 75"/>
          <p:cNvSpPr/>
          <p:nvPr/>
        </p:nvSpPr>
        <p:spPr>
          <a:xfrm>
            <a:off x="8229600" y="3867912"/>
            <a:ext cx="2496312" cy="155448"/>
          </a:xfrm>
          <a:prstGeom prst="roundRect">
            <a:avLst>
              <a:gd name="adj" fmla="val 50000"/>
            </a:avLst>
          </a:prstGeom>
          <a:solidFill>
            <a:schemeClr val="bg2"/>
          </a:solidFill>
          <a:ln/>
        </p:spPr>
      </p:sp>
      <p:sp>
        <p:nvSpPr>
          <p:cNvPr id="76" name="Shape 76"/>
          <p:cNvSpPr/>
          <p:nvPr/>
        </p:nvSpPr>
        <p:spPr>
          <a:xfrm>
            <a:off x="8229600" y="3867912"/>
            <a:ext cx="882702" cy="155448"/>
          </a:xfrm>
          <a:prstGeom prst="roundRect">
            <a:avLst>
              <a:gd name="adj" fmla="val 50000"/>
            </a:avLst>
          </a:prstGeom>
          <a:solidFill>
            <a:schemeClr val="accent3"/>
          </a:solidFill>
          <a:ln/>
        </p:spPr>
      </p:sp>
      <p:sp>
        <p:nvSpPr>
          <p:cNvPr id="77" name="Text 77"/>
          <p:cNvSpPr txBox="1"/>
          <p:nvPr/>
        </p:nvSpPr>
        <p:spPr>
          <a:xfrm>
            <a:off x="10799064" y="3817620"/>
            <a:ext cx="658368" cy="246888"/>
          </a:xfrm>
          <a:prstGeom prst="rect">
            <a:avLst/>
          </a:prstGeom>
          <a:noFill/>
          <a:ln/>
        </p:spPr>
        <p:txBody>
          <a:bodyPr wrap="square" lIns="0" tIns="0" rIns="0" bIns="0" rtlCol="0" anchor="ctr"/>
          <a:lstStyle/>
          <a:p>
            <a:pPr marL="0" indent="0" algn="r">
              <a:buNone/>
            </a:pPr>
            <a:r>
              <a:rPr lang="en-US" sz="1200" b="1" dirty="0">
                <a:solidFill>
                  <a:schemeClr val="tx2"/>
                </a:solidFill>
              </a:rPr>
              <a:t>6,478</a:t>
            </a:r>
            <a:endParaRPr lang="en-US" sz="1200" dirty="0"/>
          </a:p>
        </p:txBody>
      </p:sp>
      <p:sp>
        <p:nvSpPr>
          <p:cNvPr id="78" name="Text 78"/>
          <p:cNvSpPr txBox="1"/>
          <p:nvPr/>
        </p:nvSpPr>
        <p:spPr>
          <a:xfrm>
            <a:off x="8229600" y="4133088"/>
            <a:ext cx="3227832" cy="201168"/>
          </a:xfrm>
          <a:prstGeom prst="rect">
            <a:avLst/>
          </a:prstGeom>
          <a:noFill/>
          <a:ln/>
        </p:spPr>
        <p:txBody>
          <a:bodyPr wrap="square" lIns="0" tIns="0" rIns="0" bIns="0" rtlCol="0" anchor="ctr"/>
          <a:lstStyle/>
          <a:p>
            <a:pPr marL="0" indent="0" algn="l">
              <a:buNone/>
            </a:pPr>
            <a:r>
              <a:rPr lang="en-US" sz="1150" dirty="0">
                <a:solidFill>
                  <a:schemeClr val="tx1"/>
                </a:solidFill>
              </a:rPr>
              <a:t>chennai</a:t>
            </a:r>
            <a:endParaRPr lang="en-US" sz="1200" dirty="0"/>
          </a:p>
        </p:txBody>
      </p:sp>
      <p:sp>
        <p:nvSpPr>
          <p:cNvPr id="79" name="Shape 79"/>
          <p:cNvSpPr/>
          <p:nvPr/>
        </p:nvSpPr>
        <p:spPr>
          <a:xfrm>
            <a:off x="8229600" y="4379976"/>
            <a:ext cx="2496312" cy="155448"/>
          </a:xfrm>
          <a:prstGeom prst="roundRect">
            <a:avLst>
              <a:gd name="adj" fmla="val 50000"/>
            </a:avLst>
          </a:prstGeom>
          <a:solidFill>
            <a:schemeClr val="bg2"/>
          </a:solidFill>
          <a:ln/>
        </p:spPr>
      </p:sp>
      <p:sp>
        <p:nvSpPr>
          <p:cNvPr id="80" name="Shape 80"/>
          <p:cNvSpPr/>
          <p:nvPr/>
        </p:nvSpPr>
        <p:spPr>
          <a:xfrm>
            <a:off x="8229600" y="4379976"/>
            <a:ext cx="831059" cy="155448"/>
          </a:xfrm>
          <a:prstGeom prst="roundRect">
            <a:avLst>
              <a:gd name="adj" fmla="val 50000"/>
            </a:avLst>
          </a:prstGeom>
          <a:solidFill>
            <a:schemeClr val="accent3"/>
          </a:solidFill>
          <a:ln/>
        </p:spPr>
      </p:sp>
      <p:sp>
        <p:nvSpPr>
          <p:cNvPr id="81" name="Text 81"/>
          <p:cNvSpPr txBox="1"/>
          <p:nvPr/>
        </p:nvSpPr>
        <p:spPr>
          <a:xfrm>
            <a:off x="10799064" y="4329684"/>
            <a:ext cx="658368" cy="246888"/>
          </a:xfrm>
          <a:prstGeom prst="rect">
            <a:avLst/>
          </a:prstGeom>
          <a:noFill/>
          <a:ln/>
        </p:spPr>
        <p:txBody>
          <a:bodyPr wrap="square" lIns="0" tIns="0" rIns="0" bIns="0" rtlCol="0" anchor="ctr"/>
          <a:lstStyle/>
          <a:p>
            <a:pPr marL="0" indent="0" algn="r">
              <a:buNone/>
            </a:pPr>
            <a:r>
              <a:rPr lang="en-US" sz="1200" b="1" dirty="0">
                <a:solidFill>
                  <a:schemeClr val="tx2"/>
                </a:solidFill>
              </a:rPr>
              <a:t>6,099</a:t>
            </a:r>
            <a:endParaRPr lang="en-US" sz="1200" dirty="0"/>
          </a:p>
        </p:txBody>
      </p:sp>
      <p:sp>
        <p:nvSpPr>
          <p:cNvPr id="82" name="Text 82"/>
          <p:cNvSpPr txBox="1"/>
          <p:nvPr/>
        </p:nvSpPr>
        <p:spPr>
          <a:xfrm>
            <a:off x="8229600" y="4645152"/>
            <a:ext cx="3227832" cy="201168"/>
          </a:xfrm>
          <a:prstGeom prst="rect">
            <a:avLst/>
          </a:prstGeom>
          <a:noFill/>
          <a:ln/>
        </p:spPr>
        <p:txBody>
          <a:bodyPr wrap="square" lIns="0" tIns="0" rIns="0" bIns="0" rtlCol="0" anchor="ctr"/>
          <a:lstStyle/>
          <a:p>
            <a:pPr marL="0" indent="0" algn="l">
              <a:buNone/>
            </a:pPr>
            <a:r>
              <a:rPr lang="en-US" sz="1150" dirty="0">
                <a:solidFill>
                  <a:schemeClr val="tx1"/>
                </a:solidFill>
              </a:rPr>
              <a:t>gurugram</a:t>
            </a:r>
            <a:endParaRPr lang="en-US" sz="1200" dirty="0"/>
          </a:p>
        </p:txBody>
      </p:sp>
      <p:sp>
        <p:nvSpPr>
          <p:cNvPr id="83" name="Shape 83"/>
          <p:cNvSpPr/>
          <p:nvPr/>
        </p:nvSpPr>
        <p:spPr>
          <a:xfrm>
            <a:off x="8229600" y="4892040"/>
            <a:ext cx="2496312" cy="155448"/>
          </a:xfrm>
          <a:prstGeom prst="roundRect">
            <a:avLst>
              <a:gd name="adj" fmla="val 50000"/>
            </a:avLst>
          </a:prstGeom>
          <a:solidFill>
            <a:schemeClr val="bg2"/>
          </a:solidFill>
          <a:ln/>
        </p:spPr>
      </p:sp>
      <p:sp>
        <p:nvSpPr>
          <p:cNvPr id="84" name="Shape 84"/>
          <p:cNvSpPr/>
          <p:nvPr/>
        </p:nvSpPr>
        <p:spPr>
          <a:xfrm>
            <a:off x="8229600" y="4892040"/>
            <a:ext cx="681580" cy="155448"/>
          </a:xfrm>
          <a:prstGeom prst="roundRect">
            <a:avLst>
              <a:gd name="adj" fmla="val 50000"/>
            </a:avLst>
          </a:prstGeom>
          <a:solidFill>
            <a:schemeClr val="accent3"/>
          </a:solidFill>
          <a:ln/>
        </p:spPr>
      </p:sp>
      <p:sp>
        <p:nvSpPr>
          <p:cNvPr id="85" name="Text 85"/>
          <p:cNvSpPr txBox="1"/>
          <p:nvPr/>
        </p:nvSpPr>
        <p:spPr>
          <a:xfrm>
            <a:off x="10799064" y="4841748"/>
            <a:ext cx="658368" cy="246888"/>
          </a:xfrm>
          <a:prstGeom prst="rect">
            <a:avLst/>
          </a:prstGeom>
          <a:noFill/>
          <a:ln/>
        </p:spPr>
        <p:txBody>
          <a:bodyPr wrap="square" lIns="0" tIns="0" rIns="0" bIns="0" rtlCol="0" anchor="ctr"/>
          <a:lstStyle/>
          <a:p>
            <a:pPr marL="0" indent="0" algn="r">
              <a:buNone/>
            </a:pPr>
            <a:r>
              <a:rPr lang="en-US" sz="1200" b="1" dirty="0">
                <a:solidFill>
                  <a:schemeClr val="tx2"/>
                </a:solidFill>
              </a:rPr>
              <a:t>5,002</a:t>
            </a:r>
            <a:endParaRPr lang="en-US" sz="1200" dirty="0"/>
          </a:p>
        </p:txBody>
      </p:sp>
      <p:sp>
        <p:nvSpPr>
          <p:cNvPr id="86" name="Shape 86"/>
          <p:cNvSpPr/>
          <p:nvPr/>
        </p:nvSpPr>
        <p:spPr>
          <a:xfrm>
            <a:off x="548640" y="5440680"/>
            <a:ext cx="11091672" cy="566928"/>
          </a:xfrm>
          <a:prstGeom prst="roundRect">
            <a:avLst>
              <a:gd name="adj" fmla="val 14000"/>
            </a:avLst>
          </a:prstGeom>
          <a:solidFill>
            <a:schemeClr val="tx2"/>
          </a:solidFill>
          <a:ln/>
        </p:spPr>
      </p:sp>
      <p:sp>
        <p:nvSpPr>
          <p:cNvPr id="87" name="Text 87"/>
          <p:cNvSpPr txBox="1"/>
          <p:nvPr/>
        </p:nvSpPr>
        <p:spPr>
          <a:xfrm>
            <a:off x="731520" y="5440680"/>
            <a:ext cx="10725912" cy="566928"/>
          </a:xfrm>
          <a:prstGeom prst="rect">
            <a:avLst/>
          </a:prstGeom>
          <a:noFill/>
          <a:ln/>
        </p:spPr>
        <p:txBody>
          <a:bodyPr wrap="square" lIns="0" tIns="0" rIns="0" bIns="0" rtlCol="0" anchor="ctr"/>
          <a:lstStyle/>
          <a:p>
            <a:pPr marL="0" indent="0" algn="l">
              <a:buNone/>
            </a:pPr>
            <a:r>
              <a:rPr lang="en-US" sz="1250" b="1" dirty="0">
                <a:solidFill>
                  <a:srgbClr val="F2C46D"/>
                </a:solidFill>
              </a:rPr>
              <a:t>How to read this  </a:t>
            </a:r>
            <a:r>
              <a:rPr lang="en-US" sz="1250" dirty="0">
                <a:solidFill>
                  <a:srgbClr val="FFFFFF"/>
                </a:solidFill>
              </a:rPr>
              <a:t>Bengaluru has about 1.7 times Hyderabad’s postings; the top three cities hold 37,624. Values describe this dataset, not the whole Indian job market.</a:t>
            </a:r>
            <a:endParaRPr lang="en-US" sz="1200" dirty="0"/>
          </a:p>
        </p:txBody>
      </p:sp>
      <p:sp>
        <p:nvSpPr>
          <p:cNvPr id="990" name="Slide Number Placeholder 0"/>
          <p:cNvSpPr>
            <a:spLocks noGrp="1"/>
          </p:cNvSpPr>
          <p:nvPr>
            <p:ph type="sldNum" sz="quarter" idx="4294967295"/>
          </p:nvPr>
        </p:nvSpPr>
        <p:spPr>
          <a:xfrm>
            <a:off x="10972800" y="6446520"/>
            <a:ext cx="640080" cy="256032"/>
          </a:xfrm>
          <a:prstGeom prst="rect">
            <a:avLst/>
          </a:prstGeom>
        </p:spPr>
        <p:txBody>
          <a:bodyPr/>
          <a:lstStyle>
            <a:lvl1pPr>
              <a:defRPr sz="1000">
                <a:solidFill>
                  <a:schemeClr val="accent4"/>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TASK 3: SALARY</a:t>
            </a:r>
            <a:endParaRPr lang="en-US" sz="1200" dirty="0"/>
          </a:p>
        </p:txBody>
      </p:sp>
      <p:sp>
        <p:nvSpPr>
          <p:cNvPr id="3" name="Text 0"/>
          <p:cNvSpPr>
            <a:spLocks noGrp="1"/>
          </p:cNvSpPr>
          <p:nvPr>
            <p:ph type="title" idx="100" hasCustomPrompt="1"/>
          </p:nvPr>
        </p:nvSpPr>
        <p:spPr>
          <a:xfrm>
            <a:off x="548640" y="566928"/>
            <a:ext cx="9418320" cy="685800"/>
          </a:xfrm>
          <a:prstGeom prst="rect">
            <a:avLst/>
          </a:prstGeom>
          <a:noFill/>
          <a:ln/>
        </p:spPr>
        <p:txBody>
          <a:bodyPr wrap="square" lIns="0" tIns="0" rIns="0" bIns="0" rtlCol="0" anchor="ctr"/>
          <a:lstStyle/>
          <a:p>
            <a:pPr marL="0" indent="0" algn="l">
              <a:buNone/>
            </a:pPr>
            <a:r>
              <a:rPr lang="en-US" sz="3200" b="1" dirty="0">
                <a:solidFill>
                  <a:schemeClr val="tx2"/>
                </a:solidFill>
              </a:rPr>
              <a:t>Salary Benchmarks by Role</a:t>
            </a:r>
            <a:endParaRPr lang="en-US" sz="3200" dirty="0"/>
          </a:p>
        </p:txBody>
      </p:sp>
      <p:sp>
        <p:nvSpPr>
          <p:cNvPr id="11" name="Text 11"/>
          <p:cNvSpPr txBox="1"/>
          <p:nvPr/>
        </p:nvSpPr>
        <p:spPr>
          <a:xfrm>
            <a:off x="548640" y="1325880"/>
            <a:ext cx="6400800" cy="228600"/>
          </a:xfrm>
          <a:prstGeom prst="rect">
            <a:avLst/>
          </a:prstGeom>
          <a:noFill/>
          <a:ln/>
        </p:spPr>
        <p:txBody>
          <a:bodyPr wrap="square" lIns="0" tIns="0" rIns="0" bIns="0" rtlCol="0" anchor="t"/>
          <a:lstStyle/>
          <a:p>
            <a:pPr marL="0" indent="0" algn="l">
              <a:buNone/>
            </a:pPr>
            <a:r>
              <a:rPr lang="en-US" sz="1200" b="1" dirty="0">
                <a:solidFill>
                  <a:schemeClr val="accent4"/>
                </a:solidFill>
              </a:rPr>
              <a:t>Top roles by average salary, INR: mean and median (minimum 5 postings per role)</a:t>
            </a:r>
            <a:endParaRPr lang="en-US" sz="1200" dirty="0"/>
          </a:p>
        </p:txBody>
      </p:sp>
      <p:graphicFrame>
        <p:nvGraphicFramePr>
          <p:cNvPr id="12" name="Table 12"/>
          <p:cNvGraphicFramePr>
            <a:graphicFrameLocks noGrp="1"/>
          </p:cNvGraphicFramePr>
          <p:nvPr>
            <p:extLst>
              <p:ext uri="{D42A27DB-BD31-4B8C-83A1-F6EECF244321}">
                <p14:modId xmlns:p14="http://schemas.microsoft.com/office/powerpoint/2010/main" val="3748029288"/>
              </p:ext>
            </p:extLst>
          </p:nvPr>
        </p:nvGraphicFramePr>
        <p:xfrm>
          <a:off x="548640" y="1645920"/>
          <a:ext cx="6537961" cy="3017517"/>
        </p:xfrm>
        <a:graphic>
          <a:graphicData uri="http://schemas.openxmlformats.org/drawingml/2006/table">
            <a:tbl>
              <a:tblPr/>
              <a:tblGrid>
                <a:gridCol w="2304748">
                  <a:extLst>
                    <a:ext uri="{9D8B030D-6E8A-4147-A177-3AD203B41FA5}">
                      <a16:colId xmlns:a16="http://schemas.microsoft.com/office/drawing/2014/main" val="20000"/>
                    </a:ext>
                  </a:extLst>
                </a:gridCol>
                <a:gridCol w="517393">
                  <a:extLst>
                    <a:ext uri="{9D8B030D-6E8A-4147-A177-3AD203B41FA5}">
                      <a16:colId xmlns:a16="http://schemas.microsoft.com/office/drawing/2014/main" val="20001"/>
                    </a:ext>
                  </a:extLst>
                </a:gridCol>
                <a:gridCol w="1034785">
                  <a:extLst>
                    <a:ext uri="{9D8B030D-6E8A-4147-A177-3AD203B41FA5}">
                      <a16:colId xmlns:a16="http://schemas.microsoft.com/office/drawing/2014/main" val="20002"/>
                    </a:ext>
                  </a:extLst>
                </a:gridCol>
                <a:gridCol w="940714">
                  <a:extLst>
                    <a:ext uri="{9D8B030D-6E8A-4147-A177-3AD203B41FA5}">
                      <a16:colId xmlns:a16="http://schemas.microsoft.com/office/drawing/2014/main" val="20003"/>
                    </a:ext>
                  </a:extLst>
                </a:gridCol>
                <a:gridCol w="877360">
                  <a:extLst>
                    <a:ext uri="{9D8B030D-6E8A-4147-A177-3AD203B41FA5}">
                      <a16:colId xmlns:a16="http://schemas.microsoft.com/office/drawing/2014/main" val="20004"/>
                    </a:ext>
                  </a:extLst>
                </a:gridCol>
                <a:gridCol w="862961">
                  <a:extLst>
                    <a:ext uri="{9D8B030D-6E8A-4147-A177-3AD203B41FA5}">
                      <a16:colId xmlns:a16="http://schemas.microsoft.com/office/drawing/2014/main" val="20005"/>
                    </a:ext>
                  </a:extLst>
                </a:gridCol>
              </a:tblGrid>
              <a:tr h="345379">
                <a:tc>
                  <a:txBody>
                    <a:bodyPr/>
                    <a:lstStyle/>
                    <a:p>
                      <a:pPr marL="0" indent="0" algn="l">
                        <a:buNone/>
                      </a:pPr>
                      <a:r>
                        <a:rPr lang="en-US" sz="1200" b="1" dirty="0">
                          <a:solidFill>
                            <a:srgbClr val="FFFFFF"/>
                          </a:solidFill>
                        </a:rPr>
                        <a:t>Job title</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B1F3A"/>
                    </a:solidFill>
                  </a:tcPr>
                </a:tc>
                <a:tc>
                  <a:txBody>
                    <a:bodyPr/>
                    <a:lstStyle/>
                    <a:p>
                      <a:pPr marL="0" indent="0" algn="r">
                        <a:buNone/>
                      </a:pPr>
                      <a:r>
                        <a:rPr lang="en-US" sz="1200" b="1" dirty="0">
                          <a:solidFill>
                            <a:srgbClr val="FFFFFF"/>
                          </a:solidFill>
                        </a:rPr>
                        <a:t>Jobs</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B1F3A"/>
                    </a:solidFill>
                  </a:tcPr>
                </a:tc>
                <a:tc>
                  <a:txBody>
                    <a:bodyPr/>
                    <a:lstStyle/>
                    <a:p>
                      <a:pPr marL="0" indent="0" algn="r">
                        <a:buNone/>
                      </a:pPr>
                      <a:r>
                        <a:rPr lang="en-US" sz="1200" b="1" dirty="0">
                          <a:solidFill>
                            <a:srgbClr val="FFFFFF"/>
                          </a:solidFill>
                        </a:rPr>
                        <a:t>Avg salary</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B1F3A"/>
                    </a:solidFill>
                  </a:tcPr>
                </a:tc>
                <a:tc>
                  <a:txBody>
                    <a:bodyPr/>
                    <a:lstStyle/>
                    <a:p>
                      <a:pPr marL="0" indent="0" algn="r">
                        <a:buNone/>
                      </a:pPr>
                      <a:r>
                        <a:rPr lang="en-US" sz="1200" b="1" dirty="0">
                          <a:solidFill>
                            <a:srgbClr val="FFFFFF"/>
                          </a:solidFill>
                        </a:rPr>
                        <a:t>Median</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B1F3A"/>
                    </a:solidFill>
                  </a:tcPr>
                </a:tc>
                <a:tc>
                  <a:txBody>
                    <a:bodyPr/>
                    <a:lstStyle/>
                    <a:p>
                      <a:pPr marL="0" indent="0" algn="r">
                        <a:buNone/>
                      </a:pPr>
                      <a:r>
                        <a:rPr lang="en-US" sz="1200" b="1" dirty="0">
                          <a:solidFill>
                            <a:srgbClr val="FFFFFF"/>
                          </a:solidFill>
                        </a:rPr>
                        <a:t>Min</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B1F3A"/>
                    </a:solidFill>
                  </a:tcPr>
                </a:tc>
                <a:tc>
                  <a:txBody>
                    <a:bodyPr/>
                    <a:lstStyle/>
                    <a:p>
                      <a:pPr marL="0" indent="0" algn="r">
                        <a:buNone/>
                      </a:pPr>
                      <a:r>
                        <a:rPr lang="en-US" sz="1200" b="1" dirty="0">
                          <a:solidFill>
                            <a:srgbClr val="FFFFFF"/>
                          </a:solidFill>
                        </a:rPr>
                        <a:t>Max</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381734">
                <a:tc>
                  <a:txBody>
                    <a:bodyPr/>
                    <a:lstStyle/>
                    <a:p>
                      <a:pPr marL="0" indent="0" algn="l">
                        <a:buNone/>
                      </a:pPr>
                      <a:r>
                        <a:rPr lang="en-US" sz="1100" b="1" dirty="0">
                          <a:solidFill>
                            <a:schemeClr val="tx2"/>
                          </a:solidFill>
                        </a:rPr>
                        <a:t>deputy manager</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lgn="r">
                        <a:buNone/>
                      </a:pPr>
                      <a:r>
                        <a:rPr lang="en-US" sz="1150" dirty="0">
                          <a:solidFill>
                            <a:schemeClr val="tx1"/>
                          </a:solidFill>
                        </a:rPr>
                        <a:t>9</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lgn="r">
                        <a:buNone/>
                      </a:pPr>
                      <a:r>
                        <a:rPr lang="en-US" sz="1150" b="1" dirty="0">
                          <a:solidFill>
                            <a:schemeClr val="tx1"/>
                          </a:solidFill>
                        </a:rPr>
                        <a:t>9,749,778</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lgn="r">
                        <a:buNone/>
                      </a:pPr>
                      <a:r>
                        <a:rPr lang="en-US" sz="1150" b="1" dirty="0">
                          <a:solidFill>
                            <a:srgbClr val="0E7C86"/>
                          </a:solidFill>
                        </a:rPr>
                        <a:t>700,000</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lgn="r">
                        <a:buNone/>
                      </a:pPr>
                      <a:r>
                        <a:rPr lang="en-US" sz="1150" dirty="0">
                          <a:solidFill>
                            <a:schemeClr val="tx1"/>
                          </a:solidFill>
                        </a:rPr>
                        <a:t>85,000</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lgn="r">
                        <a:buNone/>
                      </a:pPr>
                      <a:r>
                        <a:rPr lang="en-US" sz="1150" dirty="0">
                          <a:solidFill>
                            <a:schemeClr val="tx1"/>
                          </a:solidFill>
                        </a:rPr>
                        <a:t>82,500,000</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1734">
                <a:tc>
                  <a:txBody>
                    <a:bodyPr/>
                    <a:lstStyle/>
                    <a:p>
                      <a:pPr marL="0" indent="0" algn="l">
                        <a:buNone/>
                      </a:pPr>
                      <a:r>
                        <a:rPr lang="en-US" sz="1100" b="1" dirty="0">
                          <a:solidFill>
                            <a:schemeClr val="tx2"/>
                          </a:solidFill>
                        </a:rPr>
                        <a:t>medical oncologist consultant</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lgn="r">
                        <a:buNone/>
                      </a:pPr>
                      <a:r>
                        <a:rPr lang="en-US" sz="1150" dirty="0">
                          <a:solidFill>
                            <a:schemeClr val="tx1"/>
                          </a:solidFill>
                        </a:rPr>
                        <a:t>5</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lgn="r">
                        <a:buNone/>
                      </a:pPr>
                      <a:r>
                        <a:rPr lang="en-US" sz="1150" b="1" dirty="0">
                          <a:solidFill>
                            <a:schemeClr val="tx1"/>
                          </a:solidFill>
                        </a:rPr>
                        <a:t>7,850,000</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lgn="r">
                        <a:buNone/>
                      </a:pPr>
                      <a:r>
                        <a:rPr lang="en-US" sz="1150" b="1" dirty="0">
                          <a:solidFill>
                            <a:srgbClr val="0E7C86"/>
                          </a:solidFill>
                        </a:rPr>
                        <a:t>6,625,000</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lgn="r">
                        <a:buNone/>
                      </a:pPr>
                      <a:r>
                        <a:rPr lang="en-US" sz="1150" dirty="0">
                          <a:solidFill>
                            <a:schemeClr val="tx1"/>
                          </a:solidFill>
                        </a:rPr>
                        <a:t>4,500,000</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lgn="r">
                        <a:buNone/>
                      </a:pPr>
                      <a:r>
                        <a:rPr lang="en-US" sz="1150" dirty="0">
                          <a:solidFill>
                            <a:schemeClr val="tx1"/>
                          </a:solidFill>
                        </a:rPr>
                        <a:t>10,750,000</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381734">
                <a:tc>
                  <a:txBody>
                    <a:bodyPr/>
                    <a:lstStyle/>
                    <a:p>
                      <a:pPr marL="0" indent="0" algn="l">
                        <a:buNone/>
                      </a:pPr>
                      <a:r>
                        <a:rPr lang="en-US" sz="1100" b="1" dirty="0">
                          <a:solidFill>
                            <a:schemeClr val="tx2"/>
                          </a:solidFill>
                        </a:rPr>
                        <a:t>radiologist consultant</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lgn="r">
                        <a:buNone/>
                      </a:pPr>
                      <a:r>
                        <a:rPr lang="en-US" sz="1150" dirty="0">
                          <a:solidFill>
                            <a:schemeClr val="tx1"/>
                          </a:solidFill>
                        </a:rPr>
                        <a:t>6</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lgn="r">
                        <a:buNone/>
                      </a:pPr>
                      <a:r>
                        <a:rPr lang="en-US" sz="1150" b="1" dirty="0">
                          <a:solidFill>
                            <a:schemeClr val="tx1"/>
                          </a:solidFill>
                        </a:rPr>
                        <a:t>5,291,667</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lgn="r">
                        <a:buNone/>
                      </a:pPr>
                      <a:r>
                        <a:rPr lang="en-US" sz="1150" b="1" dirty="0">
                          <a:solidFill>
                            <a:srgbClr val="0E7C86"/>
                          </a:solidFill>
                        </a:rPr>
                        <a:t>5,312,500</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lgn="r">
                        <a:buNone/>
                      </a:pPr>
                      <a:r>
                        <a:rPr lang="en-US" sz="1150" dirty="0">
                          <a:solidFill>
                            <a:schemeClr val="tx1"/>
                          </a:solidFill>
                        </a:rPr>
                        <a:t>4,500,000</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lgn="r">
                        <a:buNone/>
                      </a:pPr>
                      <a:r>
                        <a:rPr lang="en-US" sz="1150" dirty="0">
                          <a:solidFill>
                            <a:schemeClr val="tx1"/>
                          </a:solidFill>
                        </a:rPr>
                        <a:t>5,500,000</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1734">
                <a:tc>
                  <a:txBody>
                    <a:bodyPr/>
                    <a:lstStyle/>
                    <a:p>
                      <a:pPr marL="0" indent="0" algn="l">
                        <a:buNone/>
                      </a:pPr>
                      <a:r>
                        <a:rPr lang="en-US" sz="1100" b="1" dirty="0">
                          <a:solidFill>
                            <a:schemeClr val="tx2"/>
                          </a:solidFill>
                        </a:rPr>
                        <a:t>lead data engineer</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lgn="r">
                        <a:buNone/>
                      </a:pPr>
                      <a:r>
                        <a:rPr lang="en-US" sz="1150" dirty="0">
                          <a:solidFill>
                            <a:schemeClr val="tx1"/>
                          </a:solidFill>
                        </a:rPr>
                        <a:t>5</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lgn="r">
                        <a:buNone/>
                      </a:pPr>
                      <a:r>
                        <a:rPr lang="en-US" sz="1150" b="1" dirty="0">
                          <a:solidFill>
                            <a:schemeClr val="tx1"/>
                          </a:solidFill>
                        </a:rPr>
                        <a:t>3,380,000</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lgn="r">
                        <a:buNone/>
                      </a:pPr>
                      <a:r>
                        <a:rPr lang="en-US" sz="1150" b="1" dirty="0">
                          <a:solidFill>
                            <a:srgbClr val="0E7C86"/>
                          </a:solidFill>
                        </a:rPr>
                        <a:t>2,775,000</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lgn="r">
                        <a:buNone/>
                      </a:pPr>
                      <a:r>
                        <a:rPr lang="en-US" sz="1150" dirty="0">
                          <a:solidFill>
                            <a:schemeClr val="tx1"/>
                          </a:solidFill>
                        </a:rPr>
                        <a:t>1,100,000</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lgn="r">
                        <a:buNone/>
                      </a:pPr>
                      <a:r>
                        <a:rPr lang="en-US" sz="1150" dirty="0">
                          <a:solidFill>
                            <a:schemeClr val="tx1"/>
                          </a:solidFill>
                        </a:rPr>
                        <a:t>5,750,000</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r h="381734">
                <a:tc>
                  <a:txBody>
                    <a:bodyPr/>
                    <a:lstStyle/>
                    <a:p>
                      <a:pPr marL="0" indent="0" algn="l">
                        <a:buNone/>
                      </a:pPr>
                      <a:r>
                        <a:rPr lang="en-US" sz="1100" b="1" dirty="0">
                          <a:solidFill>
                            <a:schemeClr val="tx2"/>
                          </a:solidFill>
                        </a:rPr>
                        <a:t>data architect</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lgn="r">
                        <a:buNone/>
                      </a:pPr>
                      <a:r>
                        <a:rPr lang="en-US" sz="1150" dirty="0">
                          <a:solidFill>
                            <a:schemeClr val="tx1"/>
                          </a:solidFill>
                        </a:rPr>
                        <a:t>12</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lgn="r">
                        <a:buNone/>
                      </a:pPr>
                      <a:r>
                        <a:rPr lang="en-US" sz="1150" b="1" dirty="0">
                          <a:solidFill>
                            <a:schemeClr val="tx1"/>
                          </a:solidFill>
                        </a:rPr>
                        <a:t>2,775,000</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lgn="r">
                        <a:buNone/>
                      </a:pPr>
                      <a:r>
                        <a:rPr lang="en-US" sz="1150" b="1" dirty="0">
                          <a:solidFill>
                            <a:srgbClr val="0E7C86"/>
                          </a:solidFill>
                        </a:rPr>
                        <a:t>2,350,000</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lgn="r">
                        <a:buNone/>
                      </a:pPr>
                      <a:r>
                        <a:rPr lang="en-US" sz="1150" dirty="0">
                          <a:solidFill>
                            <a:schemeClr val="tx1"/>
                          </a:solidFill>
                        </a:rPr>
                        <a:t>1,125,000</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lgn="r">
                        <a:buNone/>
                      </a:pPr>
                      <a:r>
                        <a:rPr lang="en-US" sz="1150" dirty="0">
                          <a:solidFill>
                            <a:schemeClr val="tx1"/>
                          </a:solidFill>
                        </a:rPr>
                        <a:t>6,300,000</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1734">
                <a:tc>
                  <a:txBody>
                    <a:bodyPr/>
                    <a:lstStyle/>
                    <a:p>
                      <a:pPr marL="0" indent="0" algn="l">
                        <a:buNone/>
                      </a:pPr>
                      <a:r>
                        <a:rPr lang="en-US" sz="1100" b="1" dirty="0">
                          <a:solidFill>
                            <a:schemeClr val="tx2"/>
                          </a:solidFill>
                        </a:rPr>
                        <a:t>solution architect</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lgn="r">
                        <a:buNone/>
                      </a:pPr>
                      <a:r>
                        <a:rPr lang="en-US" sz="1150" dirty="0">
                          <a:solidFill>
                            <a:schemeClr val="tx1"/>
                          </a:solidFill>
                        </a:rPr>
                        <a:t>59</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lgn="r">
                        <a:buNone/>
                      </a:pPr>
                      <a:r>
                        <a:rPr lang="en-US" sz="1150" b="1" dirty="0">
                          <a:solidFill>
                            <a:schemeClr val="tx1"/>
                          </a:solidFill>
                        </a:rPr>
                        <a:t>2,471,441</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lgn="r">
                        <a:buNone/>
                      </a:pPr>
                      <a:r>
                        <a:rPr lang="en-US" sz="1150" b="1" dirty="0">
                          <a:solidFill>
                            <a:srgbClr val="0E7C86"/>
                          </a:solidFill>
                        </a:rPr>
                        <a:t>2,370,098</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lgn="r">
                        <a:buNone/>
                      </a:pPr>
                      <a:r>
                        <a:rPr lang="en-US" sz="1150" dirty="0">
                          <a:solidFill>
                            <a:schemeClr val="tx1"/>
                          </a:solidFill>
                        </a:rPr>
                        <a:t>115,000</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lgn="r">
                        <a:buNone/>
                      </a:pPr>
                      <a:r>
                        <a:rPr lang="en-US" sz="1150" dirty="0">
                          <a:solidFill>
                            <a:schemeClr val="tx1"/>
                          </a:solidFill>
                        </a:rPr>
                        <a:t>3,750,000</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extLst>
                  <a:ext uri="{0D108BD9-81ED-4DB2-BD59-A6C34878D82A}">
                    <a16:rowId xmlns:a16="http://schemas.microsoft.com/office/drawing/2014/main" val="10006"/>
                  </a:ext>
                </a:extLst>
              </a:tr>
              <a:tr h="381734">
                <a:tc>
                  <a:txBody>
                    <a:bodyPr/>
                    <a:lstStyle/>
                    <a:p>
                      <a:pPr marL="0" indent="0" algn="l">
                        <a:buNone/>
                      </a:pPr>
                      <a:r>
                        <a:rPr lang="en-US" sz="1100" b="1" dirty="0">
                          <a:solidFill>
                            <a:schemeClr val="tx2"/>
                          </a:solidFill>
                        </a:rPr>
                        <a:t>senior software engineer</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lgn="r">
                        <a:buNone/>
                      </a:pPr>
                      <a:r>
                        <a:rPr lang="en-US" sz="1150" dirty="0">
                          <a:solidFill>
                            <a:schemeClr val="tx1"/>
                          </a:solidFill>
                        </a:rPr>
                        <a:t>22</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lgn="r">
                        <a:buNone/>
                      </a:pPr>
                      <a:r>
                        <a:rPr lang="en-US" sz="1150" b="1" dirty="0">
                          <a:solidFill>
                            <a:schemeClr val="tx1"/>
                          </a:solidFill>
                        </a:rPr>
                        <a:t>2,228,864</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lgn="r">
                        <a:buNone/>
                      </a:pPr>
                      <a:r>
                        <a:rPr lang="en-US" sz="1150" b="1" dirty="0">
                          <a:solidFill>
                            <a:srgbClr val="0E7C86"/>
                          </a:solidFill>
                        </a:rPr>
                        <a:t>2,030,000</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lgn="r">
                        <a:buNone/>
                      </a:pPr>
                      <a:r>
                        <a:rPr lang="en-US" sz="1150" dirty="0">
                          <a:solidFill>
                            <a:schemeClr val="tx1"/>
                          </a:solidFill>
                        </a:rPr>
                        <a:t>840,000</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lgn="r">
                        <a:buNone/>
                      </a:pPr>
                      <a:r>
                        <a:rPr lang="en-US" sz="1150" dirty="0">
                          <a:solidFill>
                            <a:schemeClr val="tx1"/>
                          </a:solidFill>
                        </a:rPr>
                        <a:t>3,750,000</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3" name="Code block 13"/>
          <p:cNvSpPr/>
          <p:nvPr/>
        </p:nvSpPr>
        <p:spPr>
          <a:xfrm>
            <a:off x="7269480" y="1325880"/>
            <a:ext cx="4370832" cy="3337560"/>
          </a:xfrm>
          <a:prstGeom prst="roundRect">
            <a:avLst>
              <a:gd name="adj" fmla="val 4255"/>
            </a:avLst>
          </a:prstGeom>
          <a:solidFill>
            <a:srgbClr val="0B1F3A"/>
          </a:solidFill>
          <a:ln/>
        </p:spPr>
      </p:sp>
      <p:sp>
        <p:nvSpPr>
          <p:cNvPr id="14" name="Text 14"/>
          <p:cNvSpPr txBox="1"/>
          <p:nvPr/>
        </p:nvSpPr>
        <p:spPr>
          <a:xfrm>
            <a:off x="7452360" y="1453896"/>
            <a:ext cx="4005072" cy="228600"/>
          </a:xfrm>
          <a:prstGeom prst="rect">
            <a:avLst/>
          </a:prstGeom>
          <a:noFill/>
          <a:ln/>
        </p:spPr>
        <p:txBody>
          <a:bodyPr wrap="square" lIns="0" tIns="0" rIns="0" bIns="0" rtlCol="0" anchor="t"/>
          <a:lstStyle/>
          <a:p>
            <a:pPr marL="0" indent="0" algn="l">
              <a:buNone/>
            </a:pPr>
            <a:r>
              <a:rPr lang="en-US" sz="1000" b="1" dirty="0">
                <a:solidFill>
                  <a:srgbClr val="8FA3B8"/>
                </a:solidFill>
              </a:rPr>
              <a:t>Salary by role and currency (jobs)</a:t>
            </a:r>
            <a:endParaRPr lang="en-US" sz="1000" dirty="0"/>
          </a:p>
        </p:txBody>
      </p:sp>
      <p:sp>
        <p:nvSpPr>
          <p:cNvPr id="15" name="Text 15"/>
          <p:cNvSpPr txBox="1"/>
          <p:nvPr/>
        </p:nvSpPr>
        <p:spPr>
          <a:xfrm>
            <a:off x="7452360" y="1746504"/>
            <a:ext cx="4005072" cy="2825496"/>
          </a:xfrm>
          <a:prstGeom prst="rect">
            <a:avLst/>
          </a:prstGeom>
          <a:noFill/>
          <a:ln/>
        </p:spPr>
        <p:txBody>
          <a:bodyPr wrap="square" lIns="0" tIns="0" rIns="0" bIns="0" rtlCol="0" anchor="t"/>
          <a:lstStyle/>
          <a:p>
            <a:pPr marL="0" indent="0" algn="l">
              <a:lnSpc>
                <a:spcPct val="108000"/>
              </a:lnSpc>
              <a:buNone/>
            </a:pPr>
            <a:r>
              <a:rPr lang="en-US" sz="1100" dirty="0">
                <a:solidFill>
                  <a:srgbClr val="7CC4FF"/>
                </a:solidFill>
                <a:latin typeface="Courier New" pitchFamily="34" charset="0"/>
                <a:ea typeface="Courier New" pitchFamily="34" charset="-122"/>
                <a:cs typeface="Courier New" pitchFamily="34" charset="-120"/>
              </a:rPr>
              <a:t>SELECT</a:t>
            </a:r>
            <a:r>
              <a:rPr lang="en-US" sz="1100" dirty="0">
                <a:solidFill>
                  <a:srgbClr val="E6EEF7"/>
                </a:solidFill>
                <a:latin typeface="Courier New" pitchFamily="34" charset="0"/>
                <a:ea typeface="Courier New" pitchFamily="34" charset="-122"/>
                <a:cs typeface="Courier New" pitchFamily="34" charset="-120"/>
              </a:rPr>
              <a:t> job_title, currency,</a:t>
            </a:r>
            <a:endParaRPr lang="en-US" sz="1100" dirty="0"/>
          </a:p>
          <a:p>
            <a:pPr marL="0" indent="0" algn="l">
              <a:lnSpc>
                <a:spcPct val="108000"/>
              </a:lnSpc>
              <a:buNone/>
            </a:pPr>
            <a:r>
              <a:rPr lang="en-US" sz="1100" dirty="0">
                <a:solidFill>
                  <a:srgbClr val="E6EEF7"/>
                </a:solidFill>
                <a:latin typeface="Courier New" pitchFamily="34" charset="0"/>
                <a:ea typeface="Courier New" pitchFamily="34" charset="-122"/>
                <a:cs typeface="Courier New" pitchFamily="34" charset="-120"/>
              </a:rPr>
              <a:t>       </a:t>
            </a:r>
            <a:r>
              <a:rPr lang="en-US" sz="1100" dirty="0">
                <a:solidFill>
                  <a:srgbClr val="F2C46D"/>
                </a:solidFill>
                <a:latin typeface="Courier New" pitchFamily="34" charset="0"/>
                <a:ea typeface="Courier New" pitchFamily="34" charset="-122"/>
                <a:cs typeface="Courier New" pitchFamily="34" charset="-120"/>
              </a:rPr>
              <a:t>COUNT</a:t>
            </a:r>
            <a:r>
              <a:rPr lang="en-US" sz="1100" dirty="0">
                <a:solidFill>
                  <a:srgbClr val="E6EEF7"/>
                </a:solidFill>
                <a:latin typeface="Courier New" pitchFamily="34" charset="0"/>
                <a:ea typeface="Courier New" pitchFamily="34" charset="-122"/>
                <a:cs typeface="Courier New" pitchFamily="34" charset="-120"/>
              </a:rPr>
              <a:t>(*) </a:t>
            </a:r>
            <a:r>
              <a:rPr lang="en-US" sz="1100" dirty="0">
                <a:solidFill>
                  <a:srgbClr val="7CC4FF"/>
                </a:solidFill>
                <a:latin typeface="Courier New" pitchFamily="34" charset="0"/>
                <a:ea typeface="Courier New" pitchFamily="34" charset="-122"/>
                <a:cs typeface="Courier New" pitchFamily="34" charset="-120"/>
              </a:rPr>
              <a:t>AS</a:t>
            </a:r>
            <a:r>
              <a:rPr lang="en-US" sz="1100" dirty="0">
                <a:solidFill>
                  <a:srgbClr val="E6EEF7"/>
                </a:solidFill>
                <a:latin typeface="Courier New" pitchFamily="34" charset="0"/>
                <a:ea typeface="Courier New" pitchFamily="34" charset="-122"/>
                <a:cs typeface="Courier New" pitchFamily="34" charset="-120"/>
              </a:rPr>
              <a:t> job_count,</a:t>
            </a:r>
            <a:endParaRPr lang="en-US" sz="1100" dirty="0"/>
          </a:p>
          <a:p>
            <a:pPr marL="0" indent="0" algn="l">
              <a:lnSpc>
                <a:spcPct val="108000"/>
              </a:lnSpc>
              <a:buNone/>
            </a:pPr>
            <a:r>
              <a:rPr lang="en-US" sz="1100" dirty="0">
                <a:solidFill>
                  <a:srgbClr val="E6EEF7"/>
                </a:solidFill>
                <a:latin typeface="Courier New" pitchFamily="34" charset="0"/>
                <a:ea typeface="Courier New" pitchFamily="34" charset="-122"/>
                <a:cs typeface="Courier New" pitchFamily="34" charset="-120"/>
              </a:rPr>
              <a:t>       </a:t>
            </a:r>
            <a:r>
              <a:rPr lang="en-US" sz="1100" dirty="0">
                <a:solidFill>
                  <a:srgbClr val="F2C46D"/>
                </a:solidFill>
                <a:latin typeface="Courier New" pitchFamily="34" charset="0"/>
                <a:ea typeface="Courier New" pitchFamily="34" charset="-122"/>
                <a:cs typeface="Courier New" pitchFamily="34" charset="-120"/>
              </a:rPr>
              <a:t>ROUND</a:t>
            </a:r>
            <a:r>
              <a:rPr lang="en-US" sz="1100" dirty="0">
                <a:solidFill>
                  <a:srgbClr val="E6EEF7"/>
                </a:solidFill>
                <a:latin typeface="Courier New" pitchFamily="34" charset="0"/>
                <a:ea typeface="Courier New" pitchFamily="34" charset="-122"/>
                <a:cs typeface="Courier New" pitchFamily="34" charset="-120"/>
              </a:rPr>
              <a:t>(</a:t>
            </a:r>
            <a:r>
              <a:rPr lang="en-US" sz="1100" dirty="0">
                <a:solidFill>
                  <a:srgbClr val="F2C46D"/>
                </a:solidFill>
                <a:latin typeface="Courier New" pitchFamily="34" charset="0"/>
                <a:ea typeface="Courier New" pitchFamily="34" charset="-122"/>
                <a:cs typeface="Courier New" pitchFamily="34" charset="-120"/>
              </a:rPr>
              <a:t>AVG</a:t>
            </a:r>
            <a:r>
              <a:rPr lang="en-US" sz="1100" dirty="0">
                <a:solidFill>
                  <a:srgbClr val="E6EEF7"/>
                </a:solidFill>
                <a:latin typeface="Courier New" pitchFamily="34" charset="0"/>
                <a:ea typeface="Courier New" pitchFamily="34" charset="-122"/>
                <a:cs typeface="Courier New" pitchFamily="34" charset="-120"/>
              </a:rPr>
              <a:t>(</a:t>
            </a:r>
            <a:r>
              <a:rPr lang="en-US" sz="1100" dirty="0">
                <a:solidFill>
                  <a:srgbClr val="F2C46D"/>
                </a:solidFill>
                <a:latin typeface="Courier New" pitchFamily="34" charset="0"/>
                <a:ea typeface="Courier New" pitchFamily="34" charset="-122"/>
                <a:cs typeface="Courier New" pitchFamily="34" charset="-120"/>
              </a:rPr>
              <a:t>CAST</a:t>
            </a:r>
            <a:r>
              <a:rPr lang="en-US" sz="1100" dirty="0">
                <a:solidFill>
                  <a:srgbClr val="E6EEF7"/>
                </a:solidFill>
                <a:latin typeface="Courier New" pitchFamily="34" charset="0"/>
                <a:ea typeface="Courier New" pitchFamily="34" charset="-122"/>
                <a:cs typeface="Courier New" pitchFamily="34" charset="-120"/>
              </a:rPr>
              <a:t>(avg_salary </a:t>
            </a:r>
            <a:r>
              <a:rPr lang="en-US" sz="1100" dirty="0">
                <a:solidFill>
                  <a:srgbClr val="7CC4FF"/>
                </a:solidFill>
                <a:latin typeface="Courier New" pitchFamily="34" charset="0"/>
                <a:ea typeface="Courier New" pitchFamily="34" charset="-122"/>
                <a:cs typeface="Courier New" pitchFamily="34" charset="-120"/>
              </a:rPr>
              <a:t>AS</a:t>
            </a:r>
            <a:r>
              <a:rPr lang="en-US" sz="1100" dirty="0">
                <a:solidFill>
                  <a:srgbClr val="E6EEF7"/>
                </a:solidFill>
                <a:latin typeface="Courier New" pitchFamily="34" charset="0"/>
                <a:ea typeface="Courier New" pitchFamily="34" charset="-122"/>
                <a:cs typeface="Courier New" pitchFamily="34" charset="-120"/>
              </a:rPr>
              <a:t> DOUBLE)),</a:t>
            </a:r>
            <a:endParaRPr lang="en-US" sz="1100" dirty="0"/>
          </a:p>
          <a:p>
            <a:pPr marL="0" indent="0" algn="l">
              <a:lnSpc>
                <a:spcPct val="108000"/>
              </a:lnSpc>
              <a:buNone/>
            </a:pPr>
            <a:r>
              <a:rPr lang="en-US" sz="1100" dirty="0">
                <a:solidFill>
                  <a:srgbClr val="E6EEF7"/>
                </a:solidFill>
                <a:latin typeface="Courier New" pitchFamily="34" charset="0"/>
                <a:ea typeface="Courier New" pitchFamily="34" charset="-122"/>
                <a:cs typeface="Courier New" pitchFamily="34" charset="-120"/>
              </a:rPr>
              <a:t>         2) </a:t>
            </a:r>
            <a:r>
              <a:rPr lang="en-US" sz="1100" dirty="0">
                <a:solidFill>
                  <a:srgbClr val="7CC4FF"/>
                </a:solidFill>
                <a:latin typeface="Courier New" pitchFamily="34" charset="0"/>
                <a:ea typeface="Courier New" pitchFamily="34" charset="-122"/>
                <a:cs typeface="Courier New" pitchFamily="34" charset="-120"/>
              </a:rPr>
              <a:t>AS</a:t>
            </a:r>
            <a:r>
              <a:rPr lang="en-US" sz="1100" dirty="0">
                <a:solidFill>
                  <a:srgbClr val="E6EEF7"/>
                </a:solidFill>
                <a:latin typeface="Courier New" pitchFamily="34" charset="0"/>
                <a:ea typeface="Courier New" pitchFamily="34" charset="-122"/>
                <a:cs typeface="Courier New" pitchFamily="34" charset="-120"/>
              </a:rPr>
              <a:t> average_salary,</a:t>
            </a:r>
            <a:endParaRPr lang="en-US" sz="1100" dirty="0"/>
          </a:p>
          <a:p>
            <a:pPr marL="0" indent="0" algn="l">
              <a:lnSpc>
                <a:spcPct val="108000"/>
              </a:lnSpc>
              <a:buNone/>
            </a:pPr>
            <a:r>
              <a:rPr lang="en-US" sz="1100" dirty="0">
                <a:solidFill>
                  <a:srgbClr val="E6EEF7"/>
                </a:solidFill>
                <a:latin typeface="Courier New" pitchFamily="34" charset="0"/>
                <a:ea typeface="Courier New" pitchFamily="34" charset="-122"/>
                <a:cs typeface="Courier New" pitchFamily="34" charset="-120"/>
              </a:rPr>
              <a:t>       </a:t>
            </a:r>
            <a:r>
              <a:rPr lang="en-US" sz="1100" dirty="0">
                <a:solidFill>
                  <a:srgbClr val="F2C46D"/>
                </a:solidFill>
                <a:latin typeface="Courier New" pitchFamily="34" charset="0"/>
                <a:ea typeface="Courier New" pitchFamily="34" charset="-122"/>
                <a:cs typeface="Courier New" pitchFamily="34" charset="-120"/>
              </a:rPr>
              <a:t>ROUND</a:t>
            </a:r>
            <a:r>
              <a:rPr lang="en-US" sz="1100" dirty="0">
                <a:solidFill>
                  <a:srgbClr val="E6EEF7"/>
                </a:solidFill>
                <a:latin typeface="Courier New" pitchFamily="34" charset="0"/>
                <a:ea typeface="Courier New" pitchFamily="34" charset="-122"/>
                <a:cs typeface="Courier New" pitchFamily="34" charset="-120"/>
              </a:rPr>
              <a:t>(</a:t>
            </a:r>
            <a:r>
              <a:rPr lang="en-US" sz="1100" dirty="0">
                <a:solidFill>
                  <a:srgbClr val="F2C46D"/>
                </a:solidFill>
                <a:latin typeface="Courier New" pitchFamily="34" charset="0"/>
                <a:ea typeface="Courier New" pitchFamily="34" charset="-122"/>
                <a:cs typeface="Courier New" pitchFamily="34" charset="-120"/>
              </a:rPr>
              <a:t>percentile_approx</a:t>
            </a:r>
            <a:r>
              <a:rPr lang="en-US" sz="1100" dirty="0">
                <a:solidFill>
                  <a:srgbClr val="E6EEF7"/>
                </a:solidFill>
                <a:latin typeface="Courier New" pitchFamily="34" charset="0"/>
                <a:ea typeface="Courier New" pitchFamily="34" charset="-122"/>
                <a:cs typeface="Courier New" pitchFamily="34" charset="-120"/>
              </a:rPr>
              <a:t>(</a:t>
            </a:r>
            <a:endParaRPr lang="en-US" sz="1100" dirty="0"/>
          </a:p>
          <a:p>
            <a:pPr marL="0" indent="0" algn="l">
              <a:lnSpc>
                <a:spcPct val="108000"/>
              </a:lnSpc>
              <a:buNone/>
            </a:pPr>
            <a:r>
              <a:rPr lang="en-US" sz="1100" dirty="0">
                <a:solidFill>
                  <a:srgbClr val="E6EEF7"/>
                </a:solidFill>
                <a:latin typeface="Courier New" pitchFamily="34" charset="0"/>
                <a:ea typeface="Courier New" pitchFamily="34" charset="-122"/>
                <a:cs typeface="Courier New" pitchFamily="34" charset="-120"/>
              </a:rPr>
              <a:t>         </a:t>
            </a:r>
            <a:r>
              <a:rPr lang="en-US" sz="1100" dirty="0">
                <a:solidFill>
                  <a:srgbClr val="F2C46D"/>
                </a:solidFill>
                <a:latin typeface="Courier New" pitchFamily="34" charset="0"/>
                <a:ea typeface="Courier New" pitchFamily="34" charset="-122"/>
                <a:cs typeface="Courier New" pitchFamily="34" charset="-120"/>
              </a:rPr>
              <a:t>CAST</a:t>
            </a:r>
            <a:r>
              <a:rPr lang="en-US" sz="1100" dirty="0">
                <a:solidFill>
                  <a:srgbClr val="E6EEF7"/>
                </a:solidFill>
                <a:latin typeface="Courier New" pitchFamily="34" charset="0"/>
                <a:ea typeface="Courier New" pitchFamily="34" charset="-122"/>
                <a:cs typeface="Courier New" pitchFamily="34" charset="-120"/>
              </a:rPr>
              <a:t>(avg_salary </a:t>
            </a:r>
            <a:r>
              <a:rPr lang="en-US" sz="1100" dirty="0">
                <a:solidFill>
                  <a:srgbClr val="7CC4FF"/>
                </a:solidFill>
                <a:latin typeface="Courier New" pitchFamily="34" charset="0"/>
                <a:ea typeface="Courier New" pitchFamily="34" charset="-122"/>
                <a:cs typeface="Courier New" pitchFamily="34" charset="-120"/>
              </a:rPr>
              <a:t>AS</a:t>
            </a:r>
            <a:r>
              <a:rPr lang="en-US" sz="1100" dirty="0">
                <a:solidFill>
                  <a:srgbClr val="E6EEF7"/>
                </a:solidFill>
                <a:latin typeface="Courier New" pitchFamily="34" charset="0"/>
                <a:ea typeface="Courier New" pitchFamily="34" charset="-122"/>
                <a:cs typeface="Courier New" pitchFamily="34" charset="-120"/>
              </a:rPr>
              <a:t> DOUBLE), 0.5), 2)</a:t>
            </a:r>
            <a:endParaRPr lang="en-US" sz="1100" dirty="0"/>
          </a:p>
          <a:p>
            <a:pPr marL="0" indent="0" algn="l">
              <a:lnSpc>
                <a:spcPct val="108000"/>
              </a:lnSpc>
              <a:buNone/>
            </a:pPr>
            <a:r>
              <a:rPr lang="en-US" sz="1100" dirty="0">
                <a:solidFill>
                  <a:srgbClr val="E6EEF7"/>
                </a:solidFill>
                <a:latin typeface="Courier New" pitchFamily="34" charset="0"/>
                <a:ea typeface="Courier New" pitchFamily="34" charset="-122"/>
                <a:cs typeface="Courier New" pitchFamily="34" charset="-120"/>
              </a:rPr>
              <a:t>         </a:t>
            </a:r>
            <a:r>
              <a:rPr lang="en-US" sz="1100" dirty="0">
                <a:solidFill>
                  <a:srgbClr val="7CC4FF"/>
                </a:solidFill>
                <a:latin typeface="Courier New" pitchFamily="34" charset="0"/>
                <a:ea typeface="Courier New" pitchFamily="34" charset="-122"/>
                <a:cs typeface="Courier New" pitchFamily="34" charset="-120"/>
              </a:rPr>
              <a:t>AS</a:t>
            </a:r>
            <a:r>
              <a:rPr lang="en-US" sz="1100" dirty="0">
                <a:solidFill>
                  <a:srgbClr val="E6EEF7"/>
                </a:solidFill>
                <a:latin typeface="Courier New" pitchFamily="34" charset="0"/>
                <a:ea typeface="Courier New" pitchFamily="34" charset="-122"/>
                <a:cs typeface="Courier New" pitchFamily="34" charset="-120"/>
              </a:rPr>
              <a:t> median_salary,</a:t>
            </a:r>
            <a:endParaRPr lang="en-US" sz="1100" dirty="0"/>
          </a:p>
          <a:p>
            <a:pPr marL="0" indent="0" algn="l">
              <a:lnSpc>
                <a:spcPct val="108000"/>
              </a:lnSpc>
              <a:buNone/>
            </a:pPr>
            <a:r>
              <a:rPr lang="en-US" sz="1100" dirty="0">
                <a:solidFill>
                  <a:srgbClr val="E6EEF7"/>
                </a:solidFill>
                <a:latin typeface="Courier New" pitchFamily="34" charset="0"/>
                <a:ea typeface="Courier New" pitchFamily="34" charset="-122"/>
                <a:cs typeface="Courier New" pitchFamily="34" charset="-120"/>
              </a:rPr>
              <a:t>       -- plus MIN / MAX per role</a:t>
            </a:r>
            <a:endParaRPr lang="en-US" sz="1100" dirty="0"/>
          </a:p>
          <a:p>
            <a:pPr marL="0" indent="0" algn="l">
              <a:lnSpc>
                <a:spcPct val="108000"/>
              </a:lnSpc>
              <a:buNone/>
            </a:pPr>
            <a:r>
              <a:rPr lang="en-US" sz="1100" dirty="0">
                <a:solidFill>
                  <a:srgbClr val="7CC4FF"/>
                </a:solidFill>
                <a:latin typeface="Courier New" pitchFamily="34" charset="0"/>
                <a:ea typeface="Courier New" pitchFamily="34" charset="-122"/>
                <a:cs typeface="Courier New" pitchFamily="34" charset="-120"/>
              </a:rPr>
              <a:t>FROM</a:t>
            </a:r>
            <a:r>
              <a:rPr lang="en-US" sz="1100" dirty="0">
                <a:solidFill>
                  <a:srgbClr val="E6EEF7"/>
                </a:solidFill>
                <a:latin typeface="Courier New" pitchFamily="34" charset="0"/>
                <a:ea typeface="Courier New" pitchFamily="34" charset="-122"/>
                <a:cs typeface="Courier New" pitchFamily="34" charset="-120"/>
              </a:rPr>
              <a:t> jobs</a:t>
            </a:r>
            <a:endParaRPr lang="en-US" sz="1100" dirty="0"/>
          </a:p>
          <a:p>
            <a:pPr marL="0" indent="0" algn="l">
              <a:lnSpc>
                <a:spcPct val="108000"/>
              </a:lnSpc>
              <a:buNone/>
            </a:pPr>
            <a:r>
              <a:rPr lang="en-US" sz="1100" dirty="0">
                <a:solidFill>
                  <a:srgbClr val="7CC4FF"/>
                </a:solidFill>
                <a:latin typeface="Courier New" pitchFamily="34" charset="0"/>
                <a:ea typeface="Courier New" pitchFamily="34" charset="-122"/>
                <a:cs typeface="Courier New" pitchFamily="34" charset="-120"/>
              </a:rPr>
              <a:t>WHERE</a:t>
            </a:r>
            <a:r>
              <a:rPr lang="en-US" sz="1100" dirty="0">
                <a:solidFill>
                  <a:srgbClr val="E6EEF7"/>
                </a:solidFill>
                <a:latin typeface="Courier New" pitchFamily="34" charset="0"/>
                <a:ea typeface="Courier New" pitchFamily="34" charset="-122"/>
                <a:cs typeface="Courier New" pitchFamily="34" charset="-120"/>
              </a:rPr>
              <a:t> </a:t>
            </a:r>
            <a:r>
              <a:rPr lang="en-US" sz="1100" dirty="0">
                <a:solidFill>
                  <a:srgbClr val="F2C46D"/>
                </a:solidFill>
                <a:latin typeface="Courier New" pitchFamily="34" charset="0"/>
                <a:ea typeface="Courier New" pitchFamily="34" charset="-122"/>
                <a:cs typeface="Courier New" pitchFamily="34" charset="-120"/>
              </a:rPr>
              <a:t>CAST</a:t>
            </a:r>
            <a:r>
              <a:rPr lang="en-US" sz="1100" dirty="0">
                <a:solidFill>
                  <a:srgbClr val="E6EEF7"/>
                </a:solidFill>
                <a:latin typeface="Courier New" pitchFamily="34" charset="0"/>
                <a:ea typeface="Courier New" pitchFamily="34" charset="-122"/>
                <a:cs typeface="Courier New" pitchFamily="34" charset="-120"/>
              </a:rPr>
              <a:t>(avg_salary </a:t>
            </a:r>
            <a:r>
              <a:rPr lang="en-US" sz="1100" dirty="0">
                <a:solidFill>
                  <a:srgbClr val="7CC4FF"/>
                </a:solidFill>
                <a:latin typeface="Courier New" pitchFamily="34" charset="0"/>
                <a:ea typeface="Courier New" pitchFamily="34" charset="-122"/>
                <a:cs typeface="Courier New" pitchFamily="34" charset="-120"/>
              </a:rPr>
              <a:t>AS</a:t>
            </a:r>
            <a:r>
              <a:rPr lang="en-US" sz="1100" dirty="0">
                <a:solidFill>
                  <a:srgbClr val="E6EEF7"/>
                </a:solidFill>
                <a:latin typeface="Courier New" pitchFamily="34" charset="0"/>
                <a:ea typeface="Courier New" pitchFamily="34" charset="-122"/>
                <a:cs typeface="Courier New" pitchFamily="34" charset="-120"/>
              </a:rPr>
              <a:t> DOUBLE) &gt; 0</a:t>
            </a:r>
            <a:endParaRPr lang="en-US" sz="1100" dirty="0"/>
          </a:p>
          <a:p>
            <a:pPr marL="0" indent="0" algn="l">
              <a:lnSpc>
                <a:spcPct val="108000"/>
              </a:lnSpc>
              <a:buNone/>
            </a:pPr>
            <a:r>
              <a:rPr lang="en-US" sz="1100" dirty="0">
                <a:solidFill>
                  <a:srgbClr val="E6EEF7"/>
                </a:solidFill>
                <a:latin typeface="Courier New" pitchFamily="34" charset="0"/>
                <a:ea typeface="Courier New" pitchFamily="34" charset="-122"/>
                <a:cs typeface="Courier New" pitchFamily="34" charset="-120"/>
              </a:rPr>
              <a:t>  </a:t>
            </a:r>
            <a:r>
              <a:rPr lang="en-US" sz="1100" dirty="0">
                <a:solidFill>
                  <a:srgbClr val="7CC4FF"/>
                </a:solidFill>
                <a:latin typeface="Courier New" pitchFamily="34" charset="0"/>
                <a:ea typeface="Courier New" pitchFamily="34" charset="-122"/>
                <a:cs typeface="Courier New" pitchFamily="34" charset="-120"/>
              </a:rPr>
              <a:t>AND</a:t>
            </a:r>
            <a:r>
              <a:rPr lang="en-US" sz="1100" dirty="0">
                <a:solidFill>
                  <a:srgbClr val="E6EEF7"/>
                </a:solidFill>
                <a:latin typeface="Courier New" pitchFamily="34" charset="0"/>
                <a:ea typeface="Courier New" pitchFamily="34" charset="-122"/>
                <a:cs typeface="Courier New" pitchFamily="34" charset="-120"/>
              </a:rPr>
              <a:t> currency </a:t>
            </a:r>
            <a:r>
              <a:rPr lang="en-US" sz="1100" dirty="0">
                <a:solidFill>
                  <a:srgbClr val="7CC4FF"/>
                </a:solidFill>
                <a:latin typeface="Courier New" pitchFamily="34" charset="0"/>
                <a:ea typeface="Courier New" pitchFamily="34" charset="-122"/>
                <a:cs typeface="Courier New" pitchFamily="34" charset="-120"/>
              </a:rPr>
              <a:t>IS NOT NULL</a:t>
            </a:r>
            <a:endParaRPr lang="en-US" sz="1100" dirty="0"/>
          </a:p>
          <a:p>
            <a:pPr marL="0" indent="0" algn="l">
              <a:lnSpc>
                <a:spcPct val="108000"/>
              </a:lnSpc>
              <a:buNone/>
            </a:pPr>
            <a:r>
              <a:rPr lang="en-US" sz="1100" dirty="0">
                <a:solidFill>
                  <a:srgbClr val="7CC4FF"/>
                </a:solidFill>
                <a:latin typeface="Courier New" pitchFamily="34" charset="0"/>
                <a:ea typeface="Courier New" pitchFamily="34" charset="-122"/>
                <a:cs typeface="Courier New" pitchFamily="34" charset="-120"/>
              </a:rPr>
              <a:t>GROUP BY</a:t>
            </a:r>
            <a:r>
              <a:rPr lang="en-US" sz="1100" dirty="0">
                <a:solidFill>
                  <a:srgbClr val="E6EEF7"/>
                </a:solidFill>
                <a:latin typeface="Courier New" pitchFamily="34" charset="0"/>
                <a:ea typeface="Courier New" pitchFamily="34" charset="-122"/>
                <a:cs typeface="Courier New" pitchFamily="34" charset="-120"/>
              </a:rPr>
              <a:t> job_title, currency</a:t>
            </a:r>
            <a:endParaRPr lang="en-US" sz="1100" dirty="0"/>
          </a:p>
          <a:p>
            <a:pPr marL="0" indent="0" algn="l">
              <a:lnSpc>
                <a:spcPct val="108000"/>
              </a:lnSpc>
              <a:buNone/>
            </a:pPr>
            <a:r>
              <a:rPr lang="en-US" sz="1100" dirty="0">
                <a:solidFill>
                  <a:srgbClr val="7CC4FF"/>
                </a:solidFill>
                <a:latin typeface="Courier New" pitchFamily="34" charset="0"/>
                <a:ea typeface="Courier New" pitchFamily="34" charset="-122"/>
                <a:cs typeface="Courier New" pitchFamily="34" charset="-120"/>
              </a:rPr>
              <a:t>HAVING</a:t>
            </a:r>
            <a:r>
              <a:rPr lang="en-US" sz="1100" dirty="0">
                <a:solidFill>
                  <a:srgbClr val="E6EEF7"/>
                </a:solidFill>
                <a:latin typeface="Courier New" pitchFamily="34" charset="0"/>
                <a:ea typeface="Courier New" pitchFamily="34" charset="-122"/>
                <a:cs typeface="Courier New" pitchFamily="34" charset="-120"/>
              </a:rPr>
              <a:t> </a:t>
            </a:r>
            <a:r>
              <a:rPr lang="en-US" sz="1100" dirty="0">
                <a:solidFill>
                  <a:srgbClr val="F2C46D"/>
                </a:solidFill>
                <a:latin typeface="Courier New" pitchFamily="34" charset="0"/>
                <a:ea typeface="Courier New" pitchFamily="34" charset="-122"/>
                <a:cs typeface="Courier New" pitchFamily="34" charset="-120"/>
              </a:rPr>
              <a:t>COUNT</a:t>
            </a:r>
            <a:r>
              <a:rPr lang="en-US" sz="1100" dirty="0">
                <a:solidFill>
                  <a:srgbClr val="E6EEF7"/>
                </a:solidFill>
                <a:latin typeface="Courier New" pitchFamily="34" charset="0"/>
                <a:ea typeface="Courier New" pitchFamily="34" charset="-122"/>
                <a:cs typeface="Courier New" pitchFamily="34" charset="-120"/>
              </a:rPr>
              <a:t>(*) &gt;= 5</a:t>
            </a:r>
            <a:endParaRPr lang="en-US" sz="1100" dirty="0"/>
          </a:p>
          <a:p>
            <a:pPr marL="0" indent="0" algn="l">
              <a:lnSpc>
                <a:spcPct val="108000"/>
              </a:lnSpc>
              <a:buNone/>
            </a:pPr>
            <a:r>
              <a:rPr lang="en-US" sz="1100" dirty="0">
                <a:solidFill>
                  <a:srgbClr val="7CC4FF"/>
                </a:solidFill>
                <a:latin typeface="Courier New" pitchFamily="34" charset="0"/>
                <a:ea typeface="Courier New" pitchFamily="34" charset="-122"/>
                <a:cs typeface="Courier New" pitchFamily="34" charset="-120"/>
              </a:rPr>
              <a:t>ORDER BY</a:t>
            </a:r>
            <a:r>
              <a:rPr lang="en-US" sz="1100" dirty="0">
                <a:solidFill>
                  <a:srgbClr val="E6EEF7"/>
                </a:solidFill>
                <a:latin typeface="Courier New" pitchFamily="34" charset="0"/>
                <a:ea typeface="Courier New" pitchFamily="34" charset="-122"/>
                <a:cs typeface="Courier New" pitchFamily="34" charset="-120"/>
              </a:rPr>
              <a:t> average_salary </a:t>
            </a:r>
            <a:r>
              <a:rPr lang="en-US" sz="1100" dirty="0">
                <a:solidFill>
                  <a:srgbClr val="7CC4FF"/>
                </a:solidFill>
                <a:latin typeface="Courier New" pitchFamily="34" charset="0"/>
                <a:ea typeface="Courier New" pitchFamily="34" charset="-122"/>
                <a:cs typeface="Courier New" pitchFamily="34" charset="-120"/>
              </a:rPr>
              <a:t>DESC</a:t>
            </a:r>
            <a:r>
              <a:rPr lang="en-US" sz="1100" dirty="0">
                <a:solidFill>
                  <a:srgbClr val="E6EEF7"/>
                </a:solidFill>
                <a:latin typeface="Courier New" pitchFamily="34" charset="0"/>
                <a:ea typeface="Courier New" pitchFamily="34" charset="-122"/>
                <a:cs typeface="Courier New" pitchFamily="34" charset="-120"/>
              </a:rPr>
              <a:t> </a:t>
            </a:r>
            <a:r>
              <a:rPr lang="en-US" sz="1100" dirty="0">
                <a:solidFill>
                  <a:srgbClr val="7CC4FF"/>
                </a:solidFill>
                <a:latin typeface="Courier New" pitchFamily="34" charset="0"/>
                <a:ea typeface="Courier New" pitchFamily="34" charset="-122"/>
                <a:cs typeface="Courier New" pitchFamily="34" charset="-120"/>
              </a:rPr>
              <a:t>LIMIT</a:t>
            </a:r>
            <a:r>
              <a:rPr lang="en-US" sz="1100" dirty="0">
                <a:solidFill>
                  <a:srgbClr val="E6EEF7"/>
                </a:solidFill>
                <a:latin typeface="Courier New" pitchFamily="34" charset="0"/>
                <a:ea typeface="Courier New" pitchFamily="34" charset="-122"/>
                <a:cs typeface="Courier New" pitchFamily="34" charset="-120"/>
              </a:rPr>
              <a:t> 20;</a:t>
            </a:r>
            <a:endParaRPr lang="en-US" sz="1100" dirty="0"/>
          </a:p>
        </p:txBody>
      </p:sp>
      <p:sp>
        <p:nvSpPr>
          <p:cNvPr id="16" name="Shape 16"/>
          <p:cNvSpPr/>
          <p:nvPr/>
        </p:nvSpPr>
        <p:spPr>
          <a:xfrm>
            <a:off x="548640" y="4937760"/>
            <a:ext cx="4846320" cy="1005840"/>
          </a:xfrm>
          <a:prstGeom prst="roundRect">
            <a:avLst>
              <a:gd name="adj" fmla="val 6000"/>
            </a:avLst>
          </a:prstGeom>
          <a:solidFill>
            <a:schemeClr val="accent6">
              <a:alpha val="18000"/>
            </a:schemeClr>
          </a:solidFill>
          <a:ln w="12700">
            <a:solidFill>
              <a:schemeClr val="accent6"/>
            </a:solidFill>
            <a:prstDash val="solid"/>
          </a:ln>
        </p:spPr>
      </p:sp>
      <p:sp>
        <p:nvSpPr>
          <p:cNvPr id="17" name="Text 17"/>
          <p:cNvSpPr txBox="1"/>
          <p:nvPr/>
        </p:nvSpPr>
        <p:spPr>
          <a:xfrm>
            <a:off x="713232" y="5029200"/>
            <a:ext cx="4517136" cy="841248"/>
          </a:xfrm>
          <a:prstGeom prst="rect">
            <a:avLst/>
          </a:prstGeom>
          <a:noFill/>
          <a:ln/>
        </p:spPr>
        <p:txBody>
          <a:bodyPr wrap="square" lIns="0" tIns="0" rIns="0" bIns="0" rtlCol="0" anchor="t"/>
          <a:lstStyle/>
          <a:p>
            <a:pPr marL="0" indent="0" algn="l">
              <a:spcAft>
                <a:spcPts val="300"/>
              </a:spcAft>
              <a:buNone/>
            </a:pPr>
            <a:r>
              <a:rPr lang="en-US" sz="1250" b="1" dirty="0">
                <a:solidFill>
                  <a:schemeClr val="accent6"/>
                </a:solidFill>
              </a:rPr>
              <a:t>Reading the numbers</a:t>
            </a:r>
            <a:endParaRPr lang="en-US" sz="1200" dirty="0"/>
          </a:p>
          <a:p>
            <a:pPr marL="0" indent="0" algn="l">
              <a:buNone/>
            </a:pPr>
            <a:r>
              <a:rPr lang="en-US" sz="1150" dirty="0">
                <a:solidFill>
                  <a:schemeClr val="tx1"/>
                </a:solidFill>
              </a:rPr>
              <a:t>Pairing the mean with the median flags distortion at once: for deputy manager the mean reaches ₹9.75M because of a single ₹82.5M outlier, while the median shows the typical benchmark of ₹700,000.</a:t>
            </a:r>
            <a:endParaRPr lang="en-US" sz="1200" dirty="0"/>
          </a:p>
        </p:txBody>
      </p:sp>
      <p:sp>
        <p:nvSpPr>
          <p:cNvPr id="18" name="Shape 18"/>
          <p:cNvSpPr/>
          <p:nvPr/>
        </p:nvSpPr>
        <p:spPr>
          <a:xfrm>
            <a:off x="5550408" y="4937760"/>
            <a:ext cx="3063240" cy="1005840"/>
          </a:xfrm>
          <a:prstGeom prst="roundRect">
            <a:avLst>
              <a:gd name="adj" fmla="val 6000"/>
            </a:avLst>
          </a:prstGeom>
          <a:solidFill>
            <a:schemeClr val="accent5">
              <a:alpha val="18000"/>
            </a:schemeClr>
          </a:solidFill>
          <a:ln w="12700">
            <a:solidFill>
              <a:schemeClr val="accent5"/>
            </a:solidFill>
            <a:prstDash val="solid"/>
          </a:ln>
        </p:spPr>
      </p:sp>
      <p:sp>
        <p:nvSpPr>
          <p:cNvPr id="19" name="Text 19"/>
          <p:cNvSpPr txBox="1"/>
          <p:nvPr/>
        </p:nvSpPr>
        <p:spPr>
          <a:xfrm>
            <a:off x="5715000" y="5029200"/>
            <a:ext cx="2734056" cy="841248"/>
          </a:xfrm>
          <a:prstGeom prst="rect">
            <a:avLst/>
          </a:prstGeom>
          <a:noFill/>
          <a:ln/>
        </p:spPr>
        <p:txBody>
          <a:bodyPr wrap="square" lIns="0" tIns="0" rIns="0" bIns="0" rtlCol="0" anchor="t"/>
          <a:lstStyle/>
          <a:p>
            <a:pPr marL="0" indent="0" algn="l">
              <a:spcAft>
                <a:spcPts val="300"/>
              </a:spcAft>
              <a:buNone/>
            </a:pPr>
            <a:r>
              <a:rPr lang="en-US" sz="1250" b="1" dirty="0">
                <a:solidFill>
                  <a:schemeClr val="accent5"/>
                </a:solidFill>
              </a:rPr>
              <a:t>Outlier-driven mean</a:t>
            </a:r>
            <a:endParaRPr lang="en-US" sz="1200" dirty="0"/>
          </a:p>
          <a:p>
            <a:pPr marL="0" indent="0" algn="l">
              <a:buNone/>
            </a:pPr>
            <a:r>
              <a:rPr lang="en-US" sz="1150" dirty="0">
                <a:solidFill>
                  <a:schemeClr val="tx1"/>
                </a:solidFill>
              </a:rPr>
              <a:t>Deputy manager: ₹9.75M mean vs ₹700,000 median. One ₹82.5M posting (minimum ₹85,000) drags the mean up.</a:t>
            </a:r>
            <a:endParaRPr lang="en-US" sz="1200" dirty="0"/>
          </a:p>
        </p:txBody>
      </p:sp>
      <p:sp>
        <p:nvSpPr>
          <p:cNvPr id="20" name="Shape 20"/>
          <p:cNvSpPr/>
          <p:nvPr/>
        </p:nvSpPr>
        <p:spPr>
          <a:xfrm>
            <a:off x="8769096" y="4937760"/>
            <a:ext cx="2871216" cy="1005840"/>
          </a:xfrm>
          <a:prstGeom prst="roundRect">
            <a:avLst>
              <a:gd name="adj" fmla="val 6000"/>
            </a:avLst>
          </a:prstGeom>
          <a:solidFill>
            <a:schemeClr val="accent3">
              <a:alpha val="18000"/>
            </a:schemeClr>
          </a:solidFill>
          <a:ln w="12700">
            <a:solidFill>
              <a:srgbClr val="B26A00"/>
            </a:solidFill>
            <a:prstDash val="solid"/>
          </a:ln>
        </p:spPr>
      </p:sp>
      <p:sp>
        <p:nvSpPr>
          <p:cNvPr id="21" name="Text 21"/>
          <p:cNvSpPr txBox="1"/>
          <p:nvPr/>
        </p:nvSpPr>
        <p:spPr>
          <a:xfrm>
            <a:off x="8933688" y="5029200"/>
            <a:ext cx="2542032" cy="841248"/>
          </a:xfrm>
          <a:prstGeom prst="rect">
            <a:avLst/>
          </a:prstGeom>
          <a:noFill/>
          <a:ln/>
        </p:spPr>
        <p:txBody>
          <a:bodyPr wrap="square" lIns="0" tIns="0" rIns="0" bIns="0" rtlCol="0" anchor="t"/>
          <a:lstStyle/>
          <a:p>
            <a:pPr marL="0" indent="0" algn="l">
              <a:spcAft>
                <a:spcPts val="300"/>
              </a:spcAft>
              <a:buNone/>
            </a:pPr>
            <a:r>
              <a:rPr lang="en-US" sz="1250" b="1" dirty="0">
                <a:solidFill>
                  <a:srgbClr val="B26A00"/>
                </a:solidFill>
              </a:rPr>
              <a:t>Mean close to median</a:t>
            </a:r>
            <a:endParaRPr lang="en-US" sz="1200" dirty="0"/>
          </a:p>
          <a:p>
            <a:pPr marL="0" indent="0" algn="l">
              <a:buNone/>
            </a:pPr>
            <a:r>
              <a:rPr lang="en-US" sz="1150" dirty="0">
                <a:solidFill>
                  <a:schemeClr val="tx1"/>
                </a:solidFill>
              </a:rPr>
              <a:t>Radiologist consultant: ₹5.29M vs ₹5.31M. Solution architect: ₹2.47M vs ₹2.37M. Pay is evenly spread.</a:t>
            </a:r>
            <a:endParaRPr lang="en-US" sz="1200" dirty="0"/>
          </a:p>
        </p:txBody>
      </p:sp>
      <p:sp>
        <p:nvSpPr>
          <p:cNvPr id="990" name="Slide Number Placeholder 0"/>
          <p:cNvSpPr>
            <a:spLocks noGrp="1"/>
          </p:cNvSpPr>
          <p:nvPr>
            <p:ph type="sldNum" sz="quarter" idx="4294967295"/>
          </p:nvPr>
        </p:nvSpPr>
        <p:spPr>
          <a:xfrm>
            <a:off x="10972800" y="6446520"/>
            <a:ext cx="640080" cy="256032"/>
          </a:xfrm>
          <a:prstGeom prst="rect">
            <a:avLst/>
          </a:prstGeom>
        </p:spPr>
        <p:txBody>
          <a:bodyPr/>
          <a:lstStyle>
            <a:lvl1pPr>
              <a:defRPr sz="1000">
                <a:solidFill>
                  <a:schemeClr val="accent4"/>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TASK 3: TRENDS</a:t>
            </a:r>
            <a:endParaRPr lang="en-US" sz="1200" dirty="0"/>
          </a:p>
        </p:txBody>
      </p:sp>
      <p:sp>
        <p:nvSpPr>
          <p:cNvPr id="3" name="Text 0"/>
          <p:cNvSpPr>
            <a:spLocks noGrp="1"/>
          </p:cNvSpPr>
          <p:nvPr>
            <p:ph type="title" idx="100" hasCustomPrompt="1"/>
          </p:nvPr>
        </p:nvSpPr>
        <p:spPr>
          <a:xfrm>
            <a:off x="548640" y="566928"/>
            <a:ext cx="9418320" cy="685800"/>
          </a:xfrm>
          <a:prstGeom prst="rect">
            <a:avLst/>
          </a:prstGeom>
          <a:noFill/>
          <a:ln/>
        </p:spPr>
        <p:txBody>
          <a:bodyPr wrap="square" lIns="0" tIns="0" rIns="0" bIns="0" rtlCol="0" anchor="ctr"/>
          <a:lstStyle/>
          <a:p>
            <a:pPr marL="0" indent="0" algn="l">
              <a:buNone/>
            </a:pPr>
            <a:r>
              <a:rPr lang="en-US" sz="3200" b="1" dirty="0">
                <a:solidFill>
                  <a:schemeClr val="tx2"/>
                </a:solidFill>
              </a:rPr>
              <a:t>Recency, Scarcity and the SDVI Remedy</a:t>
            </a:r>
            <a:endParaRPr lang="en-US" sz="3200" dirty="0"/>
          </a:p>
        </p:txBody>
      </p:sp>
      <p:sp>
        <p:nvSpPr>
          <p:cNvPr id="11" name="Shape 11"/>
          <p:cNvSpPr/>
          <p:nvPr/>
        </p:nvSpPr>
        <p:spPr>
          <a:xfrm>
            <a:off x="548640" y="1371600"/>
            <a:ext cx="3648456" cy="4069080"/>
          </a:xfrm>
          <a:prstGeom prst="roundRect">
            <a:avLst>
              <a:gd name="adj" fmla="val 3500"/>
            </a:avLst>
          </a:prstGeom>
          <a:solidFill>
            <a:schemeClr val="bg2"/>
          </a:solidFill>
          <a:ln/>
        </p:spPr>
      </p:sp>
      <p:sp>
        <p:nvSpPr>
          <p:cNvPr id="12" name="Text 12"/>
          <p:cNvSpPr txBox="1"/>
          <p:nvPr/>
        </p:nvSpPr>
        <p:spPr>
          <a:xfrm>
            <a:off x="731520" y="1499616"/>
            <a:ext cx="3291840" cy="274320"/>
          </a:xfrm>
          <a:prstGeom prst="rect">
            <a:avLst/>
          </a:prstGeom>
          <a:noFill/>
          <a:ln/>
        </p:spPr>
        <p:txBody>
          <a:bodyPr wrap="square" lIns="0" tIns="0" rIns="0" bIns="0" rtlCol="0" anchor="t"/>
          <a:lstStyle/>
          <a:p>
            <a:pPr marL="0" indent="0" algn="l">
              <a:buNone/>
            </a:pPr>
            <a:r>
              <a:rPr lang="en-US" sz="1250" b="1" dirty="0">
                <a:solidFill>
                  <a:schemeClr val="tx2"/>
                </a:solidFill>
              </a:rPr>
              <a:t>Posting recency (time_based)</a:t>
            </a:r>
            <a:endParaRPr lang="en-US" sz="1200" dirty="0"/>
          </a:p>
        </p:txBody>
      </p:sp>
      <p:sp>
        <p:nvSpPr>
          <p:cNvPr id="13" name="Text 13"/>
          <p:cNvSpPr txBox="1"/>
          <p:nvPr/>
        </p:nvSpPr>
        <p:spPr>
          <a:xfrm>
            <a:off x="731520" y="1773936"/>
            <a:ext cx="3291840" cy="91440"/>
          </a:xfrm>
          <a:prstGeom prst="rect">
            <a:avLst/>
          </a:prstGeom>
          <a:noFill/>
          <a:ln/>
        </p:spPr>
        <p:txBody>
          <a:bodyPr wrap="square" lIns="0" tIns="0" rIns="0" bIns="0" rtlCol="0" anchor="t"/>
          <a:lstStyle/>
          <a:p>
            <a:pPr marL="0" indent="0" algn="l">
              <a:buNone/>
            </a:pPr>
            <a:endParaRPr lang="en-US" sz="1200" dirty="0"/>
          </a:p>
        </p:txBody>
      </p:sp>
      <p:graphicFrame>
        <p:nvGraphicFramePr>
          <p:cNvPr id="900" name="Recency chart"/>
          <p:cNvGraphicFramePr/>
          <p:nvPr/>
        </p:nvGraphicFramePr>
        <p:xfrm>
          <a:off x="658368" y="1874520"/>
          <a:ext cx="3438144"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 14"/>
          <p:cNvSpPr txBox="1"/>
          <p:nvPr/>
        </p:nvSpPr>
        <p:spPr>
          <a:xfrm>
            <a:off x="731520" y="4937760"/>
            <a:ext cx="3291840" cy="411480"/>
          </a:xfrm>
          <a:prstGeom prst="rect">
            <a:avLst/>
          </a:prstGeom>
          <a:noFill/>
          <a:ln/>
        </p:spPr>
        <p:txBody>
          <a:bodyPr wrap="square" lIns="0" tIns="0" rIns="0" bIns="0" rtlCol="0" anchor="t"/>
          <a:lstStyle/>
          <a:p>
            <a:pPr marL="0" indent="0" algn="l">
              <a:buNone/>
            </a:pPr>
            <a:r>
              <a:rPr lang="en-US" sz="1100" i="1" dirty="0">
                <a:solidFill>
                  <a:schemeClr val="accent4"/>
                </a:solidFill>
              </a:rPr>
              <a:t>88.1% of postings are 1-7 days old: a live snapshot, not an archive.</a:t>
            </a:r>
            <a:endParaRPr lang="en-US" sz="1200" dirty="0"/>
          </a:p>
        </p:txBody>
      </p:sp>
      <p:sp>
        <p:nvSpPr>
          <p:cNvPr id="15" name="Shape 15"/>
          <p:cNvSpPr/>
          <p:nvPr/>
        </p:nvSpPr>
        <p:spPr>
          <a:xfrm>
            <a:off x="4407408" y="1371600"/>
            <a:ext cx="3657600" cy="4069080"/>
          </a:xfrm>
          <a:prstGeom prst="roundRect">
            <a:avLst>
              <a:gd name="adj" fmla="val 3500"/>
            </a:avLst>
          </a:prstGeom>
          <a:solidFill>
            <a:schemeClr val="bg2"/>
          </a:solidFill>
          <a:ln/>
        </p:spPr>
      </p:sp>
      <p:sp>
        <p:nvSpPr>
          <p:cNvPr id="16" name="Text 16"/>
          <p:cNvSpPr txBox="1"/>
          <p:nvPr/>
        </p:nvSpPr>
        <p:spPr>
          <a:xfrm>
            <a:off x="4590288" y="1499616"/>
            <a:ext cx="3291840" cy="274320"/>
          </a:xfrm>
          <a:prstGeom prst="rect">
            <a:avLst/>
          </a:prstGeom>
          <a:noFill/>
          <a:ln/>
        </p:spPr>
        <p:txBody>
          <a:bodyPr wrap="square" lIns="0" tIns="0" rIns="0" bIns="0" rtlCol="0" anchor="t"/>
          <a:lstStyle/>
          <a:p>
            <a:pPr marL="0" indent="0" algn="l">
              <a:buNone/>
            </a:pPr>
            <a:r>
              <a:rPr lang="en-US" sz="1250" b="1" dirty="0">
                <a:solidFill>
                  <a:schemeClr val="tx2"/>
                </a:solidFill>
              </a:rPr>
              <a:t>Why Phase I cannot show growth</a:t>
            </a:r>
            <a:endParaRPr lang="en-US" sz="1200" dirty="0"/>
          </a:p>
        </p:txBody>
      </p:sp>
      <p:graphicFrame>
        <p:nvGraphicFramePr>
          <p:cNvPr id="17" name="Table 17"/>
          <p:cNvGraphicFramePr>
            <a:graphicFrameLocks noGrp="1"/>
          </p:cNvGraphicFramePr>
          <p:nvPr/>
        </p:nvGraphicFramePr>
        <p:xfrm>
          <a:off x="4590288" y="1874520"/>
          <a:ext cx="3291840" cy="2359152"/>
        </p:xfrm>
        <a:graphic>
          <a:graphicData uri="http://schemas.openxmlformats.org/drawingml/2006/table">
            <a:tbl>
              <a:tblPr/>
              <a:tblGrid>
                <a:gridCol w="14630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310896">
                <a:tc>
                  <a:txBody>
                    <a:bodyPr/>
                    <a:lstStyle/>
                    <a:p>
                      <a:pPr marL="0" indent="0" algn="l">
                        <a:buNone/>
                      </a:pPr>
                      <a:r>
                        <a:rPr lang="en-US" sz="1200" b="1" dirty="0">
                          <a:solidFill>
                            <a:srgbClr val="FFFFFF"/>
                          </a:solidFill>
                        </a:rPr>
                        <a:t>Needed</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B1F3A"/>
                    </a:solidFill>
                  </a:tcPr>
                </a:tc>
                <a:tc>
                  <a:txBody>
                    <a:bodyPr/>
                    <a:lstStyle/>
                    <a:p>
                      <a:pPr marL="0" indent="0" algn="l">
                        <a:buNone/>
                      </a:pPr>
                      <a:r>
                        <a:rPr lang="en-US" sz="1200" b="1" dirty="0">
                          <a:solidFill>
                            <a:srgbClr val="FFFFFF"/>
                          </a:solidFill>
                        </a:rPr>
                        <a:t>Phase I has</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512064">
                <a:tc>
                  <a:txBody>
                    <a:bodyPr/>
                    <a:lstStyle/>
                    <a:p>
                      <a:pPr marL="0" indent="0" algn="l">
                        <a:buNone/>
                      </a:pPr>
                      <a:r>
                        <a:rPr lang="en-US" sz="1100" b="1" dirty="0">
                          <a:solidFill>
                            <a:schemeClr val="tx2"/>
                          </a:solidFill>
                        </a:rPr>
                        <a:t>Absolute posting date</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lgn="l">
                        <a:buNone/>
                      </a:pPr>
                      <a:r>
                        <a:rPr lang="en-US" sz="1100" dirty="0">
                          <a:solidFill>
                            <a:schemeClr val="tx1"/>
                          </a:solidFill>
                        </a:rPr>
                        <a:t>Only relative age buckets</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lgn="l">
                        <a:buNone/>
                      </a:pPr>
                      <a:r>
                        <a:rPr lang="en-US" sz="1100" b="1" dirty="0">
                          <a:solidFill>
                            <a:schemeClr val="tx2"/>
                          </a:solidFill>
                        </a:rPr>
                        <a:t>Several time periods</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lgn="l">
                        <a:buNone/>
                      </a:pPr>
                      <a:r>
                        <a:rPr lang="en-US" sz="1100" dirty="0">
                          <a:solidFill>
                            <a:schemeClr val="tx1"/>
                          </a:solidFill>
                        </a:rPr>
                        <a:t>Single collection snapshot</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512064">
                <a:tc>
                  <a:txBody>
                    <a:bodyPr/>
                    <a:lstStyle/>
                    <a:p>
                      <a:pPr marL="0" indent="0" algn="l">
                        <a:buNone/>
                      </a:pPr>
                      <a:r>
                        <a:rPr lang="en-US" sz="1100" b="1" dirty="0">
                          <a:solidFill>
                            <a:schemeClr val="tx2"/>
                          </a:solidFill>
                        </a:rPr>
                        <a:t>Previous-period count</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lgn="l">
                        <a:buNone/>
                      </a:pPr>
                      <a:r>
                        <a:rPr lang="en-US" sz="1100" dirty="0">
                          <a:solidFill>
                            <a:schemeClr val="tx1"/>
                          </a:solidFill>
                        </a:rPr>
                        <a:t>Not derivable, so LAG has no input</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lgn="l">
                        <a:buNone/>
                      </a:pPr>
                      <a:r>
                        <a:rPr lang="en-US" sz="1100" b="1" dirty="0">
                          <a:solidFill>
                            <a:schemeClr val="tx2"/>
                          </a:solidFill>
                        </a:rPr>
                        <a:t>Growth rate and SDVI</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tc>
                  <a:txBody>
                    <a:bodyPr/>
                    <a:lstStyle/>
                    <a:p>
                      <a:pPr marL="0" indent="0" algn="l">
                        <a:buNone/>
                      </a:pPr>
                      <a:r>
                        <a:rPr lang="en-US" sz="1100" dirty="0">
                          <a:solidFill>
                            <a:schemeClr val="tx1"/>
                          </a:solidFill>
                        </a:rPr>
                        <a:t>Not computable</a:t>
                      </a:r>
                      <a:endParaRPr lang="en-US" sz="1200" dirty="0"/>
                    </a:p>
                  </a:txBody>
                  <a:tcPr marT="0" marB="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bl>
          </a:graphicData>
        </a:graphic>
      </p:graphicFrame>
      <p:sp>
        <p:nvSpPr>
          <p:cNvPr id="18" name="Shape 18"/>
          <p:cNvSpPr/>
          <p:nvPr/>
        </p:nvSpPr>
        <p:spPr>
          <a:xfrm>
            <a:off x="4590288" y="4434840"/>
            <a:ext cx="3291840" cy="822960"/>
          </a:xfrm>
          <a:prstGeom prst="roundRect">
            <a:avLst>
              <a:gd name="adj" fmla="val 8000"/>
            </a:avLst>
          </a:prstGeom>
          <a:solidFill>
            <a:schemeClr val="accent5">
              <a:alpha val="14000"/>
            </a:schemeClr>
          </a:solidFill>
          <a:ln w="15875">
            <a:solidFill>
              <a:schemeClr val="accent5"/>
            </a:solidFill>
            <a:prstDash val="solid"/>
          </a:ln>
        </p:spPr>
      </p:sp>
      <p:sp>
        <p:nvSpPr>
          <p:cNvPr id="19" name="Text 19"/>
          <p:cNvSpPr txBox="1"/>
          <p:nvPr/>
        </p:nvSpPr>
        <p:spPr>
          <a:xfrm>
            <a:off x="4700016" y="4434840"/>
            <a:ext cx="3072384" cy="822960"/>
          </a:xfrm>
          <a:prstGeom prst="rect">
            <a:avLst/>
          </a:prstGeom>
          <a:noFill/>
          <a:ln/>
        </p:spPr>
        <p:txBody>
          <a:bodyPr wrap="square" lIns="0" tIns="0" rIns="0" bIns="0" rtlCol="0" anchor="ctr"/>
          <a:lstStyle/>
          <a:p>
            <a:pPr marL="0" indent="0" algn="l">
              <a:buNone/>
            </a:pPr>
            <a:r>
              <a:rPr lang="en-US" sz="1200" b="1" dirty="0">
                <a:solidFill>
                  <a:schemeClr val="accent5"/>
                </a:solidFill>
              </a:rPr>
              <a:t>skill_trends: </a:t>
            </a:r>
            <a:r>
              <a:rPr lang="en-US" sz="1150" dirty="0">
                <a:solidFill>
                  <a:schemeClr val="tx1"/>
                </a:solidFill>
              </a:rPr>
              <a:t>44,021 rows, and period = unknown on every row. A skill has one data point, so the result is a ranking, not a trend.</a:t>
            </a:r>
            <a:endParaRPr lang="en-US" sz="1200" dirty="0"/>
          </a:p>
        </p:txBody>
      </p:sp>
      <p:sp>
        <p:nvSpPr>
          <p:cNvPr id="20" name="Shape 20"/>
          <p:cNvSpPr/>
          <p:nvPr/>
        </p:nvSpPr>
        <p:spPr>
          <a:xfrm>
            <a:off x="8293608" y="1371600"/>
            <a:ext cx="3346704" cy="4069080"/>
          </a:xfrm>
          <a:prstGeom prst="roundRect">
            <a:avLst>
              <a:gd name="adj" fmla="val 3500"/>
            </a:avLst>
          </a:prstGeom>
          <a:solidFill>
            <a:schemeClr val="bg2"/>
          </a:solidFill>
          <a:ln/>
        </p:spPr>
      </p:sp>
      <p:sp>
        <p:nvSpPr>
          <p:cNvPr id="21" name="Text 21"/>
          <p:cNvSpPr txBox="1"/>
          <p:nvPr/>
        </p:nvSpPr>
        <p:spPr>
          <a:xfrm>
            <a:off x="8476488" y="1499616"/>
            <a:ext cx="3017520" cy="274320"/>
          </a:xfrm>
          <a:prstGeom prst="rect">
            <a:avLst/>
          </a:prstGeom>
          <a:noFill/>
          <a:ln/>
        </p:spPr>
        <p:txBody>
          <a:bodyPr wrap="square" lIns="0" tIns="0" rIns="0" bIns="0" rtlCol="0" anchor="t"/>
          <a:lstStyle/>
          <a:p>
            <a:pPr marL="0" indent="0" algn="l">
              <a:buNone/>
            </a:pPr>
            <a:r>
              <a:rPr lang="en-US" sz="1250" b="1" dirty="0">
                <a:solidFill>
                  <a:schemeClr val="tx2"/>
                </a:solidFill>
              </a:rPr>
              <a:t>Phase II: dated data + HiveQL</a:t>
            </a:r>
            <a:endParaRPr lang="en-US" sz="1200" dirty="0"/>
          </a:p>
        </p:txBody>
      </p:sp>
      <p:sp>
        <p:nvSpPr>
          <p:cNvPr id="22" name="Text 22"/>
          <p:cNvSpPr txBox="1"/>
          <p:nvPr/>
        </p:nvSpPr>
        <p:spPr>
          <a:xfrm>
            <a:off x="8476488" y="1810512"/>
            <a:ext cx="3017520" cy="457200"/>
          </a:xfrm>
          <a:prstGeom prst="rect">
            <a:avLst/>
          </a:prstGeom>
          <a:noFill/>
          <a:ln/>
        </p:spPr>
        <p:txBody>
          <a:bodyPr wrap="square" lIns="0" tIns="0" rIns="0" bIns="0" rtlCol="0" anchor="t"/>
          <a:lstStyle/>
          <a:p>
            <a:pPr marL="0" indent="0" algn="l">
              <a:buNone/>
            </a:pPr>
            <a:r>
              <a:rPr lang="en-US" sz="1150" dirty="0">
                <a:solidFill>
                  <a:schemeClr val="tx1"/>
                </a:solidFill>
              </a:rPr>
              <a:t>10,000 postings, Jan-Jun 2024, 100 skills; 567 skill-month records.</a:t>
            </a:r>
            <a:endParaRPr lang="en-US" sz="1200" dirty="0"/>
          </a:p>
        </p:txBody>
      </p:sp>
      <p:sp>
        <p:nvSpPr>
          <p:cNvPr id="23" name="Code block 23"/>
          <p:cNvSpPr/>
          <p:nvPr/>
        </p:nvSpPr>
        <p:spPr>
          <a:xfrm>
            <a:off x="8476488" y="2377440"/>
            <a:ext cx="2980944" cy="960120"/>
          </a:xfrm>
          <a:prstGeom prst="roundRect">
            <a:avLst>
              <a:gd name="adj" fmla="val 6000"/>
            </a:avLst>
          </a:prstGeom>
          <a:solidFill>
            <a:srgbClr val="0B1F3A"/>
          </a:solidFill>
          <a:ln/>
        </p:spPr>
      </p:sp>
      <p:sp>
        <p:nvSpPr>
          <p:cNvPr id="24" name="Text 24"/>
          <p:cNvSpPr txBox="1"/>
          <p:nvPr/>
        </p:nvSpPr>
        <p:spPr>
          <a:xfrm>
            <a:off x="8595360" y="2450592"/>
            <a:ext cx="2743200" cy="822960"/>
          </a:xfrm>
          <a:prstGeom prst="rect">
            <a:avLst/>
          </a:prstGeom>
          <a:noFill/>
          <a:ln/>
        </p:spPr>
        <p:txBody>
          <a:bodyPr wrap="square" lIns="0" tIns="0" rIns="0" bIns="0" rtlCol="0" anchor="ctr"/>
          <a:lstStyle/>
          <a:p>
            <a:pPr marL="0" indent="0" algn="l">
              <a:spcAft>
                <a:spcPts val="200"/>
              </a:spcAft>
              <a:buNone/>
            </a:pPr>
            <a:r>
              <a:rPr lang="en-US" sz="1000" dirty="0">
                <a:solidFill>
                  <a:srgbClr val="E6EEF7"/>
                </a:solidFill>
                <a:latin typeface="Courier New" pitchFamily="34" charset="0"/>
                <a:ea typeface="Courier New" pitchFamily="34" charset="-122"/>
                <a:cs typeface="Courier New" pitchFamily="34" charset="-120"/>
              </a:rPr>
              <a:t>growth = (M[t] - M[t-1]) / M[t-1]</a:t>
            </a:r>
            <a:endParaRPr lang="en-US" sz="1000" dirty="0"/>
          </a:p>
          <a:p>
            <a:pPr marL="0" indent="0" algn="l">
              <a:spcAft>
                <a:spcPts val="200"/>
              </a:spcAft>
              <a:buNone/>
            </a:pPr>
            <a:r>
              <a:rPr lang="en-US" sz="1000" dirty="0">
                <a:solidFill>
                  <a:srgbClr val="E6EEF7"/>
                </a:solidFill>
                <a:latin typeface="Courier New" pitchFamily="34" charset="0"/>
                <a:ea typeface="Courier New" pitchFamily="34" charset="-122"/>
                <a:cs typeface="Courier New" pitchFamily="34" charset="-120"/>
              </a:rPr>
              <a:t>SDVI = growth * ln(1 + M[t])</a:t>
            </a:r>
            <a:endParaRPr lang="en-US" sz="1000" dirty="0"/>
          </a:p>
          <a:p>
            <a:pPr marL="0" indent="0" algn="l">
              <a:buNone/>
            </a:pPr>
            <a:r>
              <a:rPr lang="en-US" sz="1000" dirty="0">
                <a:solidFill>
                  <a:srgbClr val="F2C46D"/>
                </a:solidFill>
                <a:latin typeface="Courier New" pitchFamily="34" charset="0"/>
                <a:ea typeface="Courier New" pitchFamily="34" charset="-122"/>
                <a:cs typeface="Courier New" pitchFamily="34" charset="-120"/>
              </a:rPr>
              <a:t>LAG</a:t>
            </a:r>
            <a:r>
              <a:rPr lang="en-US" sz="1000" dirty="0">
                <a:solidFill>
                  <a:srgbClr val="E6EEF7"/>
                </a:solidFill>
                <a:latin typeface="Courier New" pitchFamily="34" charset="0"/>
                <a:ea typeface="Courier New" pitchFamily="34" charset="-122"/>
                <a:cs typeface="Courier New" pitchFamily="34" charset="-120"/>
              </a:rPr>
              <a:t>(mentions, 1) </a:t>
            </a:r>
            <a:r>
              <a:rPr lang="en-US" sz="1000" dirty="0">
                <a:solidFill>
                  <a:srgbClr val="7CC4FF"/>
                </a:solidFill>
                <a:latin typeface="Courier New" pitchFamily="34" charset="0"/>
                <a:ea typeface="Courier New" pitchFamily="34" charset="-122"/>
                <a:cs typeface="Courier New" pitchFamily="34" charset="-120"/>
              </a:rPr>
              <a:t>OVER</a:t>
            </a:r>
            <a:r>
              <a:rPr lang="en-US" sz="1000" dirty="0">
                <a:solidFill>
                  <a:srgbClr val="E6EEF7"/>
                </a:solidFill>
                <a:latin typeface="Courier New" pitchFamily="34" charset="0"/>
                <a:ea typeface="Courier New" pitchFamily="34" charset="-122"/>
                <a:cs typeface="Courier New" pitchFamily="34" charset="-120"/>
              </a:rPr>
              <a:t> (</a:t>
            </a:r>
            <a:endParaRPr lang="en-US" sz="1000" dirty="0"/>
          </a:p>
          <a:p>
            <a:pPr marL="0" indent="0" algn="l">
              <a:buNone/>
            </a:pPr>
            <a:r>
              <a:rPr lang="en-US" sz="1000" dirty="0">
                <a:solidFill>
                  <a:srgbClr val="E6EEF7"/>
                </a:solidFill>
                <a:latin typeface="Courier New" pitchFamily="34" charset="0"/>
                <a:ea typeface="Courier New" pitchFamily="34" charset="-122"/>
                <a:cs typeface="Courier New" pitchFamily="34" charset="-120"/>
              </a:rPr>
              <a:t>  </a:t>
            </a:r>
            <a:r>
              <a:rPr lang="en-US" sz="1000" dirty="0">
                <a:solidFill>
                  <a:srgbClr val="7CC4FF"/>
                </a:solidFill>
                <a:latin typeface="Courier New" pitchFamily="34" charset="0"/>
                <a:ea typeface="Courier New" pitchFamily="34" charset="-122"/>
                <a:cs typeface="Courier New" pitchFamily="34" charset="-120"/>
              </a:rPr>
              <a:t>PARTITION BY</a:t>
            </a:r>
            <a:r>
              <a:rPr lang="en-US" sz="1000" dirty="0">
                <a:solidFill>
                  <a:srgbClr val="E6EEF7"/>
                </a:solidFill>
                <a:latin typeface="Courier New" pitchFamily="34" charset="0"/>
                <a:ea typeface="Courier New" pitchFamily="34" charset="-122"/>
                <a:cs typeface="Courier New" pitchFamily="34" charset="-120"/>
              </a:rPr>
              <a:t> skill </a:t>
            </a:r>
            <a:r>
              <a:rPr lang="en-US" sz="1000" dirty="0">
                <a:solidFill>
                  <a:srgbClr val="7CC4FF"/>
                </a:solidFill>
                <a:latin typeface="Courier New" pitchFamily="34" charset="0"/>
                <a:ea typeface="Courier New" pitchFamily="34" charset="-122"/>
                <a:cs typeface="Courier New" pitchFamily="34" charset="-120"/>
              </a:rPr>
              <a:t>ORDER BY</a:t>
            </a:r>
            <a:r>
              <a:rPr lang="en-US" sz="1000" dirty="0">
                <a:solidFill>
                  <a:srgbClr val="E6EEF7"/>
                </a:solidFill>
                <a:latin typeface="Courier New" pitchFamily="34" charset="0"/>
                <a:ea typeface="Courier New" pitchFamily="34" charset="-122"/>
                <a:cs typeface="Courier New" pitchFamily="34" charset="-120"/>
              </a:rPr>
              <a:t> month)</a:t>
            </a:r>
            <a:endParaRPr lang="en-US" sz="1000" dirty="0"/>
          </a:p>
        </p:txBody>
      </p:sp>
      <p:sp>
        <p:nvSpPr>
          <p:cNvPr id="25" name="Text 25"/>
          <p:cNvSpPr txBox="1"/>
          <p:nvPr/>
        </p:nvSpPr>
        <p:spPr>
          <a:xfrm>
            <a:off x="8476488" y="3456432"/>
            <a:ext cx="3017520" cy="228600"/>
          </a:xfrm>
          <a:prstGeom prst="rect">
            <a:avLst/>
          </a:prstGeom>
          <a:noFill/>
          <a:ln/>
        </p:spPr>
        <p:txBody>
          <a:bodyPr wrap="square" lIns="0" tIns="0" rIns="0" bIns="0" rtlCol="0" anchor="t"/>
          <a:lstStyle/>
          <a:p>
            <a:pPr marL="0" indent="0" algn="l">
              <a:buNone/>
            </a:pPr>
            <a:r>
              <a:rPr lang="en-US" sz="1100" b="1" dirty="0">
                <a:solidFill>
                  <a:schemeClr val="accent4"/>
                </a:solidFill>
              </a:rPr>
              <a:t>June 2024 skills by quadrant</a:t>
            </a:r>
            <a:endParaRPr lang="en-US" sz="1200" dirty="0"/>
          </a:p>
        </p:txBody>
      </p:sp>
      <p:sp>
        <p:nvSpPr>
          <p:cNvPr id="26" name="Shape 26"/>
          <p:cNvSpPr/>
          <p:nvPr/>
        </p:nvSpPr>
        <p:spPr>
          <a:xfrm>
            <a:off x="8476488" y="3749040"/>
            <a:ext cx="1453896" cy="749808"/>
          </a:xfrm>
          <a:prstGeom prst="roundRect">
            <a:avLst>
              <a:gd name="adj" fmla="val 9000"/>
            </a:avLst>
          </a:prstGeom>
          <a:solidFill>
            <a:srgbClr val="FFFFFF"/>
          </a:solidFill>
          <a:ln w="15875">
            <a:solidFill>
              <a:schemeClr val="accent6"/>
            </a:solidFill>
            <a:prstDash val="solid"/>
          </a:ln>
        </p:spPr>
      </p:sp>
      <p:sp>
        <p:nvSpPr>
          <p:cNvPr id="27" name="Text 27"/>
          <p:cNvSpPr txBox="1"/>
          <p:nvPr/>
        </p:nvSpPr>
        <p:spPr>
          <a:xfrm>
            <a:off x="8567928" y="3794760"/>
            <a:ext cx="1280160" cy="384048"/>
          </a:xfrm>
          <a:prstGeom prst="rect">
            <a:avLst/>
          </a:prstGeom>
          <a:noFill/>
          <a:ln/>
        </p:spPr>
        <p:txBody>
          <a:bodyPr wrap="square" lIns="0" tIns="0" rIns="0" bIns="0" rtlCol="0" anchor="ctr"/>
          <a:lstStyle/>
          <a:p>
            <a:pPr marL="0" indent="0" algn="l">
              <a:buNone/>
            </a:pPr>
            <a:r>
              <a:rPr lang="en-US" sz="2000" b="1" dirty="0">
                <a:solidFill>
                  <a:schemeClr val="accent6"/>
                </a:solidFill>
              </a:rPr>
              <a:t>26</a:t>
            </a:r>
            <a:endParaRPr lang="en-US" sz="1200" dirty="0"/>
          </a:p>
        </p:txBody>
      </p:sp>
      <p:sp>
        <p:nvSpPr>
          <p:cNvPr id="28" name="Text 28"/>
          <p:cNvSpPr txBox="1"/>
          <p:nvPr/>
        </p:nvSpPr>
        <p:spPr>
          <a:xfrm>
            <a:off x="8567928" y="4178808"/>
            <a:ext cx="1280160" cy="274320"/>
          </a:xfrm>
          <a:prstGeom prst="rect">
            <a:avLst/>
          </a:prstGeom>
          <a:noFill/>
          <a:ln/>
        </p:spPr>
        <p:txBody>
          <a:bodyPr wrap="square" lIns="0" tIns="0" rIns="0" bIns="0" rtlCol="0" anchor="ctr"/>
          <a:lstStyle/>
          <a:p>
            <a:pPr marL="0" indent="0" algn="l">
              <a:buNone/>
            </a:pPr>
            <a:r>
              <a:rPr lang="en-US" sz="1100" dirty="0">
                <a:solidFill>
                  <a:schemeClr val="tx1"/>
                </a:solidFill>
              </a:rPr>
              <a:t>Emerging</a:t>
            </a:r>
            <a:endParaRPr lang="en-US" sz="1200" dirty="0"/>
          </a:p>
        </p:txBody>
      </p:sp>
      <p:sp>
        <p:nvSpPr>
          <p:cNvPr id="29" name="Shape 29"/>
          <p:cNvSpPr/>
          <p:nvPr/>
        </p:nvSpPr>
        <p:spPr>
          <a:xfrm>
            <a:off x="10003536" y="3749040"/>
            <a:ext cx="1453896" cy="749808"/>
          </a:xfrm>
          <a:prstGeom prst="roundRect">
            <a:avLst>
              <a:gd name="adj" fmla="val 9000"/>
            </a:avLst>
          </a:prstGeom>
          <a:solidFill>
            <a:srgbClr val="FFFFFF"/>
          </a:solidFill>
          <a:ln w="15875">
            <a:solidFill>
              <a:schemeClr val="accent2"/>
            </a:solidFill>
            <a:prstDash val="solid"/>
          </a:ln>
        </p:spPr>
      </p:sp>
      <p:sp>
        <p:nvSpPr>
          <p:cNvPr id="30" name="Text 30"/>
          <p:cNvSpPr txBox="1"/>
          <p:nvPr/>
        </p:nvSpPr>
        <p:spPr>
          <a:xfrm>
            <a:off x="10094976" y="3794760"/>
            <a:ext cx="1280160" cy="384048"/>
          </a:xfrm>
          <a:prstGeom prst="rect">
            <a:avLst/>
          </a:prstGeom>
          <a:noFill/>
          <a:ln/>
        </p:spPr>
        <p:txBody>
          <a:bodyPr wrap="square" lIns="0" tIns="0" rIns="0" bIns="0" rtlCol="0" anchor="ctr"/>
          <a:lstStyle/>
          <a:p>
            <a:pPr marL="0" indent="0" algn="l">
              <a:buNone/>
            </a:pPr>
            <a:r>
              <a:rPr lang="en-US" sz="2000" b="1" dirty="0">
                <a:solidFill>
                  <a:schemeClr val="accent2"/>
                </a:solidFill>
              </a:rPr>
              <a:t>9</a:t>
            </a:r>
            <a:endParaRPr lang="en-US" sz="1200" dirty="0"/>
          </a:p>
        </p:txBody>
      </p:sp>
      <p:sp>
        <p:nvSpPr>
          <p:cNvPr id="31" name="Text 31"/>
          <p:cNvSpPr txBox="1"/>
          <p:nvPr/>
        </p:nvSpPr>
        <p:spPr>
          <a:xfrm>
            <a:off x="10094976" y="4178808"/>
            <a:ext cx="1280160" cy="274320"/>
          </a:xfrm>
          <a:prstGeom prst="rect">
            <a:avLst/>
          </a:prstGeom>
          <a:noFill/>
          <a:ln/>
        </p:spPr>
        <p:txBody>
          <a:bodyPr wrap="square" lIns="0" tIns="0" rIns="0" bIns="0" rtlCol="0" anchor="ctr"/>
          <a:lstStyle/>
          <a:p>
            <a:pPr marL="0" indent="0" algn="l">
              <a:buNone/>
            </a:pPr>
            <a:r>
              <a:rPr lang="en-US" sz="1100" dirty="0">
                <a:solidFill>
                  <a:schemeClr val="tx1"/>
                </a:solidFill>
              </a:rPr>
              <a:t>Established growth</a:t>
            </a:r>
            <a:endParaRPr lang="en-US" sz="1200" dirty="0"/>
          </a:p>
        </p:txBody>
      </p:sp>
      <p:sp>
        <p:nvSpPr>
          <p:cNvPr id="32" name="Shape 32"/>
          <p:cNvSpPr/>
          <p:nvPr/>
        </p:nvSpPr>
        <p:spPr>
          <a:xfrm>
            <a:off x="8476488" y="4572000"/>
            <a:ext cx="1453896" cy="749808"/>
          </a:xfrm>
          <a:prstGeom prst="roundRect">
            <a:avLst>
              <a:gd name="adj" fmla="val 9000"/>
            </a:avLst>
          </a:prstGeom>
          <a:solidFill>
            <a:srgbClr val="FFFFFF"/>
          </a:solidFill>
          <a:ln w="15875">
            <a:solidFill>
              <a:schemeClr val="accent1"/>
            </a:solidFill>
            <a:prstDash val="solid"/>
          </a:ln>
        </p:spPr>
      </p:sp>
      <p:sp>
        <p:nvSpPr>
          <p:cNvPr id="33" name="Text 33"/>
          <p:cNvSpPr txBox="1"/>
          <p:nvPr/>
        </p:nvSpPr>
        <p:spPr>
          <a:xfrm>
            <a:off x="8567928" y="4617720"/>
            <a:ext cx="1280160" cy="384048"/>
          </a:xfrm>
          <a:prstGeom prst="rect">
            <a:avLst/>
          </a:prstGeom>
          <a:noFill/>
          <a:ln/>
        </p:spPr>
        <p:txBody>
          <a:bodyPr wrap="square" lIns="0" tIns="0" rIns="0" bIns="0" rtlCol="0" anchor="ctr"/>
          <a:lstStyle/>
          <a:p>
            <a:pPr marL="0" indent="0" algn="l">
              <a:buNone/>
            </a:pPr>
            <a:r>
              <a:rPr lang="en-US" sz="2000" b="1" dirty="0">
                <a:solidFill>
                  <a:schemeClr val="accent1"/>
                </a:solidFill>
              </a:rPr>
              <a:t>26</a:t>
            </a:r>
            <a:endParaRPr lang="en-US" sz="1200" dirty="0"/>
          </a:p>
        </p:txBody>
      </p:sp>
      <p:sp>
        <p:nvSpPr>
          <p:cNvPr id="34" name="Text 34"/>
          <p:cNvSpPr txBox="1"/>
          <p:nvPr/>
        </p:nvSpPr>
        <p:spPr>
          <a:xfrm>
            <a:off x="8567928" y="5001768"/>
            <a:ext cx="1280160" cy="274320"/>
          </a:xfrm>
          <a:prstGeom prst="rect">
            <a:avLst/>
          </a:prstGeom>
          <a:noFill/>
          <a:ln/>
        </p:spPr>
        <p:txBody>
          <a:bodyPr wrap="square" lIns="0" tIns="0" rIns="0" bIns="0" rtlCol="0" anchor="ctr"/>
          <a:lstStyle/>
          <a:p>
            <a:pPr marL="0" indent="0" algn="l">
              <a:buNone/>
            </a:pPr>
            <a:r>
              <a:rPr lang="en-US" sz="1100" dirty="0">
                <a:solidFill>
                  <a:schemeClr val="tx1"/>
                </a:solidFill>
              </a:rPr>
              <a:t>Stable core</a:t>
            </a:r>
            <a:endParaRPr lang="en-US" sz="1200" dirty="0"/>
          </a:p>
        </p:txBody>
      </p:sp>
      <p:sp>
        <p:nvSpPr>
          <p:cNvPr id="35" name="Shape 35"/>
          <p:cNvSpPr/>
          <p:nvPr/>
        </p:nvSpPr>
        <p:spPr>
          <a:xfrm>
            <a:off x="10003536" y="4572000"/>
            <a:ext cx="1453896" cy="749808"/>
          </a:xfrm>
          <a:prstGeom prst="roundRect">
            <a:avLst>
              <a:gd name="adj" fmla="val 9000"/>
            </a:avLst>
          </a:prstGeom>
          <a:solidFill>
            <a:srgbClr val="FFFFFF"/>
          </a:solidFill>
          <a:ln w="15875">
            <a:solidFill>
              <a:schemeClr val="accent5"/>
            </a:solidFill>
            <a:prstDash val="solid"/>
          </a:ln>
        </p:spPr>
      </p:sp>
      <p:sp>
        <p:nvSpPr>
          <p:cNvPr id="36" name="Text 36"/>
          <p:cNvSpPr txBox="1"/>
          <p:nvPr/>
        </p:nvSpPr>
        <p:spPr>
          <a:xfrm>
            <a:off x="10094976" y="4617720"/>
            <a:ext cx="1280160" cy="384048"/>
          </a:xfrm>
          <a:prstGeom prst="rect">
            <a:avLst/>
          </a:prstGeom>
          <a:noFill/>
          <a:ln/>
        </p:spPr>
        <p:txBody>
          <a:bodyPr wrap="square" lIns="0" tIns="0" rIns="0" bIns="0" rtlCol="0" anchor="ctr"/>
          <a:lstStyle/>
          <a:p>
            <a:pPr marL="0" indent="0" algn="l">
              <a:buNone/>
            </a:pPr>
            <a:r>
              <a:rPr lang="en-US" sz="2000" b="1" dirty="0">
                <a:solidFill>
                  <a:schemeClr val="accent5"/>
                </a:solidFill>
              </a:rPr>
              <a:t>32</a:t>
            </a:r>
            <a:endParaRPr lang="en-US" sz="1200" dirty="0"/>
          </a:p>
        </p:txBody>
      </p:sp>
      <p:sp>
        <p:nvSpPr>
          <p:cNvPr id="37" name="Text 37"/>
          <p:cNvSpPr txBox="1"/>
          <p:nvPr/>
        </p:nvSpPr>
        <p:spPr>
          <a:xfrm>
            <a:off x="10094976" y="5001768"/>
            <a:ext cx="1280160" cy="274320"/>
          </a:xfrm>
          <a:prstGeom prst="rect">
            <a:avLst/>
          </a:prstGeom>
          <a:noFill/>
          <a:ln/>
        </p:spPr>
        <p:txBody>
          <a:bodyPr wrap="square" lIns="0" tIns="0" rIns="0" bIns="0" rtlCol="0" anchor="ctr"/>
          <a:lstStyle/>
          <a:p>
            <a:pPr marL="0" indent="0" algn="l">
              <a:buNone/>
            </a:pPr>
            <a:r>
              <a:rPr lang="en-US" sz="1100" dirty="0">
                <a:solidFill>
                  <a:schemeClr val="tx1"/>
                </a:solidFill>
              </a:rPr>
              <a:t>Declining</a:t>
            </a:r>
            <a:endParaRPr lang="en-US" sz="1200" dirty="0"/>
          </a:p>
        </p:txBody>
      </p:sp>
      <p:sp>
        <p:nvSpPr>
          <p:cNvPr id="38" name="Shape 38"/>
          <p:cNvSpPr/>
          <p:nvPr/>
        </p:nvSpPr>
        <p:spPr>
          <a:xfrm>
            <a:off x="548640" y="5715000"/>
            <a:ext cx="11091672" cy="384048"/>
          </a:xfrm>
          <a:prstGeom prst="roundRect">
            <a:avLst>
              <a:gd name="adj" fmla="val 20000"/>
            </a:avLst>
          </a:prstGeom>
          <a:solidFill>
            <a:schemeClr val="tx2"/>
          </a:solidFill>
          <a:ln/>
        </p:spPr>
      </p:sp>
      <p:sp>
        <p:nvSpPr>
          <p:cNvPr id="39" name="Text 39"/>
          <p:cNvSpPr txBox="1"/>
          <p:nvPr/>
        </p:nvSpPr>
        <p:spPr>
          <a:xfrm>
            <a:off x="713232" y="5715000"/>
            <a:ext cx="10762488" cy="384048"/>
          </a:xfrm>
          <a:prstGeom prst="rect">
            <a:avLst/>
          </a:prstGeom>
          <a:noFill/>
          <a:ln/>
        </p:spPr>
        <p:txBody>
          <a:bodyPr wrap="square" lIns="0" tIns="0" rIns="0" bIns="0" rtlCol="0" anchor="ctr"/>
          <a:lstStyle/>
          <a:p>
            <a:pPr marL="0" indent="0" algn="l">
              <a:buNone/>
            </a:pPr>
            <a:r>
              <a:rPr lang="en-US" sz="1300" b="1" dirty="0">
                <a:solidFill>
                  <a:srgbClr val="FFFFFF"/>
                </a:solidFill>
              </a:rPr>
              <a:t>Popularity is not growth: trends need dated postings, e.g. a Hive table partitioned by month.</a:t>
            </a:r>
            <a:endParaRPr lang="en-US" sz="1200" dirty="0"/>
          </a:p>
        </p:txBody>
      </p:sp>
      <p:sp>
        <p:nvSpPr>
          <p:cNvPr id="990" name="Slide Number Placeholder 0"/>
          <p:cNvSpPr>
            <a:spLocks noGrp="1"/>
          </p:cNvSpPr>
          <p:nvPr>
            <p:ph type="sldNum" sz="quarter" idx="4294967295"/>
          </p:nvPr>
        </p:nvSpPr>
        <p:spPr>
          <a:xfrm>
            <a:off x="10972800" y="6446520"/>
            <a:ext cx="640080" cy="256032"/>
          </a:xfrm>
          <a:prstGeom prst="rect">
            <a:avLst/>
          </a:prstGeom>
        </p:spPr>
        <p:txBody>
          <a:bodyPr/>
          <a:lstStyle>
            <a:lvl1pPr>
              <a:defRPr sz="1000">
                <a:solidFill>
                  <a:schemeClr val="accent4"/>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TASK 3: DASHBOARD</a:t>
            </a:r>
            <a:endParaRPr lang="en-US" sz="1200" dirty="0"/>
          </a:p>
        </p:txBody>
      </p:sp>
      <p:sp>
        <p:nvSpPr>
          <p:cNvPr id="3" name="Text 0"/>
          <p:cNvSpPr>
            <a:spLocks noGrp="1"/>
          </p:cNvSpPr>
          <p:nvPr>
            <p:ph type="title" idx="100" hasCustomPrompt="1"/>
          </p:nvPr>
        </p:nvSpPr>
        <p:spPr>
          <a:xfrm>
            <a:off x="548640" y="566928"/>
            <a:ext cx="9418320" cy="685800"/>
          </a:xfrm>
          <a:prstGeom prst="rect">
            <a:avLst/>
          </a:prstGeom>
          <a:noFill/>
          <a:ln/>
        </p:spPr>
        <p:txBody>
          <a:bodyPr wrap="square" lIns="0" tIns="0" rIns="0" bIns="0" rtlCol="0" anchor="ctr"/>
          <a:lstStyle/>
          <a:p>
            <a:pPr marL="0" indent="0" algn="l">
              <a:buNone/>
            </a:pPr>
            <a:r>
              <a:rPr lang="en-US" sz="3200" b="1" dirty="0">
                <a:solidFill>
                  <a:schemeClr val="tx2"/>
                </a:solidFill>
              </a:rPr>
              <a:t>Hive Results in the SDVI Dashboard</a:t>
            </a:r>
            <a:endParaRPr lang="en-US" sz="3200" dirty="0"/>
          </a:p>
        </p:txBody>
      </p:sp>
      <p:sp>
        <p:nvSpPr>
          <p:cNvPr id="11" name="UI frame 11"/>
          <p:cNvSpPr/>
          <p:nvPr/>
        </p:nvSpPr>
        <p:spPr>
          <a:xfrm>
            <a:off x="548640" y="1371600"/>
            <a:ext cx="7086600" cy="4114800"/>
          </a:xfrm>
          <a:prstGeom prst="roundRect">
            <a:avLst>
              <a:gd name="adj" fmla="val 2500"/>
            </a:avLst>
          </a:prstGeom>
          <a:solidFill>
            <a:srgbClr val="0A0F1C"/>
          </a:solidFill>
          <a:ln/>
        </p:spPr>
      </p:sp>
      <p:sp>
        <p:nvSpPr>
          <p:cNvPr id="12" name="Text 12"/>
          <p:cNvSpPr txBox="1"/>
          <p:nvPr/>
        </p:nvSpPr>
        <p:spPr>
          <a:xfrm>
            <a:off x="731520" y="1499616"/>
            <a:ext cx="4114800" cy="274320"/>
          </a:xfrm>
          <a:prstGeom prst="rect">
            <a:avLst/>
          </a:prstGeom>
          <a:noFill/>
          <a:ln/>
        </p:spPr>
        <p:txBody>
          <a:bodyPr wrap="square" lIns="0" tIns="0" rIns="0" bIns="0" rtlCol="0" anchor="ctr"/>
          <a:lstStyle/>
          <a:p>
            <a:pPr marL="0" indent="0" algn="l">
              <a:buNone/>
            </a:pPr>
            <a:r>
              <a:rPr lang="en-US" sz="1300" b="1" dirty="0">
                <a:solidFill>
                  <a:srgbClr val="F1F5F9"/>
                </a:solidFill>
              </a:rPr>
              <a:t>JOB MARKET INTELLIGENCE</a:t>
            </a:r>
            <a:endParaRPr lang="en-US" sz="1200" dirty="0"/>
          </a:p>
        </p:txBody>
      </p:sp>
      <p:sp>
        <p:nvSpPr>
          <p:cNvPr id="13" name="Shape 13"/>
          <p:cNvSpPr/>
          <p:nvPr/>
        </p:nvSpPr>
        <p:spPr>
          <a:xfrm>
            <a:off x="3611880" y="1508760"/>
            <a:ext cx="1097280" cy="246888"/>
          </a:xfrm>
          <a:prstGeom prst="roundRect">
            <a:avLst>
              <a:gd name="adj" fmla="val 50000"/>
            </a:avLst>
          </a:prstGeom>
          <a:solidFill>
            <a:srgbClr val="0A2A33"/>
          </a:solidFill>
          <a:ln w="9525">
            <a:solidFill>
              <a:srgbClr val="00F5D4"/>
            </a:solidFill>
            <a:prstDash val="solid"/>
          </a:ln>
        </p:spPr>
      </p:sp>
      <p:sp>
        <p:nvSpPr>
          <p:cNvPr id="14" name="Text 14"/>
          <p:cNvSpPr txBox="1"/>
          <p:nvPr/>
        </p:nvSpPr>
        <p:spPr>
          <a:xfrm>
            <a:off x="3630168" y="1508760"/>
            <a:ext cx="1060704" cy="246888"/>
          </a:xfrm>
          <a:prstGeom prst="rect">
            <a:avLst/>
          </a:prstGeom>
          <a:noFill/>
          <a:ln/>
        </p:spPr>
        <p:txBody>
          <a:bodyPr wrap="square" lIns="0" tIns="0" rIns="0" bIns="0" rtlCol="0" anchor="ctr"/>
          <a:lstStyle/>
          <a:p>
            <a:pPr marL="0" indent="0" algn="ctr">
              <a:buNone/>
            </a:pPr>
            <a:r>
              <a:rPr lang="en-US" sz="1000" b="1" dirty="0">
                <a:solidFill>
                  <a:srgbClr val="00F5D4"/>
                </a:solidFill>
              </a:rPr>
              <a:t>LIVE ENGINE</a:t>
            </a:r>
            <a:endParaRPr lang="en-US" sz="1200" dirty="0"/>
          </a:p>
        </p:txBody>
      </p:sp>
      <p:sp>
        <p:nvSpPr>
          <p:cNvPr id="15" name="Shape 15"/>
          <p:cNvSpPr/>
          <p:nvPr/>
        </p:nvSpPr>
        <p:spPr>
          <a:xfrm>
            <a:off x="5486400" y="1481328"/>
            <a:ext cx="1965960" cy="301752"/>
          </a:xfrm>
          <a:prstGeom prst="roundRect">
            <a:avLst>
              <a:gd name="adj" fmla="val 20000"/>
            </a:avLst>
          </a:prstGeom>
          <a:solidFill>
            <a:srgbClr val="0D1527"/>
          </a:solidFill>
          <a:ln w="9525">
            <a:solidFill>
              <a:srgbClr val="38BDF8"/>
            </a:solidFill>
            <a:prstDash val="solid"/>
          </a:ln>
        </p:spPr>
      </p:sp>
      <p:sp>
        <p:nvSpPr>
          <p:cNvPr id="16" name="Text 16"/>
          <p:cNvSpPr txBox="1"/>
          <p:nvPr/>
        </p:nvSpPr>
        <p:spPr>
          <a:xfrm>
            <a:off x="5522976" y="1481328"/>
            <a:ext cx="1892808" cy="301752"/>
          </a:xfrm>
          <a:prstGeom prst="rect">
            <a:avLst/>
          </a:prstGeom>
          <a:noFill/>
          <a:ln/>
        </p:spPr>
        <p:txBody>
          <a:bodyPr wrap="square" lIns="0" tIns="0" rIns="0" bIns="0" rtlCol="0" anchor="ctr"/>
          <a:lstStyle/>
          <a:p>
            <a:pPr marL="0" indent="0" algn="ctr">
              <a:buNone/>
            </a:pPr>
            <a:r>
              <a:rPr lang="en-US" sz="1050" b="1" dirty="0">
                <a:solidFill>
                  <a:srgbClr val="F1F5F9"/>
                </a:solidFill>
              </a:rPr>
              <a:t>Timeline slice: 2024-06</a:t>
            </a:r>
            <a:endParaRPr lang="en-US" sz="1200" dirty="0"/>
          </a:p>
        </p:txBody>
      </p:sp>
      <p:sp>
        <p:nvSpPr>
          <p:cNvPr id="17" name="Shape 17"/>
          <p:cNvSpPr/>
          <p:nvPr/>
        </p:nvSpPr>
        <p:spPr>
          <a:xfrm>
            <a:off x="731520" y="1938528"/>
            <a:ext cx="1611630" cy="749808"/>
          </a:xfrm>
          <a:prstGeom prst="roundRect">
            <a:avLst>
              <a:gd name="adj" fmla="val 9000"/>
            </a:avLst>
          </a:prstGeom>
          <a:solidFill>
            <a:srgbClr val="111A2E"/>
          </a:solidFill>
          <a:ln w="9525">
            <a:solidFill>
              <a:srgbClr val="00F5D4"/>
            </a:solidFill>
            <a:prstDash val="solid"/>
          </a:ln>
        </p:spPr>
      </p:sp>
      <p:sp>
        <p:nvSpPr>
          <p:cNvPr id="18" name="Text 18"/>
          <p:cNvSpPr txBox="1"/>
          <p:nvPr/>
        </p:nvSpPr>
        <p:spPr>
          <a:xfrm>
            <a:off x="822960" y="1993392"/>
            <a:ext cx="1428750" cy="201168"/>
          </a:xfrm>
          <a:prstGeom prst="rect">
            <a:avLst/>
          </a:prstGeom>
          <a:noFill/>
          <a:ln/>
        </p:spPr>
        <p:txBody>
          <a:bodyPr wrap="square" lIns="0" tIns="0" rIns="0" bIns="0" rtlCol="0" anchor="ctr"/>
          <a:lstStyle/>
          <a:p>
            <a:pPr marL="0" indent="0" algn="l">
              <a:buNone/>
            </a:pPr>
            <a:r>
              <a:rPr lang="en-US" sz="1000" b="1" dirty="0">
                <a:solidFill>
                  <a:srgbClr val="94A3B8"/>
                </a:solidFill>
              </a:rPr>
              <a:t>EMERGING</a:t>
            </a:r>
            <a:endParaRPr lang="en-US" sz="1200" dirty="0"/>
          </a:p>
        </p:txBody>
      </p:sp>
      <p:sp>
        <p:nvSpPr>
          <p:cNvPr id="19" name="Text 19"/>
          <p:cNvSpPr txBox="1"/>
          <p:nvPr/>
        </p:nvSpPr>
        <p:spPr>
          <a:xfrm>
            <a:off x="822960" y="2194560"/>
            <a:ext cx="1428750" cy="457200"/>
          </a:xfrm>
          <a:prstGeom prst="rect">
            <a:avLst/>
          </a:prstGeom>
          <a:noFill/>
          <a:ln/>
        </p:spPr>
        <p:txBody>
          <a:bodyPr wrap="square" lIns="0" tIns="0" rIns="0" bIns="0" rtlCol="0" anchor="ctr"/>
          <a:lstStyle/>
          <a:p>
            <a:pPr marL="0" indent="0" algn="l">
              <a:buNone/>
            </a:pPr>
            <a:r>
              <a:rPr lang="en-US" sz="2400" b="1" dirty="0">
                <a:solidFill>
                  <a:srgbClr val="00F5D4"/>
                </a:solidFill>
              </a:rPr>
              <a:t>26</a:t>
            </a:r>
            <a:endParaRPr lang="en-US" sz="1200" dirty="0"/>
          </a:p>
        </p:txBody>
      </p:sp>
      <p:sp>
        <p:nvSpPr>
          <p:cNvPr id="20" name="Shape 20"/>
          <p:cNvSpPr/>
          <p:nvPr/>
        </p:nvSpPr>
        <p:spPr>
          <a:xfrm>
            <a:off x="2434590" y="1938528"/>
            <a:ext cx="1611630" cy="749808"/>
          </a:xfrm>
          <a:prstGeom prst="roundRect">
            <a:avLst>
              <a:gd name="adj" fmla="val 9000"/>
            </a:avLst>
          </a:prstGeom>
          <a:solidFill>
            <a:srgbClr val="111A2E"/>
          </a:solidFill>
          <a:ln w="9525">
            <a:solidFill>
              <a:srgbClr val="10B981"/>
            </a:solidFill>
            <a:prstDash val="solid"/>
          </a:ln>
        </p:spPr>
      </p:sp>
      <p:sp>
        <p:nvSpPr>
          <p:cNvPr id="21" name="Text 21"/>
          <p:cNvSpPr txBox="1"/>
          <p:nvPr/>
        </p:nvSpPr>
        <p:spPr>
          <a:xfrm>
            <a:off x="2526030" y="1993392"/>
            <a:ext cx="1428750" cy="201168"/>
          </a:xfrm>
          <a:prstGeom prst="rect">
            <a:avLst/>
          </a:prstGeom>
          <a:noFill/>
          <a:ln/>
        </p:spPr>
        <p:txBody>
          <a:bodyPr wrap="square" lIns="0" tIns="0" rIns="0" bIns="0" rtlCol="0" anchor="ctr"/>
          <a:lstStyle/>
          <a:p>
            <a:pPr marL="0" indent="0" algn="l">
              <a:buNone/>
            </a:pPr>
            <a:r>
              <a:rPr lang="en-US" sz="1000" b="1" dirty="0">
                <a:solidFill>
                  <a:srgbClr val="94A3B8"/>
                </a:solidFill>
              </a:rPr>
              <a:t>ESTABLISHED GROWTH</a:t>
            </a:r>
            <a:endParaRPr lang="en-US" sz="1200" dirty="0"/>
          </a:p>
        </p:txBody>
      </p:sp>
      <p:sp>
        <p:nvSpPr>
          <p:cNvPr id="22" name="Text 22"/>
          <p:cNvSpPr txBox="1"/>
          <p:nvPr/>
        </p:nvSpPr>
        <p:spPr>
          <a:xfrm>
            <a:off x="2526030" y="2194560"/>
            <a:ext cx="1428750" cy="457200"/>
          </a:xfrm>
          <a:prstGeom prst="rect">
            <a:avLst/>
          </a:prstGeom>
          <a:noFill/>
          <a:ln/>
        </p:spPr>
        <p:txBody>
          <a:bodyPr wrap="square" lIns="0" tIns="0" rIns="0" bIns="0" rtlCol="0" anchor="ctr"/>
          <a:lstStyle/>
          <a:p>
            <a:pPr marL="0" indent="0" algn="l">
              <a:buNone/>
            </a:pPr>
            <a:r>
              <a:rPr lang="en-US" sz="2400" b="1" dirty="0">
                <a:solidFill>
                  <a:srgbClr val="10B981"/>
                </a:solidFill>
              </a:rPr>
              <a:t>9</a:t>
            </a:r>
            <a:endParaRPr lang="en-US" sz="1200" dirty="0"/>
          </a:p>
        </p:txBody>
      </p:sp>
      <p:sp>
        <p:nvSpPr>
          <p:cNvPr id="23" name="Shape 23"/>
          <p:cNvSpPr/>
          <p:nvPr/>
        </p:nvSpPr>
        <p:spPr>
          <a:xfrm>
            <a:off x="4137660" y="1938528"/>
            <a:ext cx="1611630" cy="749808"/>
          </a:xfrm>
          <a:prstGeom prst="roundRect">
            <a:avLst>
              <a:gd name="adj" fmla="val 9000"/>
            </a:avLst>
          </a:prstGeom>
          <a:solidFill>
            <a:srgbClr val="111A2E"/>
          </a:solidFill>
          <a:ln w="9525">
            <a:solidFill>
              <a:srgbClr val="F59E0B"/>
            </a:solidFill>
            <a:prstDash val="solid"/>
          </a:ln>
        </p:spPr>
      </p:sp>
      <p:sp>
        <p:nvSpPr>
          <p:cNvPr id="24" name="Text 24"/>
          <p:cNvSpPr txBox="1"/>
          <p:nvPr/>
        </p:nvSpPr>
        <p:spPr>
          <a:xfrm>
            <a:off x="4229100" y="1993392"/>
            <a:ext cx="1428750" cy="201168"/>
          </a:xfrm>
          <a:prstGeom prst="rect">
            <a:avLst/>
          </a:prstGeom>
          <a:noFill/>
          <a:ln/>
        </p:spPr>
        <p:txBody>
          <a:bodyPr wrap="square" lIns="0" tIns="0" rIns="0" bIns="0" rtlCol="0" anchor="ctr"/>
          <a:lstStyle/>
          <a:p>
            <a:pPr marL="0" indent="0" algn="l">
              <a:buNone/>
            </a:pPr>
            <a:r>
              <a:rPr lang="en-US" sz="1000" b="1" dirty="0">
                <a:solidFill>
                  <a:srgbClr val="94A3B8"/>
                </a:solidFill>
              </a:rPr>
              <a:t>STABLE TECH CORE</a:t>
            </a:r>
            <a:endParaRPr lang="en-US" sz="1200" dirty="0"/>
          </a:p>
        </p:txBody>
      </p:sp>
      <p:sp>
        <p:nvSpPr>
          <p:cNvPr id="25" name="Text 25"/>
          <p:cNvSpPr txBox="1"/>
          <p:nvPr/>
        </p:nvSpPr>
        <p:spPr>
          <a:xfrm>
            <a:off x="4229100" y="2194560"/>
            <a:ext cx="1428750" cy="457200"/>
          </a:xfrm>
          <a:prstGeom prst="rect">
            <a:avLst/>
          </a:prstGeom>
          <a:noFill/>
          <a:ln/>
        </p:spPr>
        <p:txBody>
          <a:bodyPr wrap="square" lIns="0" tIns="0" rIns="0" bIns="0" rtlCol="0" anchor="ctr"/>
          <a:lstStyle/>
          <a:p>
            <a:pPr marL="0" indent="0" algn="l">
              <a:buNone/>
            </a:pPr>
            <a:r>
              <a:rPr lang="en-US" sz="2400" b="1" dirty="0">
                <a:solidFill>
                  <a:srgbClr val="F59E0B"/>
                </a:solidFill>
              </a:rPr>
              <a:t>26</a:t>
            </a:r>
            <a:endParaRPr lang="en-US" sz="1200" dirty="0"/>
          </a:p>
        </p:txBody>
      </p:sp>
      <p:sp>
        <p:nvSpPr>
          <p:cNvPr id="26" name="Shape 26"/>
          <p:cNvSpPr/>
          <p:nvPr/>
        </p:nvSpPr>
        <p:spPr>
          <a:xfrm>
            <a:off x="5840730" y="1938528"/>
            <a:ext cx="1611630" cy="749808"/>
          </a:xfrm>
          <a:prstGeom prst="roundRect">
            <a:avLst>
              <a:gd name="adj" fmla="val 9000"/>
            </a:avLst>
          </a:prstGeom>
          <a:solidFill>
            <a:srgbClr val="111A2E"/>
          </a:solidFill>
          <a:ln w="9525">
            <a:solidFill>
              <a:srgbClr val="F43F5E"/>
            </a:solidFill>
            <a:prstDash val="solid"/>
          </a:ln>
        </p:spPr>
      </p:sp>
      <p:sp>
        <p:nvSpPr>
          <p:cNvPr id="27" name="Text 27"/>
          <p:cNvSpPr txBox="1"/>
          <p:nvPr/>
        </p:nvSpPr>
        <p:spPr>
          <a:xfrm>
            <a:off x="5932170" y="1993392"/>
            <a:ext cx="1428750" cy="201168"/>
          </a:xfrm>
          <a:prstGeom prst="rect">
            <a:avLst/>
          </a:prstGeom>
          <a:noFill/>
          <a:ln/>
        </p:spPr>
        <p:txBody>
          <a:bodyPr wrap="square" lIns="0" tIns="0" rIns="0" bIns="0" rtlCol="0" anchor="ctr"/>
          <a:lstStyle/>
          <a:p>
            <a:pPr marL="0" indent="0" algn="l">
              <a:buNone/>
            </a:pPr>
            <a:r>
              <a:rPr lang="en-US" sz="1000" b="1" dirty="0">
                <a:solidFill>
                  <a:srgbClr val="94A3B8"/>
                </a:solidFill>
              </a:rPr>
              <a:t>DECLINING / LEGACY</a:t>
            </a:r>
            <a:endParaRPr lang="en-US" sz="1200" dirty="0"/>
          </a:p>
        </p:txBody>
      </p:sp>
      <p:sp>
        <p:nvSpPr>
          <p:cNvPr id="28" name="Text 28"/>
          <p:cNvSpPr txBox="1"/>
          <p:nvPr/>
        </p:nvSpPr>
        <p:spPr>
          <a:xfrm>
            <a:off x="5932170" y="2194560"/>
            <a:ext cx="1428750" cy="457200"/>
          </a:xfrm>
          <a:prstGeom prst="rect">
            <a:avLst/>
          </a:prstGeom>
          <a:noFill/>
          <a:ln/>
        </p:spPr>
        <p:txBody>
          <a:bodyPr wrap="square" lIns="0" tIns="0" rIns="0" bIns="0" rtlCol="0" anchor="ctr"/>
          <a:lstStyle/>
          <a:p>
            <a:pPr marL="0" indent="0" algn="l">
              <a:buNone/>
            </a:pPr>
            <a:r>
              <a:rPr lang="en-US" sz="2400" b="1" dirty="0">
                <a:solidFill>
                  <a:srgbClr val="F43F5E"/>
                </a:solidFill>
              </a:rPr>
              <a:t>32</a:t>
            </a:r>
            <a:endParaRPr lang="en-US" sz="1200" dirty="0"/>
          </a:p>
        </p:txBody>
      </p:sp>
      <p:sp>
        <p:nvSpPr>
          <p:cNvPr id="29" name="Shape 29"/>
          <p:cNvSpPr/>
          <p:nvPr/>
        </p:nvSpPr>
        <p:spPr>
          <a:xfrm>
            <a:off x="731520" y="2834640"/>
            <a:ext cx="4206240" cy="2514600"/>
          </a:xfrm>
          <a:prstGeom prst="roundRect">
            <a:avLst>
              <a:gd name="adj" fmla="val 3500"/>
            </a:avLst>
          </a:prstGeom>
          <a:solidFill>
            <a:srgbClr val="111A2E"/>
          </a:solidFill>
          <a:ln w="9525">
            <a:solidFill>
              <a:srgbClr val="1E3A5F"/>
            </a:solidFill>
            <a:prstDash val="solid"/>
          </a:ln>
        </p:spPr>
      </p:sp>
      <p:sp>
        <p:nvSpPr>
          <p:cNvPr id="30" name="Text 30"/>
          <p:cNvSpPr txBox="1"/>
          <p:nvPr/>
        </p:nvSpPr>
        <p:spPr>
          <a:xfrm>
            <a:off x="868680" y="2926080"/>
            <a:ext cx="3931920" cy="219456"/>
          </a:xfrm>
          <a:prstGeom prst="rect">
            <a:avLst/>
          </a:prstGeom>
          <a:noFill/>
          <a:ln/>
        </p:spPr>
        <p:txBody>
          <a:bodyPr wrap="square" lIns="0" tIns="0" rIns="0" bIns="0" rtlCol="0" anchor="ctr"/>
          <a:lstStyle/>
          <a:p>
            <a:pPr marL="0" indent="0" algn="l">
              <a:buNone/>
            </a:pPr>
            <a:r>
              <a:rPr lang="en-US" sz="1050" b="1" dirty="0">
                <a:solidFill>
                  <a:srgbClr val="F1F5F9"/>
                </a:solidFill>
              </a:rPr>
              <a:t>SDVI QUADRANT MATRIX</a:t>
            </a:r>
            <a:r>
              <a:rPr lang="en-US" sz="1000" dirty="0">
                <a:solidFill>
                  <a:srgbClr val="94A3B8"/>
                </a:solidFill>
              </a:rPr>
              <a:t>   log mentions vs SDVI</a:t>
            </a:r>
            <a:endParaRPr lang="en-US" sz="1200" dirty="0"/>
          </a:p>
        </p:txBody>
      </p:sp>
      <p:sp>
        <p:nvSpPr>
          <p:cNvPr id="31" name="Shape 31"/>
          <p:cNvSpPr/>
          <p:nvPr/>
        </p:nvSpPr>
        <p:spPr>
          <a:xfrm>
            <a:off x="1051560" y="4892040"/>
            <a:ext cx="3703320" cy="9144"/>
          </a:xfrm>
          <a:prstGeom prst="rect">
            <a:avLst/>
          </a:prstGeom>
          <a:solidFill>
            <a:srgbClr val="334155"/>
          </a:solidFill>
          <a:ln/>
        </p:spPr>
      </p:sp>
      <p:sp>
        <p:nvSpPr>
          <p:cNvPr id="32" name="Shape 32"/>
          <p:cNvSpPr/>
          <p:nvPr/>
        </p:nvSpPr>
        <p:spPr>
          <a:xfrm>
            <a:off x="1051560" y="4522568"/>
            <a:ext cx="3703320" cy="9144"/>
          </a:xfrm>
          <a:prstGeom prst="rect">
            <a:avLst/>
          </a:prstGeom>
          <a:solidFill>
            <a:srgbClr val="475569"/>
          </a:solidFill>
          <a:ln/>
        </p:spPr>
      </p:sp>
      <p:sp>
        <p:nvSpPr>
          <p:cNvPr id="33" name="Shape 33"/>
          <p:cNvSpPr/>
          <p:nvPr/>
        </p:nvSpPr>
        <p:spPr>
          <a:xfrm>
            <a:off x="1051560" y="3246120"/>
            <a:ext cx="9144" cy="1645920"/>
          </a:xfrm>
          <a:prstGeom prst="rect">
            <a:avLst/>
          </a:prstGeom>
          <a:solidFill>
            <a:srgbClr val="334155"/>
          </a:solidFill>
          <a:ln/>
        </p:spPr>
      </p:sp>
      <p:sp>
        <p:nvSpPr>
          <p:cNvPr id="34" name="Shape 34"/>
          <p:cNvSpPr/>
          <p:nvPr/>
        </p:nvSpPr>
        <p:spPr>
          <a:xfrm>
            <a:off x="1401742" y="4582674"/>
            <a:ext cx="91440" cy="91440"/>
          </a:xfrm>
          <a:prstGeom prst="ellipse">
            <a:avLst/>
          </a:prstGeom>
          <a:solidFill>
            <a:srgbClr val="F43F5E"/>
          </a:solidFill>
          <a:ln/>
        </p:spPr>
      </p:sp>
      <p:sp>
        <p:nvSpPr>
          <p:cNvPr id="35" name="Shape 35"/>
          <p:cNvSpPr/>
          <p:nvPr/>
        </p:nvSpPr>
        <p:spPr>
          <a:xfrm>
            <a:off x="1401742" y="4635587"/>
            <a:ext cx="91440" cy="91440"/>
          </a:xfrm>
          <a:prstGeom prst="ellipse">
            <a:avLst/>
          </a:prstGeom>
          <a:solidFill>
            <a:srgbClr val="F43F5E"/>
          </a:solidFill>
          <a:ln/>
        </p:spPr>
      </p:sp>
      <p:sp>
        <p:nvSpPr>
          <p:cNvPr id="36" name="Shape 36"/>
          <p:cNvSpPr/>
          <p:nvPr/>
        </p:nvSpPr>
        <p:spPr>
          <a:xfrm>
            <a:off x="1401742" y="4635587"/>
            <a:ext cx="91440" cy="91440"/>
          </a:xfrm>
          <a:prstGeom prst="ellipse">
            <a:avLst/>
          </a:prstGeom>
          <a:solidFill>
            <a:srgbClr val="F43F5E"/>
          </a:solidFill>
          <a:ln/>
        </p:spPr>
      </p:sp>
      <p:sp>
        <p:nvSpPr>
          <p:cNvPr id="37" name="Shape 37"/>
          <p:cNvSpPr/>
          <p:nvPr/>
        </p:nvSpPr>
        <p:spPr>
          <a:xfrm>
            <a:off x="1633330" y="4141415"/>
            <a:ext cx="91440" cy="91440"/>
          </a:xfrm>
          <a:prstGeom prst="ellipse">
            <a:avLst/>
          </a:prstGeom>
          <a:solidFill>
            <a:srgbClr val="00F5D4"/>
          </a:solidFill>
          <a:ln/>
        </p:spPr>
      </p:sp>
      <p:sp>
        <p:nvSpPr>
          <p:cNvPr id="38" name="Shape 38"/>
          <p:cNvSpPr/>
          <p:nvPr/>
        </p:nvSpPr>
        <p:spPr>
          <a:xfrm>
            <a:off x="1633330" y="4141415"/>
            <a:ext cx="91440" cy="91440"/>
          </a:xfrm>
          <a:prstGeom prst="ellipse">
            <a:avLst/>
          </a:prstGeom>
          <a:solidFill>
            <a:srgbClr val="00F5D4"/>
          </a:solidFill>
          <a:ln/>
        </p:spPr>
      </p:sp>
      <p:sp>
        <p:nvSpPr>
          <p:cNvPr id="39" name="Shape 39"/>
          <p:cNvSpPr/>
          <p:nvPr/>
        </p:nvSpPr>
        <p:spPr>
          <a:xfrm>
            <a:off x="1633330" y="4141415"/>
            <a:ext cx="91440" cy="91440"/>
          </a:xfrm>
          <a:prstGeom prst="ellipse">
            <a:avLst/>
          </a:prstGeom>
          <a:solidFill>
            <a:srgbClr val="00F5D4"/>
          </a:solidFill>
          <a:ln/>
        </p:spPr>
      </p:sp>
      <p:sp>
        <p:nvSpPr>
          <p:cNvPr id="40" name="Shape 40"/>
          <p:cNvSpPr/>
          <p:nvPr/>
        </p:nvSpPr>
        <p:spPr>
          <a:xfrm>
            <a:off x="1633330" y="4716438"/>
            <a:ext cx="91440" cy="91440"/>
          </a:xfrm>
          <a:prstGeom prst="ellipse">
            <a:avLst/>
          </a:prstGeom>
          <a:solidFill>
            <a:srgbClr val="F43F5E"/>
          </a:solidFill>
          <a:ln/>
        </p:spPr>
      </p:sp>
      <p:sp>
        <p:nvSpPr>
          <p:cNvPr id="41" name="Shape 41"/>
          <p:cNvSpPr/>
          <p:nvPr/>
        </p:nvSpPr>
        <p:spPr>
          <a:xfrm>
            <a:off x="1797644" y="3630297"/>
            <a:ext cx="91440" cy="91440"/>
          </a:xfrm>
          <a:prstGeom prst="ellipse">
            <a:avLst/>
          </a:prstGeom>
          <a:solidFill>
            <a:srgbClr val="00F5D4"/>
          </a:solidFill>
          <a:ln/>
        </p:spPr>
      </p:sp>
      <p:sp>
        <p:nvSpPr>
          <p:cNvPr id="42" name="Shape 42"/>
          <p:cNvSpPr/>
          <p:nvPr/>
        </p:nvSpPr>
        <p:spPr>
          <a:xfrm>
            <a:off x="1797644" y="4582674"/>
            <a:ext cx="91440" cy="91440"/>
          </a:xfrm>
          <a:prstGeom prst="ellipse">
            <a:avLst/>
          </a:prstGeom>
          <a:solidFill>
            <a:srgbClr val="F43F5E"/>
          </a:solidFill>
          <a:ln/>
        </p:spPr>
      </p:sp>
      <p:sp>
        <p:nvSpPr>
          <p:cNvPr id="43" name="Shape 43"/>
          <p:cNvSpPr/>
          <p:nvPr/>
        </p:nvSpPr>
        <p:spPr>
          <a:xfrm>
            <a:off x="1797644" y="4582674"/>
            <a:ext cx="91440" cy="91440"/>
          </a:xfrm>
          <a:prstGeom prst="ellipse">
            <a:avLst/>
          </a:prstGeom>
          <a:solidFill>
            <a:srgbClr val="F43F5E"/>
          </a:solidFill>
          <a:ln/>
        </p:spPr>
      </p:sp>
      <p:sp>
        <p:nvSpPr>
          <p:cNvPr id="44" name="Shape 44"/>
          <p:cNvSpPr/>
          <p:nvPr/>
        </p:nvSpPr>
        <p:spPr>
          <a:xfrm>
            <a:off x="1797644" y="4646152"/>
            <a:ext cx="91440" cy="91440"/>
          </a:xfrm>
          <a:prstGeom prst="ellipse">
            <a:avLst/>
          </a:prstGeom>
          <a:solidFill>
            <a:srgbClr val="F43F5E"/>
          </a:solidFill>
          <a:ln/>
        </p:spPr>
      </p:sp>
      <p:sp>
        <p:nvSpPr>
          <p:cNvPr id="45" name="Shape 45"/>
          <p:cNvSpPr/>
          <p:nvPr/>
        </p:nvSpPr>
        <p:spPr>
          <a:xfrm>
            <a:off x="1797644" y="4646152"/>
            <a:ext cx="91440" cy="91440"/>
          </a:xfrm>
          <a:prstGeom prst="ellipse">
            <a:avLst/>
          </a:prstGeom>
          <a:solidFill>
            <a:srgbClr val="F43F5E"/>
          </a:solidFill>
          <a:ln/>
        </p:spPr>
      </p:sp>
      <p:sp>
        <p:nvSpPr>
          <p:cNvPr id="46" name="Shape 46"/>
          <p:cNvSpPr/>
          <p:nvPr/>
        </p:nvSpPr>
        <p:spPr>
          <a:xfrm>
            <a:off x="1925097" y="4313070"/>
            <a:ext cx="91440" cy="91440"/>
          </a:xfrm>
          <a:prstGeom prst="ellipse">
            <a:avLst/>
          </a:prstGeom>
          <a:solidFill>
            <a:srgbClr val="00F5D4"/>
          </a:solidFill>
          <a:ln/>
        </p:spPr>
      </p:sp>
      <p:sp>
        <p:nvSpPr>
          <p:cNvPr id="47" name="Shape 47"/>
          <p:cNvSpPr/>
          <p:nvPr/>
        </p:nvSpPr>
        <p:spPr>
          <a:xfrm>
            <a:off x="1925097" y="4575132"/>
            <a:ext cx="91440" cy="91440"/>
          </a:xfrm>
          <a:prstGeom prst="ellipse">
            <a:avLst/>
          </a:prstGeom>
          <a:solidFill>
            <a:srgbClr val="F43F5E"/>
          </a:solidFill>
          <a:ln/>
        </p:spPr>
      </p:sp>
      <p:sp>
        <p:nvSpPr>
          <p:cNvPr id="48" name="Shape 48"/>
          <p:cNvSpPr/>
          <p:nvPr/>
        </p:nvSpPr>
        <p:spPr>
          <a:xfrm>
            <a:off x="1925097" y="4722545"/>
            <a:ext cx="91440" cy="91440"/>
          </a:xfrm>
          <a:prstGeom prst="ellipse">
            <a:avLst/>
          </a:prstGeom>
          <a:solidFill>
            <a:srgbClr val="F43F5E"/>
          </a:solidFill>
          <a:ln/>
        </p:spPr>
      </p:sp>
      <p:sp>
        <p:nvSpPr>
          <p:cNvPr id="49" name="Shape 49"/>
          <p:cNvSpPr/>
          <p:nvPr/>
        </p:nvSpPr>
        <p:spPr>
          <a:xfrm>
            <a:off x="2029232" y="4112103"/>
            <a:ext cx="91440" cy="91440"/>
          </a:xfrm>
          <a:prstGeom prst="ellipse">
            <a:avLst/>
          </a:prstGeom>
          <a:solidFill>
            <a:srgbClr val="00F5D4"/>
          </a:solidFill>
          <a:ln/>
        </p:spPr>
      </p:sp>
      <p:sp>
        <p:nvSpPr>
          <p:cNvPr id="50" name="Shape 50"/>
          <p:cNvSpPr/>
          <p:nvPr/>
        </p:nvSpPr>
        <p:spPr>
          <a:xfrm>
            <a:off x="2029232" y="4476848"/>
            <a:ext cx="91440" cy="91440"/>
          </a:xfrm>
          <a:prstGeom prst="ellipse">
            <a:avLst/>
          </a:prstGeom>
          <a:solidFill>
            <a:srgbClr val="F59E0B"/>
          </a:solidFill>
          <a:ln/>
        </p:spPr>
      </p:sp>
      <p:sp>
        <p:nvSpPr>
          <p:cNvPr id="51" name="Shape 51"/>
          <p:cNvSpPr/>
          <p:nvPr/>
        </p:nvSpPr>
        <p:spPr>
          <a:xfrm>
            <a:off x="2029232" y="4719980"/>
            <a:ext cx="91440" cy="91440"/>
          </a:xfrm>
          <a:prstGeom prst="ellipse">
            <a:avLst/>
          </a:prstGeom>
          <a:solidFill>
            <a:srgbClr val="F43F5E"/>
          </a:solidFill>
          <a:ln/>
        </p:spPr>
      </p:sp>
      <p:sp>
        <p:nvSpPr>
          <p:cNvPr id="52" name="Shape 52"/>
          <p:cNvSpPr/>
          <p:nvPr/>
        </p:nvSpPr>
        <p:spPr>
          <a:xfrm>
            <a:off x="2117278" y="3288574"/>
            <a:ext cx="91440" cy="91440"/>
          </a:xfrm>
          <a:prstGeom prst="ellipse">
            <a:avLst/>
          </a:prstGeom>
          <a:solidFill>
            <a:srgbClr val="00F5D4"/>
          </a:solidFill>
          <a:ln/>
        </p:spPr>
      </p:sp>
      <p:sp>
        <p:nvSpPr>
          <p:cNvPr id="53" name="Shape 53"/>
          <p:cNvSpPr/>
          <p:nvPr/>
        </p:nvSpPr>
        <p:spPr>
          <a:xfrm>
            <a:off x="2193547" y="4222876"/>
            <a:ext cx="91440" cy="91440"/>
          </a:xfrm>
          <a:prstGeom prst="ellipse">
            <a:avLst/>
          </a:prstGeom>
          <a:solidFill>
            <a:srgbClr val="00F5D4"/>
          </a:solidFill>
          <a:ln/>
        </p:spPr>
      </p:sp>
      <p:sp>
        <p:nvSpPr>
          <p:cNvPr id="54" name="Shape 54"/>
          <p:cNvSpPr/>
          <p:nvPr/>
        </p:nvSpPr>
        <p:spPr>
          <a:xfrm>
            <a:off x="2193547" y="4222876"/>
            <a:ext cx="91440" cy="91440"/>
          </a:xfrm>
          <a:prstGeom prst="ellipse">
            <a:avLst/>
          </a:prstGeom>
          <a:solidFill>
            <a:srgbClr val="00F5D4"/>
          </a:solidFill>
          <a:ln/>
        </p:spPr>
      </p:sp>
      <p:sp>
        <p:nvSpPr>
          <p:cNvPr id="55" name="Shape 55"/>
          <p:cNvSpPr/>
          <p:nvPr/>
        </p:nvSpPr>
        <p:spPr>
          <a:xfrm>
            <a:off x="2260820" y="4253256"/>
            <a:ext cx="91440" cy="91440"/>
          </a:xfrm>
          <a:prstGeom prst="ellipse">
            <a:avLst/>
          </a:prstGeom>
          <a:solidFill>
            <a:srgbClr val="00F5D4"/>
          </a:solidFill>
          <a:ln/>
        </p:spPr>
      </p:sp>
      <p:sp>
        <p:nvSpPr>
          <p:cNvPr id="56" name="Shape 56"/>
          <p:cNvSpPr/>
          <p:nvPr/>
        </p:nvSpPr>
        <p:spPr>
          <a:xfrm>
            <a:off x="2260820" y="4476848"/>
            <a:ext cx="91440" cy="91440"/>
          </a:xfrm>
          <a:prstGeom prst="ellipse">
            <a:avLst/>
          </a:prstGeom>
          <a:solidFill>
            <a:srgbClr val="F59E0B"/>
          </a:solidFill>
          <a:ln/>
        </p:spPr>
      </p:sp>
      <p:sp>
        <p:nvSpPr>
          <p:cNvPr id="57" name="Shape 57"/>
          <p:cNvSpPr/>
          <p:nvPr/>
        </p:nvSpPr>
        <p:spPr>
          <a:xfrm>
            <a:off x="2320999" y="4276003"/>
            <a:ext cx="91440" cy="91440"/>
          </a:xfrm>
          <a:prstGeom prst="ellipse">
            <a:avLst/>
          </a:prstGeom>
          <a:solidFill>
            <a:srgbClr val="00F5D4"/>
          </a:solidFill>
          <a:ln/>
        </p:spPr>
      </p:sp>
      <p:sp>
        <p:nvSpPr>
          <p:cNvPr id="58" name="Shape 58"/>
          <p:cNvSpPr/>
          <p:nvPr/>
        </p:nvSpPr>
        <p:spPr>
          <a:xfrm>
            <a:off x="2320999" y="4476848"/>
            <a:ext cx="91440" cy="91440"/>
          </a:xfrm>
          <a:prstGeom prst="ellipse">
            <a:avLst/>
          </a:prstGeom>
          <a:solidFill>
            <a:srgbClr val="F59E0B"/>
          </a:solidFill>
          <a:ln/>
        </p:spPr>
      </p:sp>
      <p:sp>
        <p:nvSpPr>
          <p:cNvPr id="59" name="Shape 59"/>
          <p:cNvSpPr/>
          <p:nvPr/>
        </p:nvSpPr>
        <p:spPr>
          <a:xfrm>
            <a:off x="2320999" y="4547164"/>
            <a:ext cx="91440" cy="91440"/>
          </a:xfrm>
          <a:prstGeom prst="ellipse">
            <a:avLst/>
          </a:prstGeom>
          <a:solidFill>
            <a:srgbClr val="F43F5E"/>
          </a:solidFill>
          <a:ln/>
        </p:spPr>
      </p:sp>
      <p:sp>
        <p:nvSpPr>
          <p:cNvPr id="60" name="Shape 60"/>
          <p:cNvSpPr/>
          <p:nvPr/>
        </p:nvSpPr>
        <p:spPr>
          <a:xfrm>
            <a:off x="2320999" y="4547164"/>
            <a:ext cx="91440" cy="91440"/>
          </a:xfrm>
          <a:prstGeom prst="ellipse">
            <a:avLst/>
          </a:prstGeom>
          <a:solidFill>
            <a:srgbClr val="F43F5E"/>
          </a:solidFill>
          <a:ln/>
        </p:spPr>
      </p:sp>
      <p:sp>
        <p:nvSpPr>
          <p:cNvPr id="61" name="Shape 61"/>
          <p:cNvSpPr/>
          <p:nvPr/>
        </p:nvSpPr>
        <p:spPr>
          <a:xfrm>
            <a:off x="2320999" y="4693172"/>
            <a:ext cx="91440" cy="91440"/>
          </a:xfrm>
          <a:prstGeom prst="ellipse">
            <a:avLst/>
          </a:prstGeom>
          <a:solidFill>
            <a:srgbClr val="F43F5E"/>
          </a:solidFill>
          <a:ln/>
        </p:spPr>
      </p:sp>
      <p:sp>
        <p:nvSpPr>
          <p:cNvPr id="62" name="Shape 62"/>
          <p:cNvSpPr/>
          <p:nvPr/>
        </p:nvSpPr>
        <p:spPr>
          <a:xfrm>
            <a:off x="2375437" y="4476848"/>
            <a:ext cx="91440" cy="91440"/>
          </a:xfrm>
          <a:prstGeom prst="ellipse">
            <a:avLst/>
          </a:prstGeom>
          <a:solidFill>
            <a:srgbClr val="F59E0B"/>
          </a:solidFill>
          <a:ln/>
        </p:spPr>
      </p:sp>
      <p:sp>
        <p:nvSpPr>
          <p:cNvPr id="63" name="Shape 63"/>
          <p:cNvSpPr/>
          <p:nvPr/>
        </p:nvSpPr>
        <p:spPr>
          <a:xfrm>
            <a:off x="2425135" y="4043313"/>
            <a:ext cx="91440" cy="91440"/>
          </a:xfrm>
          <a:prstGeom prst="ellipse">
            <a:avLst/>
          </a:prstGeom>
          <a:solidFill>
            <a:srgbClr val="00F5D4"/>
          </a:solidFill>
          <a:ln/>
        </p:spPr>
      </p:sp>
      <p:sp>
        <p:nvSpPr>
          <p:cNvPr id="64" name="Shape 64"/>
          <p:cNvSpPr/>
          <p:nvPr/>
        </p:nvSpPr>
        <p:spPr>
          <a:xfrm>
            <a:off x="2425135" y="4308276"/>
            <a:ext cx="91440" cy="91440"/>
          </a:xfrm>
          <a:prstGeom prst="ellipse">
            <a:avLst/>
          </a:prstGeom>
          <a:solidFill>
            <a:srgbClr val="00F5D4"/>
          </a:solidFill>
          <a:ln/>
        </p:spPr>
      </p:sp>
      <p:sp>
        <p:nvSpPr>
          <p:cNvPr id="65" name="Shape 65"/>
          <p:cNvSpPr/>
          <p:nvPr/>
        </p:nvSpPr>
        <p:spPr>
          <a:xfrm>
            <a:off x="2470852" y="4215823"/>
            <a:ext cx="91440" cy="91440"/>
          </a:xfrm>
          <a:prstGeom prst="ellipse">
            <a:avLst/>
          </a:prstGeom>
          <a:solidFill>
            <a:srgbClr val="00F5D4"/>
          </a:solidFill>
          <a:ln/>
        </p:spPr>
      </p:sp>
      <p:sp>
        <p:nvSpPr>
          <p:cNvPr id="66" name="Shape 66"/>
          <p:cNvSpPr/>
          <p:nvPr/>
        </p:nvSpPr>
        <p:spPr>
          <a:xfrm>
            <a:off x="2470852" y="4537058"/>
            <a:ext cx="91440" cy="91440"/>
          </a:xfrm>
          <a:prstGeom prst="ellipse">
            <a:avLst/>
          </a:prstGeom>
          <a:solidFill>
            <a:srgbClr val="F59E0B"/>
          </a:solidFill>
          <a:ln/>
        </p:spPr>
      </p:sp>
      <p:sp>
        <p:nvSpPr>
          <p:cNvPr id="67" name="Shape 67"/>
          <p:cNvSpPr/>
          <p:nvPr/>
        </p:nvSpPr>
        <p:spPr>
          <a:xfrm>
            <a:off x="2470852" y="4588750"/>
            <a:ext cx="91440" cy="91440"/>
          </a:xfrm>
          <a:prstGeom prst="ellipse">
            <a:avLst/>
          </a:prstGeom>
          <a:solidFill>
            <a:srgbClr val="F43F5E"/>
          </a:solidFill>
          <a:ln/>
        </p:spPr>
      </p:sp>
      <p:sp>
        <p:nvSpPr>
          <p:cNvPr id="68" name="Shape 68"/>
          <p:cNvSpPr/>
          <p:nvPr/>
        </p:nvSpPr>
        <p:spPr>
          <a:xfrm>
            <a:off x="2470852" y="4633481"/>
            <a:ext cx="91440" cy="91440"/>
          </a:xfrm>
          <a:prstGeom prst="ellipse">
            <a:avLst/>
          </a:prstGeom>
          <a:solidFill>
            <a:srgbClr val="F43F5E"/>
          </a:solidFill>
          <a:ln/>
        </p:spPr>
      </p:sp>
      <p:sp>
        <p:nvSpPr>
          <p:cNvPr id="69" name="Shape 69"/>
          <p:cNvSpPr/>
          <p:nvPr/>
        </p:nvSpPr>
        <p:spPr>
          <a:xfrm>
            <a:off x="2589449" y="4476848"/>
            <a:ext cx="91440" cy="91440"/>
          </a:xfrm>
          <a:prstGeom prst="ellipse">
            <a:avLst/>
          </a:prstGeom>
          <a:solidFill>
            <a:srgbClr val="F59E0B"/>
          </a:solidFill>
          <a:ln/>
        </p:spPr>
      </p:sp>
      <p:sp>
        <p:nvSpPr>
          <p:cNvPr id="70" name="Shape 70"/>
          <p:cNvSpPr/>
          <p:nvPr/>
        </p:nvSpPr>
        <p:spPr>
          <a:xfrm>
            <a:off x="2589449" y="4476848"/>
            <a:ext cx="91440" cy="91440"/>
          </a:xfrm>
          <a:prstGeom prst="ellipse">
            <a:avLst/>
          </a:prstGeom>
          <a:solidFill>
            <a:srgbClr val="F59E0B"/>
          </a:solidFill>
          <a:ln/>
        </p:spPr>
      </p:sp>
      <p:sp>
        <p:nvSpPr>
          <p:cNvPr id="71" name="Shape 71"/>
          <p:cNvSpPr/>
          <p:nvPr/>
        </p:nvSpPr>
        <p:spPr>
          <a:xfrm>
            <a:off x="2624076" y="4527715"/>
            <a:ext cx="91440" cy="91440"/>
          </a:xfrm>
          <a:prstGeom prst="ellipse">
            <a:avLst/>
          </a:prstGeom>
          <a:solidFill>
            <a:srgbClr val="F59E0B"/>
          </a:solidFill>
          <a:ln/>
        </p:spPr>
      </p:sp>
      <p:sp>
        <p:nvSpPr>
          <p:cNvPr id="72" name="Shape 72"/>
          <p:cNvSpPr/>
          <p:nvPr/>
        </p:nvSpPr>
        <p:spPr>
          <a:xfrm>
            <a:off x="2656723" y="4644961"/>
            <a:ext cx="91440" cy="91440"/>
          </a:xfrm>
          <a:prstGeom prst="ellipse">
            <a:avLst/>
          </a:prstGeom>
          <a:solidFill>
            <a:srgbClr val="F43F5E"/>
          </a:solidFill>
          <a:ln/>
        </p:spPr>
      </p:sp>
      <p:sp>
        <p:nvSpPr>
          <p:cNvPr id="73" name="Shape 73"/>
          <p:cNvSpPr/>
          <p:nvPr/>
        </p:nvSpPr>
        <p:spPr>
          <a:xfrm>
            <a:off x="2687604" y="4220006"/>
            <a:ext cx="91440" cy="91440"/>
          </a:xfrm>
          <a:prstGeom prst="ellipse">
            <a:avLst/>
          </a:prstGeom>
          <a:solidFill>
            <a:srgbClr val="00F5D4"/>
          </a:solidFill>
          <a:ln/>
        </p:spPr>
      </p:sp>
      <p:sp>
        <p:nvSpPr>
          <p:cNvPr id="74" name="Shape 74"/>
          <p:cNvSpPr/>
          <p:nvPr/>
        </p:nvSpPr>
        <p:spPr>
          <a:xfrm>
            <a:off x="2687604" y="4640289"/>
            <a:ext cx="91440" cy="91440"/>
          </a:xfrm>
          <a:prstGeom prst="ellipse">
            <a:avLst/>
          </a:prstGeom>
          <a:solidFill>
            <a:srgbClr val="F43F5E"/>
          </a:solidFill>
          <a:ln/>
        </p:spPr>
      </p:sp>
      <p:sp>
        <p:nvSpPr>
          <p:cNvPr id="75" name="Shape 75"/>
          <p:cNvSpPr/>
          <p:nvPr/>
        </p:nvSpPr>
        <p:spPr>
          <a:xfrm>
            <a:off x="2716901" y="4425980"/>
            <a:ext cx="91440" cy="91440"/>
          </a:xfrm>
          <a:prstGeom prst="ellipse">
            <a:avLst/>
          </a:prstGeom>
          <a:solidFill>
            <a:srgbClr val="F59E0B"/>
          </a:solidFill>
          <a:ln/>
        </p:spPr>
      </p:sp>
      <p:sp>
        <p:nvSpPr>
          <p:cNvPr id="76" name="Shape 76"/>
          <p:cNvSpPr/>
          <p:nvPr/>
        </p:nvSpPr>
        <p:spPr>
          <a:xfrm>
            <a:off x="2744768" y="4598063"/>
            <a:ext cx="91440" cy="91440"/>
          </a:xfrm>
          <a:prstGeom prst="ellipse">
            <a:avLst/>
          </a:prstGeom>
          <a:solidFill>
            <a:srgbClr val="F43F5E"/>
          </a:solidFill>
          <a:ln/>
        </p:spPr>
      </p:sp>
      <p:sp>
        <p:nvSpPr>
          <p:cNvPr id="77" name="Shape 77"/>
          <p:cNvSpPr/>
          <p:nvPr/>
        </p:nvSpPr>
        <p:spPr>
          <a:xfrm>
            <a:off x="2771339" y="4099341"/>
            <a:ext cx="91440" cy="91440"/>
          </a:xfrm>
          <a:prstGeom prst="ellipse">
            <a:avLst/>
          </a:prstGeom>
          <a:solidFill>
            <a:srgbClr val="00F5D4"/>
          </a:solidFill>
          <a:ln/>
        </p:spPr>
      </p:sp>
      <p:sp>
        <p:nvSpPr>
          <p:cNvPr id="78" name="Shape 78"/>
          <p:cNvSpPr/>
          <p:nvPr/>
        </p:nvSpPr>
        <p:spPr>
          <a:xfrm>
            <a:off x="2771339" y="4476848"/>
            <a:ext cx="91440" cy="91440"/>
          </a:xfrm>
          <a:prstGeom prst="ellipse">
            <a:avLst/>
          </a:prstGeom>
          <a:solidFill>
            <a:srgbClr val="F59E0B"/>
          </a:solidFill>
          <a:ln/>
        </p:spPr>
      </p:sp>
      <p:sp>
        <p:nvSpPr>
          <p:cNvPr id="79" name="Shape 79"/>
          <p:cNvSpPr/>
          <p:nvPr/>
        </p:nvSpPr>
        <p:spPr>
          <a:xfrm>
            <a:off x="2771339" y="4558950"/>
            <a:ext cx="91440" cy="91440"/>
          </a:xfrm>
          <a:prstGeom prst="ellipse">
            <a:avLst/>
          </a:prstGeom>
          <a:solidFill>
            <a:srgbClr val="F43F5E"/>
          </a:solidFill>
          <a:ln/>
        </p:spPr>
      </p:sp>
      <p:sp>
        <p:nvSpPr>
          <p:cNvPr id="80" name="Shape 80"/>
          <p:cNvSpPr/>
          <p:nvPr/>
        </p:nvSpPr>
        <p:spPr>
          <a:xfrm>
            <a:off x="2844353" y="4586033"/>
            <a:ext cx="91440" cy="91440"/>
          </a:xfrm>
          <a:prstGeom prst="ellipse">
            <a:avLst/>
          </a:prstGeom>
          <a:solidFill>
            <a:srgbClr val="F43F5E"/>
          </a:solidFill>
          <a:ln/>
        </p:spPr>
      </p:sp>
      <p:sp>
        <p:nvSpPr>
          <p:cNvPr id="81" name="Shape 81"/>
          <p:cNvSpPr/>
          <p:nvPr/>
        </p:nvSpPr>
        <p:spPr>
          <a:xfrm>
            <a:off x="2866755" y="4228158"/>
            <a:ext cx="91440" cy="91440"/>
          </a:xfrm>
          <a:prstGeom prst="ellipse">
            <a:avLst/>
          </a:prstGeom>
          <a:solidFill>
            <a:srgbClr val="00F5D4"/>
          </a:solidFill>
          <a:ln/>
        </p:spPr>
      </p:sp>
      <p:sp>
        <p:nvSpPr>
          <p:cNvPr id="82" name="Shape 82"/>
          <p:cNvSpPr/>
          <p:nvPr/>
        </p:nvSpPr>
        <p:spPr>
          <a:xfrm>
            <a:off x="2888311" y="3847904"/>
            <a:ext cx="91440" cy="91440"/>
          </a:xfrm>
          <a:prstGeom prst="ellipse">
            <a:avLst/>
          </a:prstGeom>
          <a:solidFill>
            <a:srgbClr val="00F5D4"/>
          </a:solidFill>
          <a:ln/>
        </p:spPr>
      </p:sp>
      <p:sp>
        <p:nvSpPr>
          <p:cNvPr id="83" name="Shape 83"/>
          <p:cNvSpPr/>
          <p:nvPr/>
        </p:nvSpPr>
        <p:spPr>
          <a:xfrm>
            <a:off x="2888311" y="4580903"/>
            <a:ext cx="91440" cy="91440"/>
          </a:xfrm>
          <a:prstGeom prst="ellipse">
            <a:avLst/>
          </a:prstGeom>
          <a:solidFill>
            <a:srgbClr val="F43F5E"/>
          </a:solidFill>
          <a:ln/>
        </p:spPr>
      </p:sp>
      <p:sp>
        <p:nvSpPr>
          <p:cNvPr id="84" name="Shape 84"/>
          <p:cNvSpPr/>
          <p:nvPr/>
        </p:nvSpPr>
        <p:spPr>
          <a:xfrm>
            <a:off x="2929126" y="4253317"/>
            <a:ext cx="91440" cy="91440"/>
          </a:xfrm>
          <a:prstGeom prst="ellipse">
            <a:avLst/>
          </a:prstGeom>
          <a:solidFill>
            <a:srgbClr val="00F5D4"/>
          </a:solidFill>
          <a:ln/>
        </p:spPr>
      </p:sp>
      <p:sp>
        <p:nvSpPr>
          <p:cNvPr id="85" name="Shape 85"/>
          <p:cNvSpPr/>
          <p:nvPr/>
        </p:nvSpPr>
        <p:spPr>
          <a:xfrm>
            <a:off x="2948489" y="4399905"/>
            <a:ext cx="91440" cy="91440"/>
          </a:xfrm>
          <a:prstGeom prst="ellipse">
            <a:avLst/>
          </a:prstGeom>
          <a:solidFill>
            <a:srgbClr val="F59E0B"/>
          </a:solidFill>
          <a:ln/>
        </p:spPr>
      </p:sp>
      <p:sp>
        <p:nvSpPr>
          <p:cNvPr id="86" name="Shape 86"/>
          <p:cNvSpPr/>
          <p:nvPr/>
        </p:nvSpPr>
        <p:spPr>
          <a:xfrm>
            <a:off x="2948489" y="4574247"/>
            <a:ext cx="91440" cy="91440"/>
          </a:xfrm>
          <a:prstGeom prst="ellipse">
            <a:avLst/>
          </a:prstGeom>
          <a:solidFill>
            <a:srgbClr val="F43F5E"/>
          </a:solidFill>
          <a:ln/>
        </p:spPr>
      </p:sp>
      <p:sp>
        <p:nvSpPr>
          <p:cNvPr id="87" name="Shape 87"/>
          <p:cNvSpPr/>
          <p:nvPr/>
        </p:nvSpPr>
        <p:spPr>
          <a:xfrm>
            <a:off x="2967217" y="4626672"/>
            <a:ext cx="91440" cy="91440"/>
          </a:xfrm>
          <a:prstGeom prst="ellipse">
            <a:avLst/>
          </a:prstGeom>
          <a:solidFill>
            <a:srgbClr val="F43F5E"/>
          </a:solidFill>
          <a:ln/>
        </p:spPr>
      </p:sp>
      <p:sp>
        <p:nvSpPr>
          <p:cNvPr id="88" name="Shape 88"/>
          <p:cNvSpPr/>
          <p:nvPr/>
        </p:nvSpPr>
        <p:spPr>
          <a:xfrm>
            <a:off x="2967217" y="4758146"/>
            <a:ext cx="91440" cy="91440"/>
          </a:xfrm>
          <a:prstGeom prst="ellipse">
            <a:avLst/>
          </a:prstGeom>
          <a:solidFill>
            <a:srgbClr val="F43F5E"/>
          </a:solidFill>
          <a:ln/>
        </p:spPr>
      </p:sp>
      <p:sp>
        <p:nvSpPr>
          <p:cNvPr id="89" name="Shape 89"/>
          <p:cNvSpPr/>
          <p:nvPr/>
        </p:nvSpPr>
        <p:spPr>
          <a:xfrm>
            <a:off x="2985351" y="4222876"/>
            <a:ext cx="91440" cy="91440"/>
          </a:xfrm>
          <a:prstGeom prst="ellipse">
            <a:avLst/>
          </a:prstGeom>
          <a:solidFill>
            <a:srgbClr val="00F5D4"/>
          </a:solidFill>
          <a:ln/>
        </p:spPr>
      </p:sp>
      <p:sp>
        <p:nvSpPr>
          <p:cNvPr id="90" name="Shape 90"/>
          <p:cNvSpPr/>
          <p:nvPr/>
        </p:nvSpPr>
        <p:spPr>
          <a:xfrm>
            <a:off x="3019978" y="4132316"/>
            <a:ext cx="91440" cy="91440"/>
          </a:xfrm>
          <a:prstGeom prst="ellipse">
            <a:avLst/>
          </a:prstGeom>
          <a:solidFill>
            <a:srgbClr val="00F5D4"/>
          </a:solidFill>
          <a:ln/>
        </p:spPr>
      </p:sp>
      <p:sp>
        <p:nvSpPr>
          <p:cNvPr id="91" name="Shape 91"/>
          <p:cNvSpPr/>
          <p:nvPr/>
        </p:nvSpPr>
        <p:spPr>
          <a:xfrm>
            <a:off x="3019978" y="4538341"/>
            <a:ext cx="91440" cy="91440"/>
          </a:xfrm>
          <a:prstGeom prst="ellipse">
            <a:avLst/>
          </a:prstGeom>
          <a:solidFill>
            <a:srgbClr val="F59E0B"/>
          </a:solidFill>
          <a:ln/>
        </p:spPr>
      </p:sp>
      <p:sp>
        <p:nvSpPr>
          <p:cNvPr id="92" name="Shape 92"/>
          <p:cNvSpPr/>
          <p:nvPr/>
        </p:nvSpPr>
        <p:spPr>
          <a:xfrm>
            <a:off x="3036535" y="4616016"/>
            <a:ext cx="91440" cy="91440"/>
          </a:xfrm>
          <a:prstGeom prst="ellipse">
            <a:avLst/>
          </a:prstGeom>
          <a:solidFill>
            <a:srgbClr val="F43F5E"/>
          </a:solidFill>
          <a:ln/>
        </p:spPr>
      </p:sp>
      <p:sp>
        <p:nvSpPr>
          <p:cNvPr id="93" name="Shape 93"/>
          <p:cNvSpPr/>
          <p:nvPr/>
        </p:nvSpPr>
        <p:spPr>
          <a:xfrm>
            <a:off x="3052625" y="4507258"/>
            <a:ext cx="91440" cy="91440"/>
          </a:xfrm>
          <a:prstGeom prst="ellipse">
            <a:avLst/>
          </a:prstGeom>
          <a:solidFill>
            <a:srgbClr val="F59E0B"/>
          </a:solidFill>
          <a:ln/>
        </p:spPr>
      </p:sp>
      <p:sp>
        <p:nvSpPr>
          <p:cNvPr id="94" name="Shape 94"/>
          <p:cNvSpPr/>
          <p:nvPr/>
        </p:nvSpPr>
        <p:spPr>
          <a:xfrm>
            <a:off x="3068274" y="3925579"/>
            <a:ext cx="91440" cy="91440"/>
          </a:xfrm>
          <a:prstGeom prst="ellipse">
            <a:avLst/>
          </a:prstGeom>
          <a:solidFill>
            <a:srgbClr val="00F5D4"/>
          </a:solidFill>
          <a:ln/>
        </p:spPr>
      </p:sp>
      <p:sp>
        <p:nvSpPr>
          <p:cNvPr id="95" name="Shape 95"/>
          <p:cNvSpPr/>
          <p:nvPr/>
        </p:nvSpPr>
        <p:spPr>
          <a:xfrm>
            <a:off x="3068274" y="4256340"/>
            <a:ext cx="91440" cy="91440"/>
          </a:xfrm>
          <a:prstGeom prst="ellipse">
            <a:avLst/>
          </a:prstGeom>
          <a:solidFill>
            <a:srgbClr val="00F5D4"/>
          </a:solidFill>
          <a:ln/>
        </p:spPr>
      </p:sp>
      <p:sp>
        <p:nvSpPr>
          <p:cNvPr id="96" name="Shape 96"/>
          <p:cNvSpPr/>
          <p:nvPr/>
        </p:nvSpPr>
        <p:spPr>
          <a:xfrm>
            <a:off x="3098343" y="4532784"/>
            <a:ext cx="91440" cy="91440"/>
          </a:xfrm>
          <a:prstGeom prst="ellipse">
            <a:avLst/>
          </a:prstGeom>
          <a:solidFill>
            <a:srgbClr val="F59E0B"/>
          </a:solidFill>
          <a:ln/>
        </p:spPr>
      </p:sp>
      <p:sp>
        <p:nvSpPr>
          <p:cNvPr id="97" name="Shape 97"/>
          <p:cNvSpPr/>
          <p:nvPr/>
        </p:nvSpPr>
        <p:spPr>
          <a:xfrm>
            <a:off x="3140671" y="4504022"/>
            <a:ext cx="91440" cy="91440"/>
          </a:xfrm>
          <a:prstGeom prst="ellipse">
            <a:avLst/>
          </a:prstGeom>
          <a:solidFill>
            <a:srgbClr val="F59E0B"/>
          </a:solidFill>
          <a:ln/>
        </p:spPr>
      </p:sp>
      <p:sp>
        <p:nvSpPr>
          <p:cNvPr id="98" name="Shape 98"/>
          <p:cNvSpPr/>
          <p:nvPr/>
        </p:nvSpPr>
        <p:spPr>
          <a:xfrm>
            <a:off x="3154110" y="4069388"/>
            <a:ext cx="91440" cy="91440"/>
          </a:xfrm>
          <a:prstGeom prst="ellipse">
            <a:avLst/>
          </a:prstGeom>
          <a:solidFill>
            <a:srgbClr val="00F5D4"/>
          </a:solidFill>
          <a:ln/>
        </p:spPr>
      </p:sp>
      <p:sp>
        <p:nvSpPr>
          <p:cNvPr id="99" name="Shape 99"/>
          <p:cNvSpPr/>
          <p:nvPr/>
        </p:nvSpPr>
        <p:spPr>
          <a:xfrm>
            <a:off x="3228716" y="4368823"/>
            <a:ext cx="91440" cy="91440"/>
          </a:xfrm>
          <a:prstGeom prst="ellipse">
            <a:avLst/>
          </a:prstGeom>
          <a:solidFill>
            <a:srgbClr val="F59E0B"/>
          </a:solidFill>
          <a:ln/>
        </p:spPr>
      </p:sp>
      <p:sp>
        <p:nvSpPr>
          <p:cNvPr id="100" name="Shape 100"/>
          <p:cNvSpPr/>
          <p:nvPr/>
        </p:nvSpPr>
        <p:spPr>
          <a:xfrm>
            <a:off x="3240255" y="4587468"/>
            <a:ext cx="91440" cy="91440"/>
          </a:xfrm>
          <a:prstGeom prst="ellipse">
            <a:avLst/>
          </a:prstGeom>
          <a:solidFill>
            <a:srgbClr val="F43F5E"/>
          </a:solidFill>
          <a:ln/>
        </p:spPr>
      </p:sp>
      <p:sp>
        <p:nvSpPr>
          <p:cNvPr id="101" name="Shape 101"/>
          <p:cNvSpPr/>
          <p:nvPr/>
        </p:nvSpPr>
        <p:spPr>
          <a:xfrm>
            <a:off x="3284213" y="4349923"/>
            <a:ext cx="91440" cy="91440"/>
          </a:xfrm>
          <a:prstGeom prst="ellipse">
            <a:avLst/>
          </a:prstGeom>
          <a:solidFill>
            <a:srgbClr val="F59E0B"/>
          </a:solidFill>
          <a:ln/>
        </p:spPr>
      </p:sp>
      <p:sp>
        <p:nvSpPr>
          <p:cNvPr id="102" name="Shape 102"/>
          <p:cNvSpPr/>
          <p:nvPr/>
        </p:nvSpPr>
        <p:spPr>
          <a:xfrm>
            <a:off x="3372258" y="4588414"/>
            <a:ext cx="91440" cy="91440"/>
          </a:xfrm>
          <a:prstGeom prst="ellipse">
            <a:avLst/>
          </a:prstGeom>
          <a:solidFill>
            <a:srgbClr val="F43F5E"/>
          </a:solidFill>
          <a:ln/>
        </p:spPr>
      </p:sp>
      <p:sp>
        <p:nvSpPr>
          <p:cNvPr id="103" name="Shape 103"/>
          <p:cNvSpPr/>
          <p:nvPr/>
        </p:nvSpPr>
        <p:spPr>
          <a:xfrm>
            <a:off x="3398829" y="4716713"/>
            <a:ext cx="91440" cy="91440"/>
          </a:xfrm>
          <a:prstGeom prst="ellipse">
            <a:avLst/>
          </a:prstGeom>
          <a:solidFill>
            <a:srgbClr val="F43F5E"/>
          </a:solidFill>
          <a:ln/>
        </p:spPr>
      </p:sp>
      <p:sp>
        <p:nvSpPr>
          <p:cNvPr id="104" name="Shape 104"/>
          <p:cNvSpPr/>
          <p:nvPr/>
        </p:nvSpPr>
        <p:spPr>
          <a:xfrm>
            <a:off x="3407418" y="4476848"/>
            <a:ext cx="91440" cy="91440"/>
          </a:xfrm>
          <a:prstGeom prst="ellipse">
            <a:avLst/>
          </a:prstGeom>
          <a:solidFill>
            <a:srgbClr val="F59E0B"/>
          </a:solidFill>
          <a:ln/>
        </p:spPr>
      </p:sp>
      <p:sp>
        <p:nvSpPr>
          <p:cNvPr id="105" name="Shape 105"/>
          <p:cNvSpPr/>
          <p:nvPr/>
        </p:nvSpPr>
        <p:spPr>
          <a:xfrm>
            <a:off x="3407418" y="4727308"/>
            <a:ext cx="91440" cy="91440"/>
          </a:xfrm>
          <a:prstGeom prst="ellipse">
            <a:avLst/>
          </a:prstGeom>
          <a:solidFill>
            <a:srgbClr val="F43F5E"/>
          </a:solidFill>
          <a:ln/>
        </p:spPr>
      </p:sp>
      <p:sp>
        <p:nvSpPr>
          <p:cNvPr id="106" name="Shape 106"/>
          <p:cNvSpPr/>
          <p:nvPr/>
        </p:nvSpPr>
        <p:spPr>
          <a:xfrm>
            <a:off x="3508705" y="4476848"/>
            <a:ext cx="91440" cy="91440"/>
          </a:xfrm>
          <a:prstGeom prst="ellipse">
            <a:avLst/>
          </a:prstGeom>
          <a:solidFill>
            <a:srgbClr val="F59E0B"/>
          </a:solidFill>
          <a:ln/>
        </p:spPr>
      </p:sp>
      <p:sp>
        <p:nvSpPr>
          <p:cNvPr id="107" name="Shape 107"/>
          <p:cNvSpPr/>
          <p:nvPr/>
        </p:nvSpPr>
        <p:spPr>
          <a:xfrm>
            <a:off x="3515801" y="4476848"/>
            <a:ext cx="91440" cy="91440"/>
          </a:xfrm>
          <a:prstGeom prst="ellipse">
            <a:avLst/>
          </a:prstGeom>
          <a:solidFill>
            <a:srgbClr val="F59E0B"/>
          </a:solidFill>
          <a:ln/>
        </p:spPr>
      </p:sp>
      <p:sp>
        <p:nvSpPr>
          <p:cNvPr id="108" name="Shape 108"/>
          <p:cNvSpPr/>
          <p:nvPr/>
        </p:nvSpPr>
        <p:spPr>
          <a:xfrm>
            <a:off x="3529732" y="4267851"/>
            <a:ext cx="91440" cy="91440"/>
          </a:xfrm>
          <a:prstGeom prst="ellipse">
            <a:avLst/>
          </a:prstGeom>
          <a:solidFill>
            <a:srgbClr val="10B981"/>
          </a:solidFill>
          <a:ln/>
        </p:spPr>
      </p:sp>
      <p:sp>
        <p:nvSpPr>
          <p:cNvPr id="109" name="Shape 109"/>
          <p:cNvSpPr/>
          <p:nvPr/>
        </p:nvSpPr>
        <p:spPr>
          <a:xfrm>
            <a:off x="3556616" y="4255668"/>
            <a:ext cx="91440" cy="91440"/>
          </a:xfrm>
          <a:prstGeom prst="ellipse">
            <a:avLst/>
          </a:prstGeom>
          <a:solidFill>
            <a:srgbClr val="10B981"/>
          </a:solidFill>
          <a:ln/>
        </p:spPr>
      </p:sp>
      <p:sp>
        <p:nvSpPr>
          <p:cNvPr id="110" name="Shape 110"/>
          <p:cNvSpPr/>
          <p:nvPr/>
        </p:nvSpPr>
        <p:spPr>
          <a:xfrm>
            <a:off x="3569597" y="4653235"/>
            <a:ext cx="91440" cy="91440"/>
          </a:xfrm>
          <a:prstGeom prst="ellipse">
            <a:avLst/>
          </a:prstGeom>
          <a:solidFill>
            <a:srgbClr val="F43F5E"/>
          </a:solidFill>
          <a:ln/>
        </p:spPr>
      </p:sp>
      <p:sp>
        <p:nvSpPr>
          <p:cNvPr id="111" name="Shape 111"/>
          <p:cNvSpPr/>
          <p:nvPr/>
        </p:nvSpPr>
        <p:spPr>
          <a:xfrm>
            <a:off x="3594708" y="4116622"/>
            <a:ext cx="91440" cy="91440"/>
          </a:xfrm>
          <a:prstGeom prst="ellipse">
            <a:avLst/>
          </a:prstGeom>
          <a:solidFill>
            <a:srgbClr val="00F5D4"/>
          </a:solidFill>
          <a:ln/>
        </p:spPr>
      </p:sp>
      <p:sp>
        <p:nvSpPr>
          <p:cNvPr id="112" name="Shape 112"/>
          <p:cNvSpPr/>
          <p:nvPr/>
        </p:nvSpPr>
        <p:spPr>
          <a:xfrm>
            <a:off x="3606861" y="4382013"/>
            <a:ext cx="91440" cy="91440"/>
          </a:xfrm>
          <a:prstGeom prst="ellipse">
            <a:avLst/>
          </a:prstGeom>
          <a:solidFill>
            <a:srgbClr val="10B981"/>
          </a:solidFill>
          <a:ln/>
        </p:spPr>
      </p:sp>
      <p:sp>
        <p:nvSpPr>
          <p:cNvPr id="113" name="Shape 113"/>
          <p:cNvSpPr/>
          <p:nvPr/>
        </p:nvSpPr>
        <p:spPr>
          <a:xfrm>
            <a:off x="3612841" y="4128438"/>
            <a:ext cx="91440" cy="91440"/>
          </a:xfrm>
          <a:prstGeom prst="ellipse">
            <a:avLst/>
          </a:prstGeom>
          <a:solidFill>
            <a:srgbClr val="00F5D4"/>
          </a:solidFill>
          <a:ln/>
        </p:spPr>
      </p:sp>
      <p:sp>
        <p:nvSpPr>
          <p:cNvPr id="114" name="Shape 114"/>
          <p:cNvSpPr/>
          <p:nvPr/>
        </p:nvSpPr>
        <p:spPr>
          <a:xfrm>
            <a:off x="3647468" y="4530646"/>
            <a:ext cx="91440" cy="91440"/>
          </a:xfrm>
          <a:prstGeom prst="ellipse">
            <a:avLst/>
          </a:prstGeom>
          <a:solidFill>
            <a:srgbClr val="F59E0B"/>
          </a:solidFill>
          <a:ln/>
        </p:spPr>
      </p:sp>
      <p:sp>
        <p:nvSpPr>
          <p:cNvPr id="115" name="Shape 115"/>
          <p:cNvSpPr/>
          <p:nvPr/>
        </p:nvSpPr>
        <p:spPr>
          <a:xfrm>
            <a:off x="3664025" y="4449002"/>
            <a:ext cx="91440" cy="91440"/>
          </a:xfrm>
          <a:prstGeom prst="ellipse">
            <a:avLst/>
          </a:prstGeom>
          <a:solidFill>
            <a:srgbClr val="F59E0B"/>
          </a:solidFill>
          <a:ln/>
        </p:spPr>
      </p:sp>
      <p:sp>
        <p:nvSpPr>
          <p:cNvPr id="116" name="Shape 116"/>
          <p:cNvSpPr/>
          <p:nvPr/>
        </p:nvSpPr>
        <p:spPr>
          <a:xfrm>
            <a:off x="3705964" y="4489549"/>
            <a:ext cx="91440" cy="91440"/>
          </a:xfrm>
          <a:prstGeom prst="ellipse">
            <a:avLst/>
          </a:prstGeom>
          <a:solidFill>
            <a:srgbClr val="F59E0B"/>
          </a:solidFill>
          <a:ln/>
        </p:spPr>
      </p:sp>
      <p:sp>
        <p:nvSpPr>
          <p:cNvPr id="117" name="Shape 117"/>
          <p:cNvSpPr/>
          <p:nvPr/>
        </p:nvSpPr>
        <p:spPr>
          <a:xfrm>
            <a:off x="3705964" y="4550187"/>
            <a:ext cx="91440" cy="91440"/>
          </a:xfrm>
          <a:prstGeom prst="ellipse">
            <a:avLst/>
          </a:prstGeom>
          <a:solidFill>
            <a:srgbClr val="F59E0B"/>
          </a:solidFill>
          <a:ln/>
        </p:spPr>
      </p:sp>
      <p:sp>
        <p:nvSpPr>
          <p:cNvPr id="118" name="Shape 118"/>
          <p:cNvSpPr/>
          <p:nvPr/>
        </p:nvSpPr>
        <p:spPr>
          <a:xfrm>
            <a:off x="3730694" y="4120408"/>
            <a:ext cx="91440" cy="91440"/>
          </a:xfrm>
          <a:prstGeom prst="ellipse">
            <a:avLst/>
          </a:prstGeom>
          <a:solidFill>
            <a:srgbClr val="10B981"/>
          </a:solidFill>
          <a:ln/>
        </p:spPr>
      </p:sp>
      <p:sp>
        <p:nvSpPr>
          <p:cNvPr id="119" name="Shape 119"/>
          <p:cNvSpPr/>
          <p:nvPr/>
        </p:nvSpPr>
        <p:spPr>
          <a:xfrm>
            <a:off x="3935865" y="4003346"/>
            <a:ext cx="91440" cy="91440"/>
          </a:xfrm>
          <a:prstGeom prst="ellipse">
            <a:avLst/>
          </a:prstGeom>
          <a:solidFill>
            <a:srgbClr val="10B981"/>
          </a:solidFill>
          <a:ln/>
        </p:spPr>
      </p:sp>
      <p:sp>
        <p:nvSpPr>
          <p:cNvPr id="120" name="Shape 120"/>
          <p:cNvSpPr/>
          <p:nvPr/>
        </p:nvSpPr>
        <p:spPr>
          <a:xfrm>
            <a:off x="3993672" y="4228800"/>
            <a:ext cx="91440" cy="91440"/>
          </a:xfrm>
          <a:prstGeom prst="ellipse">
            <a:avLst/>
          </a:prstGeom>
          <a:solidFill>
            <a:srgbClr val="10B981"/>
          </a:solidFill>
          <a:ln/>
        </p:spPr>
      </p:sp>
      <p:sp>
        <p:nvSpPr>
          <p:cNvPr id="121" name="Shape 121"/>
          <p:cNvSpPr/>
          <p:nvPr/>
        </p:nvSpPr>
        <p:spPr>
          <a:xfrm>
            <a:off x="4040564" y="4392333"/>
            <a:ext cx="91440" cy="91440"/>
          </a:xfrm>
          <a:prstGeom prst="ellipse">
            <a:avLst/>
          </a:prstGeom>
          <a:solidFill>
            <a:srgbClr val="10B981"/>
          </a:solidFill>
          <a:ln/>
        </p:spPr>
      </p:sp>
      <p:sp>
        <p:nvSpPr>
          <p:cNvPr id="122" name="Shape 122"/>
          <p:cNvSpPr/>
          <p:nvPr/>
        </p:nvSpPr>
        <p:spPr>
          <a:xfrm>
            <a:off x="4054461" y="4559133"/>
            <a:ext cx="91440" cy="91440"/>
          </a:xfrm>
          <a:prstGeom prst="ellipse">
            <a:avLst/>
          </a:prstGeom>
          <a:solidFill>
            <a:srgbClr val="F59E0B"/>
          </a:solidFill>
          <a:ln/>
        </p:spPr>
      </p:sp>
      <p:sp>
        <p:nvSpPr>
          <p:cNvPr id="123" name="Shape 123"/>
          <p:cNvSpPr/>
          <p:nvPr/>
        </p:nvSpPr>
        <p:spPr>
          <a:xfrm>
            <a:off x="4222198" y="4425949"/>
            <a:ext cx="91440" cy="91440"/>
          </a:xfrm>
          <a:prstGeom prst="ellipse">
            <a:avLst/>
          </a:prstGeom>
          <a:solidFill>
            <a:srgbClr val="F59E0B"/>
          </a:solidFill>
          <a:ln/>
        </p:spPr>
      </p:sp>
      <p:sp>
        <p:nvSpPr>
          <p:cNvPr id="124" name="Shape 124"/>
          <p:cNvSpPr/>
          <p:nvPr/>
        </p:nvSpPr>
        <p:spPr>
          <a:xfrm>
            <a:off x="4340154" y="4372029"/>
            <a:ext cx="91440" cy="91440"/>
          </a:xfrm>
          <a:prstGeom prst="ellipse">
            <a:avLst/>
          </a:prstGeom>
          <a:solidFill>
            <a:srgbClr val="10B981"/>
          </a:solidFill>
          <a:ln/>
        </p:spPr>
      </p:sp>
      <p:sp>
        <p:nvSpPr>
          <p:cNvPr id="125" name="Shape 125"/>
          <p:cNvSpPr/>
          <p:nvPr/>
        </p:nvSpPr>
        <p:spPr>
          <a:xfrm>
            <a:off x="4401663" y="4287514"/>
            <a:ext cx="91440" cy="91440"/>
          </a:xfrm>
          <a:prstGeom prst="ellipse">
            <a:avLst/>
          </a:prstGeom>
          <a:solidFill>
            <a:srgbClr val="10B981"/>
          </a:solidFill>
          <a:ln/>
        </p:spPr>
      </p:sp>
      <p:sp>
        <p:nvSpPr>
          <p:cNvPr id="126" name="Shape 126"/>
          <p:cNvSpPr/>
          <p:nvPr/>
        </p:nvSpPr>
        <p:spPr>
          <a:xfrm>
            <a:off x="4566725" y="4631404"/>
            <a:ext cx="91440" cy="91440"/>
          </a:xfrm>
          <a:prstGeom prst="ellipse">
            <a:avLst/>
          </a:prstGeom>
          <a:solidFill>
            <a:srgbClr val="F43F5E"/>
          </a:solidFill>
          <a:ln/>
        </p:spPr>
      </p:sp>
      <p:sp>
        <p:nvSpPr>
          <p:cNvPr id="127" name="Text 127"/>
          <p:cNvSpPr txBox="1"/>
          <p:nvPr/>
        </p:nvSpPr>
        <p:spPr>
          <a:xfrm>
            <a:off x="868680" y="4983480"/>
            <a:ext cx="3931920" cy="228600"/>
          </a:xfrm>
          <a:prstGeom prst="rect">
            <a:avLst/>
          </a:prstGeom>
          <a:noFill/>
          <a:ln/>
        </p:spPr>
        <p:txBody>
          <a:bodyPr wrap="square" lIns="0" tIns="0" rIns="0" bIns="0" rtlCol="0" anchor="ctr"/>
          <a:lstStyle/>
          <a:p>
            <a:pPr marL="0" indent="0" algn="ctr">
              <a:buNone/>
            </a:pPr>
            <a:r>
              <a:rPr lang="en-US" sz="1000" dirty="0">
                <a:solidFill>
                  <a:srgbClr val="94A3B8"/>
                </a:solidFill>
              </a:rPr>
              <a:t>x: ln(1 + mentions)     y: SDVI     93 skills, June 2024</a:t>
            </a:r>
            <a:endParaRPr lang="en-US" sz="1200" dirty="0"/>
          </a:p>
        </p:txBody>
      </p:sp>
      <p:sp>
        <p:nvSpPr>
          <p:cNvPr id="128" name="Shape 128"/>
          <p:cNvSpPr/>
          <p:nvPr/>
        </p:nvSpPr>
        <p:spPr>
          <a:xfrm>
            <a:off x="5029200" y="2834640"/>
            <a:ext cx="2423160" cy="2514600"/>
          </a:xfrm>
          <a:prstGeom prst="roundRect">
            <a:avLst>
              <a:gd name="adj" fmla="val 3500"/>
            </a:avLst>
          </a:prstGeom>
          <a:solidFill>
            <a:srgbClr val="111A2E"/>
          </a:solidFill>
          <a:ln w="9525">
            <a:solidFill>
              <a:srgbClr val="1E3A5F"/>
            </a:solidFill>
            <a:prstDash val="solid"/>
          </a:ln>
        </p:spPr>
      </p:sp>
      <p:sp>
        <p:nvSpPr>
          <p:cNvPr id="129" name="Text 129"/>
          <p:cNvSpPr txBox="1"/>
          <p:nvPr/>
        </p:nvSpPr>
        <p:spPr>
          <a:xfrm>
            <a:off x="5138928" y="2926080"/>
            <a:ext cx="2203704" cy="219456"/>
          </a:xfrm>
          <a:prstGeom prst="rect">
            <a:avLst/>
          </a:prstGeom>
          <a:noFill/>
          <a:ln/>
        </p:spPr>
        <p:txBody>
          <a:bodyPr wrap="square" lIns="0" tIns="0" rIns="0" bIns="0" rtlCol="0" anchor="ctr"/>
          <a:lstStyle/>
          <a:p>
            <a:pPr marL="0" indent="0" algn="l">
              <a:buNone/>
            </a:pPr>
            <a:r>
              <a:rPr lang="en-US" sz="1050" b="1" dirty="0">
                <a:solidFill>
                  <a:srgbClr val="F1F5F9"/>
                </a:solidFill>
              </a:rPr>
              <a:t>TOP VELOCITY</a:t>
            </a:r>
            <a:r>
              <a:rPr lang="en-US" sz="1000" dirty="0">
                <a:solidFill>
                  <a:srgbClr val="94A3B8"/>
                </a:solidFill>
              </a:rPr>
              <a:t>  2024-06</a:t>
            </a:r>
            <a:endParaRPr lang="en-US" sz="1200" dirty="0"/>
          </a:p>
        </p:txBody>
      </p:sp>
      <p:sp>
        <p:nvSpPr>
          <p:cNvPr id="130" name="Shape 130"/>
          <p:cNvSpPr/>
          <p:nvPr/>
        </p:nvSpPr>
        <p:spPr>
          <a:xfrm>
            <a:off x="5138928" y="3291840"/>
            <a:ext cx="2203704" cy="338328"/>
          </a:xfrm>
          <a:prstGeom prst="roundRect">
            <a:avLst>
              <a:gd name="adj" fmla="val 15000"/>
            </a:avLst>
          </a:prstGeom>
          <a:solidFill>
            <a:srgbClr val="0D1527"/>
          </a:solidFill>
          <a:ln/>
        </p:spPr>
      </p:sp>
      <p:sp>
        <p:nvSpPr>
          <p:cNvPr id="131" name="Shape 131"/>
          <p:cNvSpPr/>
          <p:nvPr/>
        </p:nvSpPr>
        <p:spPr>
          <a:xfrm>
            <a:off x="5212080" y="3419856"/>
            <a:ext cx="82296" cy="82296"/>
          </a:xfrm>
          <a:prstGeom prst="ellipse">
            <a:avLst/>
          </a:prstGeom>
          <a:solidFill>
            <a:srgbClr val="00F5D4"/>
          </a:solidFill>
          <a:ln/>
        </p:spPr>
      </p:sp>
      <p:sp>
        <p:nvSpPr>
          <p:cNvPr id="132" name="Text 132"/>
          <p:cNvSpPr txBox="1"/>
          <p:nvPr/>
        </p:nvSpPr>
        <p:spPr>
          <a:xfrm>
            <a:off x="5358384" y="3291840"/>
            <a:ext cx="1371600" cy="338328"/>
          </a:xfrm>
          <a:prstGeom prst="rect">
            <a:avLst/>
          </a:prstGeom>
          <a:noFill/>
          <a:ln/>
        </p:spPr>
        <p:txBody>
          <a:bodyPr wrap="square" lIns="0" tIns="0" rIns="0" bIns="0" rtlCol="0" anchor="ctr"/>
          <a:lstStyle/>
          <a:p>
            <a:pPr marL="0" indent="0" algn="l">
              <a:buNone/>
            </a:pPr>
            <a:r>
              <a:rPr lang="en-US" sz="1100" b="1" dirty="0">
                <a:solidFill>
                  <a:srgbClr val="F1F5F9"/>
                </a:solidFill>
              </a:rPr>
              <a:t>Visual Basic</a:t>
            </a:r>
            <a:endParaRPr lang="en-US" sz="1200" dirty="0"/>
          </a:p>
        </p:txBody>
      </p:sp>
      <p:sp>
        <p:nvSpPr>
          <p:cNvPr id="133" name="Text 133"/>
          <p:cNvSpPr txBox="1"/>
          <p:nvPr/>
        </p:nvSpPr>
        <p:spPr>
          <a:xfrm>
            <a:off x="6739128" y="3291840"/>
            <a:ext cx="566928" cy="338328"/>
          </a:xfrm>
          <a:prstGeom prst="rect">
            <a:avLst/>
          </a:prstGeom>
          <a:noFill/>
          <a:ln/>
        </p:spPr>
        <p:txBody>
          <a:bodyPr wrap="square" lIns="0" tIns="0" rIns="0" bIns="0" rtlCol="0" anchor="ctr"/>
          <a:lstStyle/>
          <a:p>
            <a:pPr marL="0" indent="0" algn="r">
              <a:buNone/>
            </a:pPr>
            <a:r>
              <a:rPr lang="en-US" sz="1100" b="1" dirty="0">
                <a:solidFill>
                  <a:srgbClr val="00F5D4"/>
                </a:solidFill>
              </a:rPr>
              <a:t>3.89</a:t>
            </a:r>
            <a:endParaRPr lang="en-US" sz="1200" dirty="0"/>
          </a:p>
        </p:txBody>
      </p:sp>
      <p:sp>
        <p:nvSpPr>
          <p:cNvPr id="134" name="Shape 134"/>
          <p:cNvSpPr/>
          <p:nvPr/>
        </p:nvSpPr>
        <p:spPr>
          <a:xfrm>
            <a:off x="5138928" y="3685032"/>
            <a:ext cx="2203704" cy="338328"/>
          </a:xfrm>
          <a:prstGeom prst="roundRect">
            <a:avLst>
              <a:gd name="adj" fmla="val 15000"/>
            </a:avLst>
          </a:prstGeom>
          <a:solidFill>
            <a:srgbClr val="0D1527"/>
          </a:solidFill>
          <a:ln/>
        </p:spPr>
      </p:sp>
      <p:sp>
        <p:nvSpPr>
          <p:cNvPr id="135" name="Shape 135"/>
          <p:cNvSpPr/>
          <p:nvPr/>
        </p:nvSpPr>
        <p:spPr>
          <a:xfrm>
            <a:off x="5212080" y="3813048"/>
            <a:ext cx="82296" cy="82296"/>
          </a:xfrm>
          <a:prstGeom prst="ellipse">
            <a:avLst/>
          </a:prstGeom>
          <a:solidFill>
            <a:srgbClr val="00F5D4"/>
          </a:solidFill>
          <a:ln/>
        </p:spPr>
      </p:sp>
      <p:sp>
        <p:nvSpPr>
          <p:cNvPr id="136" name="Text 136"/>
          <p:cNvSpPr txBox="1"/>
          <p:nvPr/>
        </p:nvSpPr>
        <p:spPr>
          <a:xfrm>
            <a:off x="5358384" y="3685032"/>
            <a:ext cx="1371600" cy="338328"/>
          </a:xfrm>
          <a:prstGeom prst="rect">
            <a:avLst/>
          </a:prstGeom>
          <a:noFill/>
          <a:ln/>
        </p:spPr>
        <p:txBody>
          <a:bodyPr wrap="square" lIns="0" tIns="0" rIns="0" bIns="0" rtlCol="0" anchor="ctr"/>
          <a:lstStyle/>
          <a:p>
            <a:pPr marL="0" indent="0" algn="l">
              <a:buNone/>
            </a:pPr>
            <a:r>
              <a:rPr lang="en-US" sz="1100" b="1" dirty="0">
                <a:solidFill>
                  <a:srgbClr val="F1F5F9"/>
                </a:solidFill>
              </a:rPr>
              <a:t>AngularJS</a:t>
            </a:r>
            <a:endParaRPr lang="en-US" sz="1200" dirty="0"/>
          </a:p>
        </p:txBody>
      </p:sp>
      <p:sp>
        <p:nvSpPr>
          <p:cNvPr id="137" name="Text 137"/>
          <p:cNvSpPr txBox="1"/>
          <p:nvPr/>
        </p:nvSpPr>
        <p:spPr>
          <a:xfrm>
            <a:off x="6739128" y="3685032"/>
            <a:ext cx="566928" cy="338328"/>
          </a:xfrm>
          <a:prstGeom prst="rect">
            <a:avLst/>
          </a:prstGeom>
          <a:noFill/>
          <a:ln/>
        </p:spPr>
        <p:txBody>
          <a:bodyPr wrap="square" lIns="0" tIns="0" rIns="0" bIns="0" rtlCol="0" anchor="ctr"/>
          <a:lstStyle/>
          <a:p>
            <a:pPr marL="0" indent="0" algn="r">
              <a:buNone/>
            </a:pPr>
            <a:r>
              <a:rPr lang="en-US" sz="1100" b="1" dirty="0">
                <a:solidFill>
                  <a:srgbClr val="00F5D4"/>
                </a:solidFill>
              </a:rPr>
              <a:t>2.77</a:t>
            </a:r>
            <a:endParaRPr lang="en-US" sz="1200" dirty="0"/>
          </a:p>
        </p:txBody>
      </p:sp>
      <p:sp>
        <p:nvSpPr>
          <p:cNvPr id="138" name="Shape 138"/>
          <p:cNvSpPr/>
          <p:nvPr/>
        </p:nvSpPr>
        <p:spPr>
          <a:xfrm>
            <a:off x="5138928" y="4078224"/>
            <a:ext cx="2203704" cy="338328"/>
          </a:xfrm>
          <a:prstGeom prst="roundRect">
            <a:avLst>
              <a:gd name="adj" fmla="val 15000"/>
            </a:avLst>
          </a:prstGeom>
          <a:solidFill>
            <a:srgbClr val="0D1527"/>
          </a:solidFill>
          <a:ln/>
        </p:spPr>
      </p:sp>
      <p:sp>
        <p:nvSpPr>
          <p:cNvPr id="139" name="Shape 139"/>
          <p:cNvSpPr/>
          <p:nvPr/>
        </p:nvSpPr>
        <p:spPr>
          <a:xfrm>
            <a:off x="5212080" y="4206240"/>
            <a:ext cx="82296" cy="82296"/>
          </a:xfrm>
          <a:prstGeom prst="ellipse">
            <a:avLst/>
          </a:prstGeom>
          <a:solidFill>
            <a:srgbClr val="00F5D4"/>
          </a:solidFill>
          <a:ln/>
        </p:spPr>
      </p:sp>
      <p:sp>
        <p:nvSpPr>
          <p:cNvPr id="140" name="Text 140"/>
          <p:cNvSpPr txBox="1"/>
          <p:nvPr/>
        </p:nvSpPr>
        <p:spPr>
          <a:xfrm>
            <a:off x="5358384" y="4078224"/>
            <a:ext cx="1371600" cy="338328"/>
          </a:xfrm>
          <a:prstGeom prst="rect">
            <a:avLst/>
          </a:prstGeom>
          <a:noFill/>
          <a:ln/>
        </p:spPr>
        <p:txBody>
          <a:bodyPr wrap="square" lIns="0" tIns="0" rIns="0" bIns="0" rtlCol="0" anchor="ctr"/>
          <a:lstStyle/>
          <a:p>
            <a:pPr marL="0" indent="0" algn="l">
              <a:buNone/>
            </a:pPr>
            <a:r>
              <a:rPr lang="en-US" sz="1100" b="1" dirty="0">
                <a:solidFill>
                  <a:srgbClr val="F1F5F9"/>
                </a:solidFill>
              </a:rPr>
              <a:t>Hadoop</a:t>
            </a:r>
            <a:endParaRPr lang="en-US" sz="1200" dirty="0"/>
          </a:p>
        </p:txBody>
      </p:sp>
      <p:sp>
        <p:nvSpPr>
          <p:cNvPr id="141" name="Text 141"/>
          <p:cNvSpPr txBox="1"/>
          <p:nvPr/>
        </p:nvSpPr>
        <p:spPr>
          <a:xfrm>
            <a:off x="6739128" y="4078224"/>
            <a:ext cx="566928" cy="338328"/>
          </a:xfrm>
          <a:prstGeom prst="rect">
            <a:avLst/>
          </a:prstGeom>
          <a:noFill/>
          <a:ln/>
        </p:spPr>
        <p:txBody>
          <a:bodyPr wrap="square" lIns="0" tIns="0" rIns="0" bIns="0" rtlCol="0" anchor="ctr"/>
          <a:lstStyle/>
          <a:p>
            <a:pPr marL="0" indent="0" algn="r">
              <a:buNone/>
            </a:pPr>
            <a:r>
              <a:rPr lang="en-US" sz="1100" b="1" dirty="0">
                <a:solidFill>
                  <a:srgbClr val="00F5D4"/>
                </a:solidFill>
              </a:rPr>
              <a:t>2.06</a:t>
            </a:r>
            <a:endParaRPr lang="en-US" sz="1200" dirty="0"/>
          </a:p>
        </p:txBody>
      </p:sp>
      <p:sp>
        <p:nvSpPr>
          <p:cNvPr id="142" name="Shape 142"/>
          <p:cNvSpPr/>
          <p:nvPr/>
        </p:nvSpPr>
        <p:spPr>
          <a:xfrm>
            <a:off x="5138928" y="4471416"/>
            <a:ext cx="2203704" cy="338328"/>
          </a:xfrm>
          <a:prstGeom prst="roundRect">
            <a:avLst>
              <a:gd name="adj" fmla="val 15000"/>
            </a:avLst>
          </a:prstGeom>
          <a:solidFill>
            <a:srgbClr val="0D1527"/>
          </a:solidFill>
          <a:ln/>
        </p:spPr>
      </p:sp>
      <p:sp>
        <p:nvSpPr>
          <p:cNvPr id="143" name="Shape 143"/>
          <p:cNvSpPr/>
          <p:nvPr/>
        </p:nvSpPr>
        <p:spPr>
          <a:xfrm>
            <a:off x="5212080" y="4599432"/>
            <a:ext cx="82296" cy="82296"/>
          </a:xfrm>
          <a:prstGeom prst="ellipse">
            <a:avLst/>
          </a:prstGeom>
          <a:solidFill>
            <a:srgbClr val="00F5D4"/>
          </a:solidFill>
          <a:ln/>
        </p:spPr>
      </p:sp>
      <p:sp>
        <p:nvSpPr>
          <p:cNvPr id="144" name="Text 144"/>
          <p:cNvSpPr txBox="1"/>
          <p:nvPr/>
        </p:nvSpPr>
        <p:spPr>
          <a:xfrm>
            <a:off x="5358384" y="4471416"/>
            <a:ext cx="1371600" cy="338328"/>
          </a:xfrm>
          <a:prstGeom prst="rect">
            <a:avLst/>
          </a:prstGeom>
          <a:noFill/>
          <a:ln/>
        </p:spPr>
        <p:txBody>
          <a:bodyPr wrap="square" lIns="0" tIns="0" rIns="0" bIns="0" rtlCol="0" anchor="ctr"/>
          <a:lstStyle/>
          <a:p>
            <a:pPr marL="0" indent="0" algn="l">
              <a:buNone/>
            </a:pPr>
            <a:r>
              <a:rPr lang="en-US" sz="1100" b="1" dirty="0">
                <a:solidFill>
                  <a:srgbClr val="F1F5F9"/>
                </a:solidFill>
              </a:rPr>
              <a:t>Bash</a:t>
            </a:r>
            <a:endParaRPr lang="en-US" sz="1200" dirty="0"/>
          </a:p>
        </p:txBody>
      </p:sp>
      <p:sp>
        <p:nvSpPr>
          <p:cNvPr id="145" name="Text 145"/>
          <p:cNvSpPr txBox="1"/>
          <p:nvPr/>
        </p:nvSpPr>
        <p:spPr>
          <a:xfrm>
            <a:off x="6739128" y="4471416"/>
            <a:ext cx="566928" cy="338328"/>
          </a:xfrm>
          <a:prstGeom prst="rect">
            <a:avLst/>
          </a:prstGeom>
          <a:noFill/>
          <a:ln/>
        </p:spPr>
        <p:txBody>
          <a:bodyPr wrap="square" lIns="0" tIns="0" rIns="0" bIns="0" rtlCol="0" anchor="ctr"/>
          <a:lstStyle/>
          <a:p>
            <a:pPr marL="0" indent="0" algn="r">
              <a:buNone/>
            </a:pPr>
            <a:r>
              <a:rPr lang="en-US" sz="1100" b="1" dirty="0">
                <a:solidFill>
                  <a:srgbClr val="00F5D4"/>
                </a:solidFill>
              </a:rPr>
              <a:t>1.81</a:t>
            </a:r>
            <a:endParaRPr lang="en-US" sz="1200" dirty="0"/>
          </a:p>
        </p:txBody>
      </p:sp>
      <p:sp>
        <p:nvSpPr>
          <p:cNvPr id="146" name="Shape 146"/>
          <p:cNvSpPr/>
          <p:nvPr/>
        </p:nvSpPr>
        <p:spPr>
          <a:xfrm>
            <a:off x="5138928" y="4864608"/>
            <a:ext cx="2203704" cy="338328"/>
          </a:xfrm>
          <a:prstGeom prst="roundRect">
            <a:avLst>
              <a:gd name="adj" fmla="val 15000"/>
            </a:avLst>
          </a:prstGeom>
          <a:solidFill>
            <a:srgbClr val="0D1527"/>
          </a:solidFill>
          <a:ln/>
        </p:spPr>
      </p:sp>
      <p:sp>
        <p:nvSpPr>
          <p:cNvPr id="147" name="Shape 147"/>
          <p:cNvSpPr/>
          <p:nvPr/>
        </p:nvSpPr>
        <p:spPr>
          <a:xfrm>
            <a:off x="5212080" y="4992624"/>
            <a:ext cx="82296" cy="82296"/>
          </a:xfrm>
          <a:prstGeom prst="ellipse">
            <a:avLst/>
          </a:prstGeom>
          <a:solidFill>
            <a:srgbClr val="10B981"/>
          </a:solidFill>
          <a:ln/>
        </p:spPr>
      </p:sp>
      <p:sp>
        <p:nvSpPr>
          <p:cNvPr id="148" name="Text 148"/>
          <p:cNvSpPr txBox="1"/>
          <p:nvPr/>
        </p:nvSpPr>
        <p:spPr>
          <a:xfrm>
            <a:off x="5358384" y="4864608"/>
            <a:ext cx="1371600" cy="338328"/>
          </a:xfrm>
          <a:prstGeom prst="rect">
            <a:avLst/>
          </a:prstGeom>
          <a:noFill/>
          <a:ln/>
        </p:spPr>
        <p:txBody>
          <a:bodyPr wrap="square" lIns="0" tIns="0" rIns="0" bIns="0" rtlCol="0" anchor="ctr"/>
          <a:lstStyle/>
          <a:p>
            <a:pPr marL="0" indent="0" algn="l">
              <a:buNone/>
            </a:pPr>
            <a:r>
              <a:rPr lang="en-US" sz="1100" b="1" dirty="0">
                <a:solidFill>
                  <a:srgbClr val="F1F5F9"/>
                </a:solidFill>
              </a:rPr>
              <a:t>Oracle</a:t>
            </a:r>
            <a:endParaRPr lang="en-US" sz="1200" dirty="0"/>
          </a:p>
        </p:txBody>
      </p:sp>
      <p:sp>
        <p:nvSpPr>
          <p:cNvPr id="149" name="Text 149"/>
          <p:cNvSpPr txBox="1"/>
          <p:nvPr/>
        </p:nvSpPr>
        <p:spPr>
          <a:xfrm>
            <a:off x="6739128" y="4864608"/>
            <a:ext cx="566928" cy="338328"/>
          </a:xfrm>
          <a:prstGeom prst="rect">
            <a:avLst/>
          </a:prstGeom>
          <a:noFill/>
          <a:ln/>
        </p:spPr>
        <p:txBody>
          <a:bodyPr wrap="square" lIns="0" tIns="0" rIns="0" bIns="0" rtlCol="0" anchor="ctr"/>
          <a:lstStyle/>
          <a:p>
            <a:pPr marL="0" indent="0" algn="r">
              <a:buNone/>
            </a:pPr>
            <a:r>
              <a:rPr lang="en-US" sz="1100" b="1" dirty="0">
                <a:solidFill>
                  <a:srgbClr val="10B981"/>
                </a:solidFill>
              </a:rPr>
              <a:t>1.55</a:t>
            </a:r>
            <a:endParaRPr lang="en-US" sz="1200" dirty="0"/>
          </a:p>
        </p:txBody>
      </p:sp>
      <p:sp>
        <p:nvSpPr>
          <p:cNvPr id="150" name="Text 150"/>
          <p:cNvSpPr txBox="1"/>
          <p:nvPr/>
        </p:nvSpPr>
        <p:spPr>
          <a:xfrm>
            <a:off x="7863840" y="1371600"/>
            <a:ext cx="3776472" cy="274320"/>
          </a:xfrm>
          <a:prstGeom prst="rect">
            <a:avLst/>
          </a:prstGeom>
          <a:noFill/>
          <a:ln/>
        </p:spPr>
        <p:txBody>
          <a:bodyPr wrap="square" lIns="0" tIns="0" rIns="0" bIns="0" rtlCol="0" anchor="t"/>
          <a:lstStyle/>
          <a:p>
            <a:pPr marL="0" indent="0" algn="l">
              <a:buNone/>
            </a:pPr>
            <a:r>
              <a:rPr lang="en-US" sz="1250" b="1" dirty="0">
                <a:solidFill>
                  <a:schemeClr val="accent4"/>
                </a:solidFill>
              </a:rPr>
              <a:t>What the dashboard shows</a:t>
            </a:r>
            <a:endParaRPr lang="en-US" sz="1200" dirty="0"/>
          </a:p>
        </p:txBody>
      </p:sp>
      <p:sp>
        <p:nvSpPr>
          <p:cNvPr id="151" name="Shape 151"/>
          <p:cNvSpPr/>
          <p:nvPr/>
        </p:nvSpPr>
        <p:spPr>
          <a:xfrm>
            <a:off x="7863840" y="1691640"/>
            <a:ext cx="3776472" cy="685800"/>
          </a:xfrm>
          <a:prstGeom prst="roundRect">
            <a:avLst>
              <a:gd name="adj" fmla="val 8000"/>
            </a:avLst>
          </a:prstGeom>
          <a:solidFill>
            <a:schemeClr val="bg2"/>
          </a:solidFill>
          <a:ln/>
        </p:spPr>
      </p:sp>
      <p:sp>
        <p:nvSpPr>
          <p:cNvPr id="152" name="Shape 152"/>
          <p:cNvSpPr/>
          <p:nvPr/>
        </p:nvSpPr>
        <p:spPr>
          <a:xfrm>
            <a:off x="7991856" y="1938528"/>
            <a:ext cx="182880" cy="182880"/>
          </a:xfrm>
          <a:prstGeom prst="ellipse">
            <a:avLst/>
          </a:prstGeom>
          <a:solidFill>
            <a:schemeClr val="accent2"/>
          </a:solidFill>
          <a:ln/>
        </p:spPr>
      </p:sp>
      <p:sp>
        <p:nvSpPr>
          <p:cNvPr id="153" name="Text 153"/>
          <p:cNvSpPr txBox="1"/>
          <p:nvPr/>
        </p:nvSpPr>
        <p:spPr>
          <a:xfrm>
            <a:off x="8321040" y="1755648"/>
            <a:ext cx="3209544" cy="566928"/>
          </a:xfrm>
          <a:prstGeom prst="rect">
            <a:avLst/>
          </a:prstGeom>
          <a:noFill/>
          <a:ln/>
        </p:spPr>
        <p:txBody>
          <a:bodyPr wrap="square" lIns="0" tIns="0" rIns="0" bIns="0" rtlCol="0" anchor="ctr"/>
          <a:lstStyle/>
          <a:p>
            <a:pPr marL="0" indent="0" algn="l">
              <a:spcAft>
                <a:spcPts val="100"/>
              </a:spcAft>
              <a:buNone/>
            </a:pPr>
            <a:r>
              <a:rPr lang="en-US" sz="1200" b="1" dirty="0">
                <a:solidFill>
                  <a:schemeClr val="tx2"/>
                </a:solidFill>
              </a:rPr>
              <a:t>Timeline slice</a:t>
            </a:r>
            <a:endParaRPr lang="en-US" sz="1200" dirty="0"/>
          </a:p>
          <a:p>
            <a:pPr marL="0" indent="0" algn="l">
              <a:buNone/>
            </a:pPr>
            <a:r>
              <a:rPr lang="en-US" sz="1100" dirty="0">
                <a:solidFill>
                  <a:schemeClr val="tx1"/>
                </a:solidFill>
              </a:rPr>
              <a:t>Month selector (Jan-Jun 2024) refreshes every panel.</a:t>
            </a:r>
            <a:endParaRPr lang="en-US" sz="1200" dirty="0"/>
          </a:p>
        </p:txBody>
      </p:sp>
      <p:sp>
        <p:nvSpPr>
          <p:cNvPr id="154" name="Shape 154"/>
          <p:cNvSpPr/>
          <p:nvPr/>
        </p:nvSpPr>
        <p:spPr>
          <a:xfrm>
            <a:off x="7863840" y="2450592"/>
            <a:ext cx="3776472" cy="685800"/>
          </a:xfrm>
          <a:prstGeom prst="roundRect">
            <a:avLst>
              <a:gd name="adj" fmla="val 8000"/>
            </a:avLst>
          </a:prstGeom>
          <a:solidFill>
            <a:schemeClr val="bg2"/>
          </a:solidFill>
          <a:ln/>
        </p:spPr>
      </p:sp>
      <p:sp>
        <p:nvSpPr>
          <p:cNvPr id="155" name="Shape 155"/>
          <p:cNvSpPr/>
          <p:nvPr/>
        </p:nvSpPr>
        <p:spPr>
          <a:xfrm>
            <a:off x="7991856" y="2697480"/>
            <a:ext cx="182880" cy="182880"/>
          </a:xfrm>
          <a:prstGeom prst="ellipse">
            <a:avLst/>
          </a:prstGeom>
          <a:solidFill>
            <a:schemeClr val="accent6"/>
          </a:solidFill>
          <a:ln/>
        </p:spPr>
      </p:sp>
      <p:sp>
        <p:nvSpPr>
          <p:cNvPr id="156" name="Text 156"/>
          <p:cNvSpPr txBox="1"/>
          <p:nvPr/>
        </p:nvSpPr>
        <p:spPr>
          <a:xfrm>
            <a:off x="8321040" y="2514600"/>
            <a:ext cx="3209544" cy="566928"/>
          </a:xfrm>
          <a:prstGeom prst="rect">
            <a:avLst/>
          </a:prstGeom>
          <a:noFill/>
          <a:ln/>
        </p:spPr>
        <p:txBody>
          <a:bodyPr wrap="square" lIns="0" tIns="0" rIns="0" bIns="0" rtlCol="0" anchor="ctr"/>
          <a:lstStyle/>
          <a:p>
            <a:pPr marL="0" indent="0" algn="l">
              <a:spcAft>
                <a:spcPts val="100"/>
              </a:spcAft>
              <a:buNone/>
            </a:pPr>
            <a:r>
              <a:rPr lang="en-US" sz="1200" b="1" dirty="0">
                <a:solidFill>
                  <a:schemeClr val="tx2"/>
                </a:solidFill>
              </a:rPr>
              <a:t>KPI cards</a:t>
            </a:r>
            <a:endParaRPr lang="en-US" sz="1200" dirty="0"/>
          </a:p>
          <a:p>
            <a:pPr marL="0" indent="0" algn="l">
              <a:buNone/>
            </a:pPr>
            <a:r>
              <a:rPr lang="en-US" sz="1100" dirty="0">
                <a:solidFill>
                  <a:schemeClr val="tx1"/>
                </a:solidFill>
              </a:rPr>
              <a:t>Skills per quadrant: emerging, established, stable, declining.</a:t>
            </a:r>
            <a:endParaRPr lang="en-US" sz="1200" dirty="0"/>
          </a:p>
        </p:txBody>
      </p:sp>
      <p:sp>
        <p:nvSpPr>
          <p:cNvPr id="157" name="Shape 157"/>
          <p:cNvSpPr/>
          <p:nvPr/>
        </p:nvSpPr>
        <p:spPr>
          <a:xfrm>
            <a:off x="7863840" y="3209544"/>
            <a:ext cx="3776472" cy="685800"/>
          </a:xfrm>
          <a:prstGeom prst="roundRect">
            <a:avLst>
              <a:gd name="adj" fmla="val 8000"/>
            </a:avLst>
          </a:prstGeom>
          <a:solidFill>
            <a:schemeClr val="bg2"/>
          </a:solidFill>
          <a:ln/>
        </p:spPr>
      </p:sp>
      <p:sp>
        <p:nvSpPr>
          <p:cNvPr id="158" name="Shape 158"/>
          <p:cNvSpPr/>
          <p:nvPr/>
        </p:nvSpPr>
        <p:spPr>
          <a:xfrm>
            <a:off x="7991856" y="3456432"/>
            <a:ext cx="182880" cy="182880"/>
          </a:xfrm>
          <a:prstGeom prst="ellipse">
            <a:avLst/>
          </a:prstGeom>
          <a:solidFill>
            <a:schemeClr val="accent1"/>
          </a:solidFill>
          <a:ln/>
        </p:spPr>
      </p:sp>
      <p:sp>
        <p:nvSpPr>
          <p:cNvPr id="159" name="Text 159"/>
          <p:cNvSpPr txBox="1"/>
          <p:nvPr/>
        </p:nvSpPr>
        <p:spPr>
          <a:xfrm>
            <a:off x="8321040" y="3273552"/>
            <a:ext cx="3209544" cy="566928"/>
          </a:xfrm>
          <a:prstGeom prst="rect">
            <a:avLst/>
          </a:prstGeom>
          <a:noFill/>
          <a:ln/>
        </p:spPr>
        <p:txBody>
          <a:bodyPr wrap="square" lIns="0" tIns="0" rIns="0" bIns="0" rtlCol="0" anchor="ctr"/>
          <a:lstStyle/>
          <a:p>
            <a:pPr marL="0" indent="0" algn="l">
              <a:spcAft>
                <a:spcPts val="100"/>
              </a:spcAft>
              <a:buNone/>
            </a:pPr>
            <a:r>
              <a:rPr lang="en-US" sz="1200" b="1" dirty="0">
                <a:solidFill>
                  <a:schemeClr val="tx2"/>
                </a:solidFill>
              </a:rPr>
              <a:t>Radar momentum pulse</a:t>
            </a:r>
            <a:endParaRPr lang="en-US" sz="1200" dirty="0"/>
          </a:p>
          <a:p>
            <a:pPr marL="0" indent="0" algn="l">
              <a:buNone/>
            </a:pPr>
            <a:r>
              <a:rPr lang="en-US" sz="1100" dirty="0">
                <a:solidFill>
                  <a:schemeClr val="tx1"/>
                </a:solidFill>
              </a:rPr>
              <a:t>100 skills as pulsing nodes sized by SDVI; hover for details.</a:t>
            </a:r>
            <a:endParaRPr lang="en-US" sz="1200" dirty="0"/>
          </a:p>
        </p:txBody>
      </p:sp>
      <p:sp>
        <p:nvSpPr>
          <p:cNvPr id="160" name="Shape 160"/>
          <p:cNvSpPr/>
          <p:nvPr/>
        </p:nvSpPr>
        <p:spPr>
          <a:xfrm>
            <a:off x="7863840" y="3968496"/>
            <a:ext cx="3776472" cy="685800"/>
          </a:xfrm>
          <a:prstGeom prst="roundRect">
            <a:avLst>
              <a:gd name="adj" fmla="val 8000"/>
            </a:avLst>
          </a:prstGeom>
          <a:solidFill>
            <a:schemeClr val="bg2"/>
          </a:solidFill>
          <a:ln/>
        </p:spPr>
      </p:sp>
      <p:sp>
        <p:nvSpPr>
          <p:cNvPr id="161" name="Shape 161"/>
          <p:cNvSpPr/>
          <p:nvPr/>
        </p:nvSpPr>
        <p:spPr>
          <a:xfrm>
            <a:off x="7991856" y="4215384"/>
            <a:ext cx="182880" cy="182880"/>
          </a:xfrm>
          <a:prstGeom prst="ellipse">
            <a:avLst/>
          </a:prstGeom>
          <a:solidFill>
            <a:schemeClr val="accent3"/>
          </a:solidFill>
          <a:ln/>
        </p:spPr>
      </p:sp>
      <p:sp>
        <p:nvSpPr>
          <p:cNvPr id="162" name="Text 162"/>
          <p:cNvSpPr txBox="1"/>
          <p:nvPr/>
        </p:nvSpPr>
        <p:spPr>
          <a:xfrm>
            <a:off x="8321040" y="4032504"/>
            <a:ext cx="3209544" cy="566928"/>
          </a:xfrm>
          <a:prstGeom prst="rect">
            <a:avLst/>
          </a:prstGeom>
          <a:noFill/>
          <a:ln/>
        </p:spPr>
        <p:txBody>
          <a:bodyPr wrap="square" lIns="0" tIns="0" rIns="0" bIns="0" rtlCol="0" anchor="ctr"/>
          <a:lstStyle/>
          <a:p>
            <a:pPr marL="0" indent="0" algn="l">
              <a:spcAft>
                <a:spcPts val="100"/>
              </a:spcAft>
              <a:buNone/>
            </a:pPr>
            <a:r>
              <a:rPr lang="en-US" sz="1200" b="1" dirty="0">
                <a:solidFill>
                  <a:schemeClr val="tx2"/>
                </a:solidFill>
              </a:rPr>
              <a:t>Leaderboard and matrix</a:t>
            </a:r>
            <a:endParaRPr lang="en-US" sz="1200" dirty="0"/>
          </a:p>
          <a:p>
            <a:pPr marL="0" indent="0" algn="l">
              <a:buNone/>
            </a:pPr>
            <a:r>
              <a:rPr lang="en-US" sz="1100" dirty="0">
                <a:solidFill>
                  <a:schemeClr val="tx1"/>
                </a:solidFill>
              </a:rPr>
              <a:t>Top 10 skills by SDVI, plus log mentions vs SDVI scatter.</a:t>
            </a:r>
            <a:endParaRPr lang="en-US" sz="1200" dirty="0"/>
          </a:p>
        </p:txBody>
      </p:sp>
      <p:sp>
        <p:nvSpPr>
          <p:cNvPr id="163" name="Shape 163"/>
          <p:cNvSpPr/>
          <p:nvPr/>
        </p:nvSpPr>
        <p:spPr>
          <a:xfrm>
            <a:off x="7863840" y="4727448"/>
            <a:ext cx="3776472" cy="685800"/>
          </a:xfrm>
          <a:prstGeom prst="roundRect">
            <a:avLst>
              <a:gd name="adj" fmla="val 8000"/>
            </a:avLst>
          </a:prstGeom>
          <a:solidFill>
            <a:schemeClr val="bg2"/>
          </a:solidFill>
          <a:ln/>
        </p:spPr>
      </p:sp>
      <p:sp>
        <p:nvSpPr>
          <p:cNvPr id="164" name="Shape 164"/>
          <p:cNvSpPr/>
          <p:nvPr/>
        </p:nvSpPr>
        <p:spPr>
          <a:xfrm>
            <a:off x="7991856" y="4974336"/>
            <a:ext cx="182880" cy="182880"/>
          </a:xfrm>
          <a:prstGeom prst="ellipse">
            <a:avLst/>
          </a:prstGeom>
          <a:solidFill>
            <a:schemeClr val="accent5"/>
          </a:solidFill>
          <a:ln/>
        </p:spPr>
      </p:sp>
      <p:sp>
        <p:nvSpPr>
          <p:cNvPr id="165" name="Text 165"/>
          <p:cNvSpPr txBox="1"/>
          <p:nvPr/>
        </p:nvSpPr>
        <p:spPr>
          <a:xfrm>
            <a:off x="8321040" y="4791456"/>
            <a:ext cx="3209544" cy="566928"/>
          </a:xfrm>
          <a:prstGeom prst="rect">
            <a:avLst/>
          </a:prstGeom>
          <a:noFill/>
          <a:ln/>
        </p:spPr>
        <p:txBody>
          <a:bodyPr wrap="square" lIns="0" tIns="0" rIns="0" bIns="0" rtlCol="0" anchor="ctr"/>
          <a:lstStyle/>
          <a:p>
            <a:pPr marL="0" indent="0" algn="l">
              <a:spcAft>
                <a:spcPts val="100"/>
              </a:spcAft>
              <a:buNone/>
            </a:pPr>
            <a:r>
              <a:rPr lang="en-US" sz="1200" b="1" dirty="0">
                <a:solidFill>
                  <a:schemeClr val="tx2"/>
                </a:solidFill>
              </a:rPr>
              <a:t>Trend analyzer</a:t>
            </a:r>
            <a:endParaRPr lang="en-US" sz="1200" dirty="0"/>
          </a:p>
          <a:p>
            <a:pPr marL="0" indent="0" algn="l">
              <a:buNone/>
            </a:pPr>
            <a:r>
              <a:rPr lang="en-US" sz="1100" dirty="0">
                <a:solidFill>
                  <a:schemeClr val="tx1"/>
                </a:solidFill>
              </a:rPr>
              <a:t>Search a skill and see its six-month trajectory.</a:t>
            </a:r>
            <a:endParaRPr lang="en-US" sz="1200" dirty="0"/>
          </a:p>
        </p:txBody>
      </p:sp>
      <p:sp>
        <p:nvSpPr>
          <p:cNvPr id="166" name="Shape 166"/>
          <p:cNvSpPr/>
          <p:nvPr/>
        </p:nvSpPr>
        <p:spPr>
          <a:xfrm>
            <a:off x="548640" y="5806440"/>
            <a:ext cx="11091672" cy="384048"/>
          </a:xfrm>
          <a:prstGeom prst="roundRect">
            <a:avLst>
              <a:gd name="adj" fmla="val 20000"/>
            </a:avLst>
          </a:prstGeom>
          <a:solidFill>
            <a:schemeClr val="tx2"/>
          </a:solidFill>
          <a:ln/>
        </p:spPr>
      </p:sp>
      <p:sp>
        <p:nvSpPr>
          <p:cNvPr id="167" name="Text 167"/>
          <p:cNvSpPr txBox="1"/>
          <p:nvPr/>
        </p:nvSpPr>
        <p:spPr>
          <a:xfrm>
            <a:off x="713232" y="5806440"/>
            <a:ext cx="10762488" cy="384048"/>
          </a:xfrm>
          <a:prstGeom prst="rect">
            <a:avLst/>
          </a:prstGeom>
          <a:noFill/>
          <a:ln/>
        </p:spPr>
        <p:txBody>
          <a:bodyPr wrap="square" lIns="0" tIns="0" rIns="0" bIns="0" rtlCol="0" anchor="ctr"/>
          <a:lstStyle/>
          <a:p>
            <a:pPr marL="0" indent="0" algn="l">
              <a:buNone/>
            </a:pPr>
            <a:r>
              <a:rPr lang="en-US" sz="1300" b="1" dirty="0">
                <a:solidFill>
                  <a:srgbClr val="FFFFFF"/>
                </a:solidFill>
              </a:rPr>
              <a:t>Visual Basic and AngularJS top the board on only 6 and 3 mentions: read them as low-confidence signals.</a:t>
            </a:r>
            <a:endParaRPr lang="en-US" sz="1200" dirty="0"/>
          </a:p>
        </p:txBody>
      </p:sp>
      <p:sp>
        <p:nvSpPr>
          <p:cNvPr id="168" name="Text 168"/>
          <p:cNvSpPr txBox="1"/>
          <p:nvPr/>
        </p:nvSpPr>
        <p:spPr>
          <a:xfrm>
            <a:off x="548640" y="5541264"/>
            <a:ext cx="7086600" cy="201168"/>
          </a:xfrm>
          <a:prstGeom prst="rect">
            <a:avLst/>
          </a:prstGeom>
          <a:noFill/>
          <a:ln/>
        </p:spPr>
        <p:txBody>
          <a:bodyPr wrap="square" lIns="0" tIns="0" rIns="0" bIns="0" rtlCol="0" anchor="t"/>
          <a:lstStyle/>
          <a:p>
            <a:pPr marL="0" indent="0" algn="l">
              <a:buNone/>
            </a:pPr>
            <a:r>
              <a:rPr lang="en-US" sz="1000" i="1" dirty="0">
                <a:solidFill>
                  <a:schemeClr val="accent4"/>
                </a:solidFill>
              </a:rPr>
              <a:t>Layout of index.html drawn from its embedded June 2024 data (sdvi_results.json, 567 records in total).</a:t>
            </a:r>
            <a:endParaRPr lang="en-US" sz="1200" dirty="0"/>
          </a:p>
        </p:txBody>
      </p:sp>
      <p:sp>
        <p:nvSpPr>
          <p:cNvPr id="990" name="Slide Number Placeholder 0"/>
          <p:cNvSpPr>
            <a:spLocks noGrp="1"/>
          </p:cNvSpPr>
          <p:nvPr>
            <p:ph type="sldNum" sz="quarter" idx="4294967295"/>
          </p:nvPr>
        </p:nvSpPr>
        <p:spPr>
          <a:xfrm>
            <a:off x="10972800" y="6446520"/>
            <a:ext cx="640080" cy="256032"/>
          </a:xfrm>
          <a:prstGeom prst="rect">
            <a:avLst/>
          </a:prstGeom>
        </p:spPr>
        <p:txBody>
          <a:bodyPr/>
          <a:lstStyle>
            <a:lvl1pPr>
              <a:defRPr sz="1000">
                <a:solidFill>
                  <a:schemeClr val="accent4"/>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TASK 4</a:t>
            </a:r>
            <a:endParaRPr lang="en-US" sz="1200" dirty="0"/>
          </a:p>
        </p:txBody>
      </p:sp>
      <p:sp>
        <p:nvSpPr>
          <p:cNvPr id="3" name="Text 0"/>
          <p:cNvSpPr>
            <a:spLocks noGrp="1"/>
          </p:cNvSpPr>
          <p:nvPr>
            <p:ph type="title" idx="100" hasCustomPrompt="1"/>
          </p:nvPr>
        </p:nvSpPr>
        <p:spPr>
          <a:xfrm>
            <a:off x="548640" y="566928"/>
            <a:ext cx="9418320" cy="685800"/>
          </a:xfrm>
          <a:prstGeom prst="rect">
            <a:avLst/>
          </a:prstGeom>
          <a:noFill/>
          <a:ln/>
        </p:spPr>
        <p:txBody>
          <a:bodyPr wrap="square" lIns="0" tIns="0" rIns="0" bIns="0" rtlCol="0" anchor="ctr"/>
          <a:lstStyle/>
          <a:p>
            <a:pPr marL="0" indent="0" algn="l">
              <a:buNone/>
            </a:pPr>
            <a:r>
              <a:rPr lang="en-US" sz="3200" b="1" dirty="0">
                <a:solidFill>
                  <a:schemeClr val="tx2"/>
                </a:solidFill>
              </a:rPr>
              <a:t>Streamlit Dashboard Architecture</a:t>
            </a:r>
            <a:endParaRPr lang="en-US" sz="3200" dirty="0"/>
          </a:p>
        </p:txBody>
      </p:sp>
      <p:sp>
        <p:nvSpPr>
          <p:cNvPr id="6" name="Component"/>
          <p:cNvSpPr/>
          <p:nvPr/>
        </p:nvSpPr>
        <p:spPr>
          <a:xfrm>
            <a:off x="548640" y="1463040"/>
            <a:ext cx="1920240" cy="1737360"/>
          </a:xfrm>
          <a:prstGeom prst="roundRect">
            <a:avLst>
              <a:gd name="adj" fmla="val 5263"/>
            </a:avLst>
          </a:prstGeom>
          <a:solidFill>
            <a:schemeClr val="accent4">
              <a:alpha val="90000"/>
            </a:schemeClr>
          </a:solidFill>
          <a:ln/>
        </p:spPr>
      </p:sp>
      <p:sp>
        <p:nvSpPr>
          <p:cNvPr id="7" name="Text 5"/>
          <p:cNvSpPr txBox="1"/>
          <p:nvPr/>
        </p:nvSpPr>
        <p:spPr>
          <a:xfrm>
            <a:off x="640080" y="1463040"/>
            <a:ext cx="1737360" cy="1737360"/>
          </a:xfrm>
          <a:prstGeom prst="rect">
            <a:avLst/>
          </a:prstGeom>
          <a:noFill/>
          <a:ln/>
        </p:spPr>
        <p:txBody>
          <a:bodyPr wrap="square" lIns="0" tIns="0" rIns="0" bIns="0" rtlCol="0" anchor="ctr"/>
          <a:lstStyle/>
          <a:p>
            <a:pPr marL="0" indent="0" algn="ctr">
              <a:spcAft>
                <a:spcPts val="400"/>
              </a:spcAft>
              <a:buNone/>
            </a:pPr>
            <a:r>
              <a:rPr lang="en-US" sz="1600" b="1" dirty="0">
                <a:solidFill>
                  <a:srgbClr val="FFFFFF"/>
                </a:solidFill>
              </a:rPr>
              <a:t>Data sources</a:t>
            </a:r>
            <a:endParaRPr lang="en-US" sz="1400" dirty="0"/>
          </a:p>
          <a:p>
            <a:pPr marL="0" indent="0" algn="ctr">
              <a:spcAft>
                <a:spcPts val="400"/>
              </a:spcAft>
              <a:buNone/>
            </a:pPr>
            <a:r>
              <a:rPr lang="en-US" sz="1200" dirty="0">
                <a:solidFill>
                  <a:srgbClr val="E3EEF7"/>
                </a:solidFill>
              </a:rPr>
              <a:t>Hive/Pig exports in dashboard/data/, or raw dataset adapter</a:t>
            </a:r>
            <a:endParaRPr lang="en-US" sz="1400" dirty="0"/>
          </a:p>
        </p:txBody>
      </p:sp>
      <p:sp>
        <p:nvSpPr>
          <p:cNvPr id="8" name="Shape 6"/>
          <p:cNvSpPr/>
          <p:nvPr/>
        </p:nvSpPr>
        <p:spPr>
          <a:xfrm>
            <a:off x="2468880" y="2331720"/>
            <a:ext cx="365760" cy="0"/>
          </a:xfrm>
          <a:prstGeom prst="line">
            <a:avLst/>
          </a:prstGeom>
          <a:noFill/>
          <a:ln w="25400">
            <a:solidFill>
              <a:schemeClr val="tx2"/>
            </a:solidFill>
            <a:prstDash val="solid"/>
            <a:tailEnd type="triangle"/>
          </a:ln>
        </p:spPr>
      </p:sp>
      <p:sp>
        <p:nvSpPr>
          <p:cNvPr id="9" name="Component"/>
          <p:cNvSpPr/>
          <p:nvPr/>
        </p:nvSpPr>
        <p:spPr>
          <a:xfrm>
            <a:off x="2834640" y="1463040"/>
            <a:ext cx="1920240" cy="1737360"/>
          </a:xfrm>
          <a:prstGeom prst="roundRect">
            <a:avLst>
              <a:gd name="adj" fmla="val 5263"/>
            </a:avLst>
          </a:prstGeom>
          <a:solidFill>
            <a:schemeClr val="accent1">
              <a:alpha val="90000"/>
            </a:schemeClr>
          </a:solidFill>
          <a:ln/>
        </p:spPr>
      </p:sp>
      <p:sp>
        <p:nvSpPr>
          <p:cNvPr id="10" name="Text 8"/>
          <p:cNvSpPr txBox="1"/>
          <p:nvPr/>
        </p:nvSpPr>
        <p:spPr>
          <a:xfrm>
            <a:off x="2926080" y="1463040"/>
            <a:ext cx="1737360" cy="1737360"/>
          </a:xfrm>
          <a:prstGeom prst="rect">
            <a:avLst/>
          </a:prstGeom>
          <a:noFill/>
          <a:ln/>
        </p:spPr>
        <p:txBody>
          <a:bodyPr wrap="square" lIns="0" tIns="0" rIns="0" bIns="0" rtlCol="0" anchor="ctr"/>
          <a:lstStyle/>
          <a:p>
            <a:pPr marL="0" indent="0" algn="ctr">
              <a:spcAft>
                <a:spcPts val="400"/>
              </a:spcAft>
              <a:buNone/>
            </a:pPr>
            <a:r>
              <a:rPr lang="en-US" sz="1500" b="1" dirty="0">
                <a:solidFill>
                  <a:srgbClr val="FFFFFF"/>
                </a:solidFill>
                <a:latin typeface="Courier New" pitchFamily="34" charset="0"/>
                <a:ea typeface="Courier New" pitchFamily="34" charset="-122"/>
                <a:cs typeface="Courier New" pitchFamily="34" charset="-120"/>
              </a:rPr>
              <a:t>data_loader.py</a:t>
            </a:r>
            <a:endParaRPr lang="en-US" sz="1400" dirty="0"/>
          </a:p>
          <a:p>
            <a:pPr marL="0" indent="0" algn="ctr">
              <a:spcAft>
                <a:spcPts val="400"/>
              </a:spcAft>
              <a:buNone/>
            </a:pPr>
            <a:r>
              <a:rPr lang="en-US" sz="1200" dirty="0">
                <a:solidFill>
                  <a:srgbClr val="E3EEF7"/>
                </a:solidFill>
              </a:rPr>
              <a:t>Loads and prepares data</a:t>
            </a:r>
            <a:endParaRPr lang="en-US" sz="1400" dirty="0"/>
          </a:p>
        </p:txBody>
      </p:sp>
      <p:sp>
        <p:nvSpPr>
          <p:cNvPr id="11" name="Shape 9"/>
          <p:cNvSpPr/>
          <p:nvPr/>
        </p:nvSpPr>
        <p:spPr>
          <a:xfrm>
            <a:off x="4754880" y="2331720"/>
            <a:ext cx="365760" cy="0"/>
          </a:xfrm>
          <a:prstGeom prst="line">
            <a:avLst/>
          </a:prstGeom>
          <a:noFill/>
          <a:ln w="25400">
            <a:solidFill>
              <a:schemeClr val="tx2"/>
            </a:solidFill>
            <a:prstDash val="solid"/>
            <a:tailEnd type="triangle"/>
          </a:ln>
        </p:spPr>
      </p:sp>
      <p:sp>
        <p:nvSpPr>
          <p:cNvPr id="12" name="Component"/>
          <p:cNvSpPr/>
          <p:nvPr/>
        </p:nvSpPr>
        <p:spPr>
          <a:xfrm>
            <a:off x="5120640" y="1463040"/>
            <a:ext cx="1920240" cy="1737360"/>
          </a:xfrm>
          <a:prstGeom prst="roundRect">
            <a:avLst>
              <a:gd name="adj" fmla="val 5263"/>
            </a:avLst>
          </a:prstGeom>
          <a:solidFill>
            <a:schemeClr val="accent2">
              <a:alpha val="90000"/>
            </a:schemeClr>
          </a:solidFill>
          <a:ln/>
        </p:spPr>
      </p:sp>
      <p:sp>
        <p:nvSpPr>
          <p:cNvPr id="13" name="Text 11"/>
          <p:cNvSpPr txBox="1"/>
          <p:nvPr/>
        </p:nvSpPr>
        <p:spPr>
          <a:xfrm>
            <a:off x="5212080" y="1463040"/>
            <a:ext cx="1737360" cy="1737360"/>
          </a:xfrm>
          <a:prstGeom prst="rect">
            <a:avLst/>
          </a:prstGeom>
          <a:noFill/>
          <a:ln/>
        </p:spPr>
        <p:txBody>
          <a:bodyPr wrap="square" lIns="0" tIns="0" rIns="0" bIns="0" rtlCol="0" anchor="ctr"/>
          <a:lstStyle/>
          <a:p>
            <a:pPr marL="0" indent="0" algn="ctr">
              <a:spcAft>
                <a:spcPts val="400"/>
              </a:spcAft>
              <a:buNone/>
            </a:pPr>
            <a:r>
              <a:rPr lang="en-US" sz="1500" b="1" dirty="0">
                <a:solidFill>
                  <a:srgbClr val="FFFFFF"/>
                </a:solidFill>
                <a:latin typeface="Courier New" pitchFamily="34" charset="0"/>
                <a:ea typeface="Courier New" pitchFamily="34" charset="-122"/>
                <a:cs typeface="Courier New" pitchFamily="34" charset="-120"/>
              </a:rPr>
              <a:t>analytics.py</a:t>
            </a:r>
            <a:endParaRPr lang="en-US" sz="1400" dirty="0"/>
          </a:p>
          <a:p>
            <a:pPr marL="0" indent="0" algn="ctr">
              <a:spcAft>
                <a:spcPts val="400"/>
              </a:spcAft>
              <a:buNone/>
            </a:pPr>
            <a:r>
              <a:rPr lang="en-US" sz="1200" dirty="0">
                <a:solidFill>
                  <a:srgbClr val="E3EEF7"/>
                </a:solidFill>
              </a:rPr>
              <a:t>Computes dashboard metrics</a:t>
            </a:r>
            <a:endParaRPr lang="en-US" sz="1400" dirty="0"/>
          </a:p>
        </p:txBody>
      </p:sp>
      <p:sp>
        <p:nvSpPr>
          <p:cNvPr id="14" name="Shape 12"/>
          <p:cNvSpPr/>
          <p:nvPr/>
        </p:nvSpPr>
        <p:spPr>
          <a:xfrm>
            <a:off x="7040880" y="2331720"/>
            <a:ext cx="365760" cy="0"/>
          </a:xfrm>
          <a:prstGeom prst="line">
            <a:avLst/>
          </a:prstGeom>
          <a:noFill/>
          <a:ln w="25400">
            <a:solidFill>
              <a:schemeClr val="tx2"/>
            </a:solidFill>
            <a:prstDash val="solid"/>
            <a:tailEnd type="triangle"/>
          </a:ln>
        </p:spPr>
      </p:sp>
      <p:sp>
        <p:nvSpPr>
          <p:cNvPr id="15" name="Component"/>
          <p:cNvSpPr/>
          <p:nvPr/>
        </p:nvSpPr>
        <p:spPr>
          <a:xfrm>
            <a:off x="7406640" y="1463040"/>
            <a:ext cx="1920240" cy="1737360"/>
          </a:xfrm>
          <a:prstGeom prst="roundRect">
            <a:avLst>
              <a:gd name="adj" fmla="val 5263"/>
            </a:avLst>
          </a:prstGeom>
          <a:solidFill>
            <a:schemeClr val="accent3">
              <a:alpha val="90000"/>
            </a:schemeClr>
          </a:solidFill>
          <a:ln/>
        </p:spPr>
      </p:sp>
      <p:sp>
        <p:nvSpPr>
          <p:cNvPr id="16" name="Text 14"/>
          <p:cNvSpPr txBox="1"/>
          <p:nvPr/>
        </p:nvSpPr>
        <p:spPr>
          <a:xfrm>
            <a:off x="7498080" y="1463040"/>
            <a:ext cx="1737360" cy="1737360"/>
          </a:xfrm>
          <a:prstGeom prst="rect">
            <a:avLst/>
          </a:prstGeom>
          <a:noFill/>
          <a:ln/>
        </p:spPr>
        <p:txBody>
          <a:bodyPr wrap="square" lIns="0" tIns="0" rIns="0" bIns="0" rtlCol="0" anchor="ctr"/>
          <a:lstStyle/>
          <a:p>
            <a:pPr marL="0" indent="0" algn="ctr">
              <a:spcAft>
                <a:spcPts val="400"/>
              </a:spcAft>
              <a:buNone/>
            </a:pPr>
            <a:r>
              <a:rPr lang="en-US" sz="1500" b="1" dirty="0">
                <a:solidFill>
                  <a:schemeClr val="tx2"/>
                </a:solidFill>
                <a:latin typeface="Courier New" pitchFamily="34" charset="0"/>
                <a:ea typeface="Courier New" pitchFamily="34" charset="-122"/>
                <a:cs typeface="Courier New" pitchFamily="34" charset="-120"/>
              </a:rPr>
              <a:t>charts.py</a:t>
            </a:r>
            <a:endParaRPr lang="en-US" sz="1400" dirty="0"/>
          </a:p>
          <a:p>
            <a:pPr marL="0" indent="0" algn="ctr">
              <a:spcAft>
                <a:spcPts val="400"/>
              </a:spcAft>
              <a:buNone/>
            </a:pPr>
            <a:r>
              <a:rPr lang="en-US" sz="1200" dirty="0">
                <a:solidFill>
                  <a:schemeClr val="tx2"/>
                </a:solidFill>
              </a:rPr>
              <a:t>Builds Plotly figures</a:t>
            </a:r>
            <a:endParaRPr lang="en-US" sz="1400" dirty="0"/>
          </a:p>
        </p:txBody>
      </p:sp>
      <p:sp>
        <p:nvSpPr>
          <p:cNvPr id="17" name="Shape 15"/>
          <p:cNvSpPr/>
          <p:nvPr/>
        </p:nvSpPr>
        <p:spPr>
          <a:xfrm>
            <a:off x="9326880" y="2331720"/>
            <a:ext cx="365760" cy="0"/>
          </a:xfrm>
          <a:prstGeom prst="line">
            <a:avLst/>
          </a:prstGeom>
          <a:noFill/>
          <a:ln w="25400">
            <a:solidFill>
              <a:schemeClr val="tx2"/>
            </a:solidFill>
            <a:prstDash val="solid"/>
            <a:tailEnd type="triangle"/>
          </a:ln>
        </p:spPr>
      </p:sp>
      <p:sp>
        <p:nvSpPr>
          <p:cNvPr id="18" name="Component"/>
          <p:cNvSpPr/>
          <p:nvPr/>
        </p:nvSpPr>
        <p:spPr>
          <a:xfrm>
            <a:off x="9692640" y="1463040"/>
            <a:ext cx="1920240" cy="1737360"/>
          </a:xfrm>
          <a:prstGeom prst="roundRect">
            <a:avLst>
              <a:gd name="adj" fmla="val 5263"/>
            </a:avLst>
          </a:prstGeom>
          <a:solidFill>
            <a:schemeClr val="accent6">
              <a:alpha val="90000"/>
            </a:schemeClr>
          </a:solidFill>
          <a:ln/>
        </p:spPr>
      </p:sp>
      <p:sp>
        <p:nvSpPr>
          <p:cNvPr id="19" name="Text 17"/>
          <p:cNvSpPr txBox="1"/>
          <p:nvPr/>
        </p:nvSpPr>
        <p:spPr>
          <a:xfrm>
            <a:off x="9784080" y="1463040"/>
            <a:ext cx="1737360" cy="1737360"/>
          </a:xfrm>
          <a:prstGeom prst="rect">
            <a:avLst/>
          </a:prstGeom>
          <a:noFill/>
          <a:ln/>
        </p:spPr>
        <p:txBody>
          <a:bodyPr wrap="square" lIns="0" tIns="0" rIns="0" bIns="0" rtlCol="0" anchor="ctr"/>
          <a:lstStyle/>
          <a:p>
            <a:pPr marL="0" indent="0" algn="ctr">
              <a:spcAft>
                <a:spcPts val="400"/>
              </a:spcAft>
              <a:buNone/>
            </a:pPr>
            <a:r>
              <a:rPr lang="en-US" sz="1500" b="1" dirty="0">
                <a:solidFill>
                  <a:srgbClr val="FFFFFF"/>
                </a:solidFill>
                <a:latin typeface="Courier New" pitchFamily="34" charset="0"/>
                <a:ea typeface="Courier New" pitchFamily="34" charset="-122"/>
                <a:cs typeface="Courier New" pitchFamily="34" charset="-120"/>
              </a:rPr>
              <a:t>app.py</a:t>
            </a:r>
            <a:endParaRPr lang="en-US" sz="1400" dirty="0"/>
          </a:p>
          <a:p>
            <a:pPr marL="0" indent="0" algn="ctr">
              <a:spcAft>
                <a:spcPts val="400"/>
              </a:spcAft>
              <a:buNone/>
            </a:pPr>
            <a:r>
              <a:rPr lang="en-US" sz="1200" dirty="0">
                <a:solidFill>
                  <a:srgbClr val="E3EEF7"/>
                </a:solidFill>
              </a:rPr>
              <a:t>Streamlit interface: pages, filters</a:t>
            </a:r>
            <a:endParaRPr lang="en-US" sz="1400" dirty="0"/>
          </a:p>
        </p:txBody>
      </p:sp>
      <p:sp>
        <p:nvSpPr>
          <p:cNvPr id="20" name="Text 18"/>
          <p:cNvSpPr txBox="1"/>
          <p:nvPr/>
        </p:nvSpPr>
        <p:spPr>
          <a:xfrm>
            <a:off x="548640" y="3291840"/>
            <a:ext cx="11109960" cy="320040"/>
          </a:xfrm>
          <a:prstGeom prst="rect">
            <a:avLst/>
          </a:prstGeom>
          <a:noFill/>
          <a:ln/>
        </p:spPr>
        <p:txBody>
          <a:bodyPr wrap="square" lIns="0" tIns="0" rIns="0" bIns="0" rtlCol="0" anchor="t"/>
          <a:lstStyle/>
          <a:p>
            <a:pPr marL="0" indent="0" algn="r">
              <a:buNone/>
            </a:pPr>
            <a:r>
              <a:rPr lang="en-US" sz="1400" b="1" dirty="0">
                <a:solidFill>
                  <a:schemeClr val="accent2"/>
                </a:solidFill>
              </a:rPr>
              <a:t>User interacts through filters and charts</a:t>
            </a:r>
            <a:endParaRPr lang="en-US" sz="1400" dirty="0"/>
          </a:p>
        </p:txBody>
      </p:sp>
      <p:sp>
        <p:nvSpPr>
          <p:cNvPr id="21" name="Dashboard note"/>
          <p:cNvSpPr/>
          <p:nvPr/>
        </p:nvSpPr>
        <p:spPr>
          <a:xfrm>
            <a:off x="548640" y="3794760"/>
            <a:ext cx="3611880" cy="2240280"/>
          </a:xfrm>
          <a:prstGeom prst="roundRect">
            <a:avLst>
              <a:gd name="adj" fmla="val 3265"/>
            </a:avLst>
          </a:prstGeom>
          <a:solidFill>
            <a:schemeClr val="bg2"/>
          </a:solidFill>
          <a:ln/>
        </p:spPr>
      </p:sp>
      <p:sp>
        <p:nvSpPr>
          <p:cNvPr id="22" name="Shape 20"/>
          <p:cNvSpPr/>
          <p:nvPr/>
        </p:nvSpPr>
        <p:spPr>
          <a:xfrm>
            <a:off x="731520" y="3977640"/>
            <a:ext cx="420624" cy="420624"/>
          </a:xfrm>
          <a:prstGeom prst="ellipse">
            <a:avLst/>
          </a:prstGeom>
          <a:solidFill>
            <a:schemeClr val="accent2"/>
          </a:solidFill>
          <a:ln/>
        </p:spPr>
      </p:sp>
      <p:sp>
        <p:nvSpPr>
          <p:cNvPr id="23" name="Text 21"/>
          <p:cNvSpPr txBox="1"/>
          <p:nvPr/>
        </p:nvSpPr>
        <p:spPr>
          <a:xfrm>
            <a:off x="731520" y="3977640"/>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24" name="Text 22"/>
          <p:cNvSpPr txBox="1"/>
          <p:nvPr/>
        </p:nvSpPr>
        <p:spPr>
          <a:xfrm>
            <a:off x="1371600" y="3977640"/>
            <a:ext cx="2651760" cy="420624"/>
          </a:xfrm>
          <a:prstGeom prst="rect">
            <a:avLst/>
          </a:prstGeom>
          <a:noFill/>
          <a:ln/>
        </p:spPr>
        <p:txBody>
          <a:bodyPr wrap="square" lIns="0" tIns="0" rIns="0" bIns="0" rtlCol="0" anchor="ctr"/>
          <a:lstStyle/>
          <a:p>
            <a:pPr marL="0" indent="0">
              <a:buNone/>
            </a:pPr>
            <a:r>
              <a:rPr lang="en-US" sz="1600" b="1" dirty="0">
                <a:solidFill>
                  <a:schemeClr val="tx2"/>
                </a:solidFill>
              </a:rPr>
              <a:t>Runs standalone</a:t>
            </a:r>
            <a:endParaRPr lang="en-US" sz="1600" dirty="0"/>
          </a:p>
        </p:txBody>
      </p:sp>
      <p:sp>
        <p:nvSpPr>
          <p:cNvPr id="25" name="Text 23"/>
          <p:cNvSpPr txBox="1"/>
          <p:nvPr/>
        </p:nvSpPr>
        <p:spPr>
          <a:xfrm>
            <a:off x="731520" y="4617720"/>
            <a:ext cx="3246120" cy="1325880"/>
          </a:xfrm>
          <a:prstGeom prst="rect">
            <a:avLst/>
          </a:prstGeom>
          <a:noFill/>
          <a:ln/>
        </p:spPr>
        <p:txBody>
          <a:bodyPr wrap="square" lIns="0" tIns="0" rIns="0" bIns="0" rtlCol="0" anchor="t"/>
          <a:lstStyle/>
          <a:p>
            <a:pPr marL="0" indent="0">
              <a:buNone/>
            </a:pPr>
            <a:r>
              <a:rPr lang="en-US" sz="1400" dirty="0">
                <a:solidFill>
                  <a:schemeClr val="tx1"/>
                </a:solidFill>
              </a:rPr>
              <a:t>Needs input files, not running Hadoop, Pig or Hive services. Run with streamlit run app.py.</a:t>
            </a:r>
            <a:endParaRPr lang="en-US" sz="1400" dirty="0"/>
          </a:p>
        </p:txBody>
      </p:sp>
      <p:sp>
        <p:nvSpPr>
          <p:cNvPr id="26" name="Dashboard note"/>
          <p:cNvSpPr/>
          <p:nvPr/>
        </p:nvSpPr>
        <p:spPr>
          <a:xfrm>
            <a:off x="4297680" y="3794760"/>
            <a:ext cx="3611880" cy="2240280"/>
          </a:xfrm>
          <a:prstGeom prst="roundRect">
            <a:avLst>
              <a:gd name="adj" fmla="val 3265"/>
            </a:avLst>
          </a:prstGeom>
          <a:solidFill>
            <a:schemeClr val="bg2"/>
          </a:solidFill>
          <a:ln/>
        </p:spPr>
      </p:sp>
      <p:sp>
        <p:nvSpPr>
          <p:cNvPr id="27" name="Shape 25"/>
          <p:cNvSpPr/>
          <p:nvPr/>
        </p:nvSpPr>
        <p:spPr>
          <a:xfrm>
            <a:off x="4480560" y="3977640"/>
            <a:ext cx="420624" cy="420624"/>
          </a:xfrm>
          <a:prstGeom prst="ellipse">
            <a:avLst/>
          </a:prstGeom>
          <a:solidFill>
            <a:schemeClr val="accent2"/>
          </a:solidFill>
          <a:ln/>
        </p:spPr>
      </p:sp>
      <p:sp>
        <p:nvSpPr>
          <p:cNvPr id="28" name="Text 26"/>
          <p:cNvSpPr txBox="1"/>
          <p:nvPr/>
        </p:nvSpPr>
        <p:spPr>
          <a:xfrm>
            <a:off x="4480560" y="3977640"/>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29" name="Text 27"/>
          <p:cNvSpPr txBox="1"/>
          <p:nvPr/>
        </p:nvSpPr>
        <p:spPr>
          <a:xfrm>
            <a:off x="5120640" y="3977640"/>
            <a:ext cx="2651760" cy="420624"/>
          </a:xfrm>
          <a:prstGeom prst="rect">
            <a:avLst/>
          </a:prstGeom>
          <a:noFill/>
          <a:ln/>
        </p:spPr>
        <p:txBody>
          <a:bodyPr wrap="square" lIns="0" tIns="0" rIns="0" bIns="0" rtlCol="0" anchor="ctr"/>
          <a:lstStyle/>
          <a:p>
            <a:pPr marL="0" indent="0">
              <a:buNone/>
            </a:pPr>
            <a:r>
              <a:rPr lang="en-US" sz="1600" b="1" dirty="0">
                <a:solidFill>
                  <a:schemeClr val="tx2"/>
                </a:solidFill>
              </a:rPr>
              <a:t>Source always visible</a:t>
            </a:r>
            <a:endParaRPr lang="en-US" sz="1600" dirty="0"/>
          </a:p>
        </p:txBody>
      </p:sp>
      <p:sp>
        <p:nvSpPr>
          <p:cNvPr id="30" name="Text 28"/>
          <p:cNvSpPr txBox="1"/>
          <p:nvPr/>
        </p:nvSpPr>
        <p:spPr>
          <a:xfrm>
            <a:off x="4480560" y="4617720"/>
            <a:ext cx="3246120" cy="1325880"/>
          </a:xfrm>
          <a:prstGeom prst="rect">
            <a:avLst/>
          </a:prstGeom>
          <a:noFill/>
          <a:ln/>
        </p:spPr>
        <p:txBody>
          <a:bodyPr wrap="square" lIns="0" tIns="0" rIns="0" bIns="0" rtlCol="0" anchor="t"/>
          <a:lstStyle/>
          <a:p>
            <a:pPr marL="0" indent="0">
              <a:buNone/>
            </a:pPr>
            <a:r>
              <a:rPr lang="en-US" sz="1400" dirty="0">
                <a:solidFill>
                  <a:schemeClr val="tx1"/>
                </a:solidFill>
              </a:rPr>
              <a:t>The page shows the active data source (Hive/Pig exports or raw adapter).</a:t>
            </a:r>
            <a:endParaRPr lang="en-US" sz="1400" dirty="0"/>
          </a:p>
        </p:txBody>
      </p:sp>
      <p:sp>
        <p:nvSpPr>
          <p:cNvPr id="31" name="Dashboard note"/>
          <p:cNvSpPr/>
          <p:nvPr/>
        </p:nvSpPr>
        <p:spPr>
          <a:xfrm>
            <a:off x="8046720" y="3794760"/>
            <a:ext cx="3611880" cy="2240280"/>
          </a:xfrm>
          <a:prstGeom prst="roundRect">
            <a:avLst>
              <a:gd name="adj" fmla="val 3265"/>
            </a:avLst>
          </a:prstGeom>
          <a:solidFill>
            <a:schemeClr val="bg2"/>
          </a:solidFill>
          <a:ln/>
        </p:spPr>
      </p:sp>
      <p:sp>
        <p:nvSpPr>
          <p:cNvPr id="32" name="Shape 30"/>
          <p:cNvSpPr/>
          <p:nvPr/>
        </p:nvSpPr>
        <p:spPr>
          <a:xfrm>
            <a:off x="8229600" y="3977640"/>
            <a:ext cx="420624" cy="420624"/>
          </a:xfrm>
          <a:prstGeom prst="ellipse">
            <a:avLst/>
          </a:prstGeom>
          <a:solidFill>
            <a:schemeClr val="accent2"/>
          </a:solidFill>
          <a:ln/>
        </p:spPr>
      </p:sp>
      <p:sp>
        <p:nvSpPr>
          <p:cNvPr id="33" name="Text 31"/>
          <p:cNvSpPr txBox="1"/>
          <p:nvPr/>
        </p:nvSpPr>
        <p:spPr>
          <a:xfrm>
            <a:off x="8229600" y="3977640"/>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34" name="Text 32"/>
          <p:cNvSpPr txBox="1"/>
          <p:nvPr/>
        </p:nvSpPr>
        <p:spPr>
          <a:xfrm>
            <a:off x="8869680" y="3977640"/>
            <a:ext cx="2651760" cy="420624"/>
          </a:xfrm>
          <a:prstGeom prst="rect">
            <a:avLst/>
          </a:prstGeom>
          <a:noFill/>
          <a:ln/>
        </p:spPr>
        <p:txBody>
          <a:bodyPr wrap="square" lIns="0" tIns="0" rIns="0" bIns="0" rtlCol="0" anchor="ctr"/>
          <a:lstStyle/>
          <a:p>
            <a:pPr marL="0" indent="0">
              <a:buNone/>
            </a:pPr>
            <a:r>
              <a:rPr lang="en-US" sz="1600" b="1" dirty="0">
                <a:solidFill>
                  <a:schemeClr val="tx2"/>
                </a:solidFill>
              </a:rPr>
              <a:t>Not all metrics are Hive</a:t>
            </a:r>
            <a:endParaRPr lang="en-US" sz="1600" dirty="0"/>
          </a:p>
        </p:txBody>
      </p:sp>
      <p:sp>
        <p:nvSpPr>
          <p:cNvPr id="35" name="Text 33"/>
          <p:cNvSpPr txBox="1"/>
          <p:nvPr/>
        </p:nvSpPr>
        <p:spPr>
          <a:xfrm>
            <a:off x="8229600" y="4617720"/>
            <a:ext cx="3246120" cy="1325880"/>
          </a:xfrm>
          <a:prstGeom prst="rect">
            <a:avLst/>
          </a:prstGeom>
          <a:noFill/>
          <a:ln/>
        </p:spPr>
        <p:txBody>
          <a:bodyPr wrap="square" lIns="0" tIns="0" rIns="0" bIns="0" rtlCol="0" anchor="t"/>
          <a:lstStyle/>
          <a:p>
            <a:pPr marL="0" indent="0">
              <a:buNone/>
            </a:pPr>
            <a:r>
              <a:rPr lang="en-US" sz="1400" dirty="0">
                <a:solidFill>
                  <a:schemeClr val="tx1"/>
                </a:solidFill>
              </a:rPr>
              <a:t>Interactive filtering and some aggregations are computed in Python with Pandas.</a:t>
            </a:r>
            <a:endParaRPr lang="en-US" sz="1400" dirty="0"/>
          </a:p>
        </p:txBody>
      </p:sp>
      <p:sp>
        <p:nvSpPr>
          <p:cNvPr id="36" name="Slide Number Placeholder 0"/>
          <p:cNvSpPr>
            <a:spLocks noGrp="1"/>
          </p:cNvSpPr>
          <p:nvPr>
            <p:ph type="sldNum" sz="quarter" idx="4294967295"/>
          </p:nvPr>
        </p:nvSpPr>
        <p:spPr>
          <a:xfrm>
            <a:off x="10972800" y="6446520"/>
            <a:ext cx="64008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TASK 4</a:t>
            </a:r>
            <a:endParaRPr lang="en-US" sz="1200" dirty="0"/>
          </a:p>
        </p:txBody>
      </p:sp>
      <p:sp>
        <p:nvSpPr>
          <p:cNvPr id="3" name="Text 0"/>
          <p:cNvSpPr>
            <a:spLocks noGrp="1"/>
          </p:cNvSpPr>
          <p:nvPr>
            <p:ph type="title" idx="100" hasCustomPrompt="1"/>
          </p:nvPr>
        </p:nvSpPr>
        <p:spPr>
          <a:xfrm>
            <a:off x="548640" y="566928"/>
            <a:ext cx="9418320" cy="685800"/>
          </a:xfrm>
          <a:prstGeom prst="rect">
            <a:avLst/>
          </a:prstGeom>
          <a:noFill/>
          <a:ln/>
        </p:spPr>
        <p:txBody>
          <a:bodyPr wrap="square" lIns="0" tIns="0" rIns="0" bIns="0" rtlCol="0" anchor="ctr"/>
          <a:lstStyle/>
          <a:p>
            <a:pPr marL="0" indent="0" algn="l">
              <a:buNone/>
            </a:pPr>
            <a:r>
              <a:rPr lang="en-US" sz="3200" b="1" dirty="0">
                <a:solidFill>
                  <a:schemeClr val="tx2"/>
                </a:solidFill>
              </a:rPr>
              <a:t>Dashboard Pages and Interaction</a:t>
            </a:r>
            <a:endParaRPr lang="en-US" sz="3200" dirty="0"/>
          </a:p>
        </p:txBody>
      </p:sp>
      <p:pic>
        <p:nvPicPr>
          <p:cNvPr id="6" name="Image 0" descr="Real screenshot of the Executive Overview dashboard page"/>
          <p:cNvPicPr>
            <a:picLocks noChangeAspect="1"/>
          </p:cNvPicPr>
          <p:nvPr/>
        </p:nvPicPr>
        <p:blipFill>
          <a:blip r:embed="rId3"/>
          <a:srcRect/>
          <a:stretch/>
        </p:blipFill>
        <p:spPr>
          <a:xfrm>
            <a:off x="548640" y="1371600"/>
            <a:ext cx="5486400" cy="2691994"/>
          </a:xfrm>
          <a:prstGeom prst="rect">
            <a:avLst/>
          </a:prstGeom>
        </p:spPr>
      </p:pic>
      <p:sp>
        <p:nvSpPr>
          <p:cNvPr id="7" name="Text 4"/>
          <p:cNvSpPr txBox="1"/>
          <p:nvPr/>
        </p:nvSpPr>
        <p:spPr>
          <a:xfrm>
            <a:off x="548640" y="4114800"/>
            <a:ext cx="5486400" cy="256032"/>
          </a:xfrm>
          <a:prstGeom prst="rect">
            <a:avLst/>
          </a:prstGeom>
          <a:noFill/>
          <a:ln/>
        </p:spPr>
        <p:txBody>
          <a:bodyPr wrap="square" lIns="0" tIns="0" rIns="0" bIns="0" rtlCol="0" anchor="t"/>
          <a:lstStyle/>
          <a:p>
            <a:pPr marL="0" indent="0">
              <a:buNone/>
            </a:pPr>
            <a:r>
              <a:rPr lang="en-US" sz="1100" i="1" dirty="0">
                <a:solidFill>
                  <a:schemeClr val="accent4"/>
                </a:solidFill>
              </a:rPr>
              <a:t>Real screenshot: Executive Overview</a:t>
            </a:r>
            <a:endParaRPr lang="en-US" sz="1100" dirty="0"/>
          </a:p>
        </p:txBody>
      </p:sp>
      <p:sp>
        <p:nvSpPr>
          <p:cNvPr id="10" name="Page chip"/>
          <p:cNvSpPr/>
          <p:nvPr/>
        </p:nvSpPr>
        <p:spPr>
          <a:xfrm>
            <a:off x="548640" y="4526280"/>
            <a:ext cx="1463040" cy="868680"/>
          </a:xfrm>
          <a:prstGeom prst="roundRect">
            <a:avLst>
              <a:gd name="adj" fmla="val 8421"/>
            </a:avLst>
          </a:prstGeom>
          <a:solidFill>
            <a:schemeClr val="bg2"/>
          </a:solidFill>
          <a:ln/>
        </p:spPr>
      </p:sp>
      <p:sp>
        <p:nvSpPr>
          <p:cNvPr id="11" name="Shape 8"/>
          <p:cNvSpPr/>
          <p:nvPr/>
        </p:nvSpPr>
        <p:spPr>
          <a:xfrm>
            <a:off x="640080" y="4590288"/>
            <a:ext cx="292608" cy="292608"/>
          </a:xfrm>
          <a:prstGeom prst="ellipse">
            <a:avLst/>
          </a:prstGeom>
          <a:solidFill>
            <a:schemeClr val="accent2"/>
          </a:solidFill>
          <a:ln/>
        </p:spPr>
      </p:sp>
      <p:sp>
        <p:nvSpPr>
          <p:cNvPr id="12" name="Text 9"/>
          <p:cNvSpPr txBox="1"/>
          <p:nvPr/>
        </p:nvSpPr>
        <p:spPr>
          <a:xfrm>
            <a:off x="640080" y="4590288"/>
            <a:ext cx="292608" cy="292608"/>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13" name="Text 10"/>
          <p:cNvSpPr txBox="1"/>
          <p:nvPr/>
        </p:nvSpPr>
        <p:spPr>
          <a:xfrm>
            <a:off x="621792" y="4892040"/>
            <a:ext cx="1325880" cy="457200"/>
          </a:xfrm>
          <a:prstGeom prst="rect">
            <a:avLst/>
          </a:prstGeom>
          <a:noFill/>
          <a:ln/>
        </p:spPr>
        <p:txBody>
          <a:bodyPr wrap="square" lIns="0" tIns="0" rIns="0" bIns="0" rtlCol="0" anchor="ctr"/>
          <a:lstStyle/>
          <a:p>
            <a:pPr marL="0" indent="0">
              <a:buNone/>
            </a:pPr>
            <a:r>
              <a:rPr lang="en-US" sz="1100" b="1" dirty="0">
                <a:solidFill>
                  <a:schemeClr val="tx2"/>
                </a:solidFill>
              </a:rPr>
              <a:t>Executive Overview</a:t>
            </a:r>
            <a:endParaRPr lang="en-US" sz="1100" dirty="0"/>
          </a:p>
        </p:txBody>
      </p:sp>
      <p:sp>
        <p:nvSpPr>
          <p:cNvPr id="14" name="Page chip"/>
          <p:cNvSpPr/>
          <p:nvPr/>
        </p:nvSpPr>
        <p:spPr>
          <a:xfrm>
            <a:off x="2148840" y="4526280"/>
            <a:ext cx="1463040" cy="868680"/>
          </a:xfrm>
          <a:prstGeom prst="roundRect">
            <a:avLst>
              <a:gd name="adj" fmla="val 8421"/>
            </a:avLst>
          </a:prstGeom>
          <a:solidFill>
            <a:schemeClr val="bg2"/>
          </a:solidFill>
          <a:ln/>
        </p:spPr>
      </p:sp>
      <p:sp>
        <p:nvSpPr>
          <p:cNvPr id="15" name="Shape 12"/>
          <p:cNvSpPr/>
          <p:nvPr/>
        </p:nvSpPr>
        <p:spPr>
          <a:xfrm>
            <a:off x="2240280" y="4590288"/>
            <a:ext cx="292608" cy="292608"/>
          </a:xfrm>
          <a:prstGeom prst="ellipse">
            <a:avLst/>
          </a:prstGeom>
          <a:solidFill>
            <a:schemeClr val="accent2"/>
          </a:solidFill>
          <a:ln/>
        </p:spPr>
      </p:sp>
      <p:sp>
        <p:nvSpPr>
          <p:cNvPr id="16" name="Text 13"/>
          <p:cNvSpPr txBox="1"/>
          <p:nvPr/>
        </p:nvSpPr>
        <p:spPr>
          <a:xfrm>
            <a:off x="2240280" y="4590288"/>
            <a:ext cx="292608" cy="292608"/>
          </a:xfrm>
          <a:prstGeom prst="rect">
            <a:avLst/>
          </a:prstGeom>
          <a:noFill/>
          <a:ln/>
        </p:spPr>
        <p:txBody>
          <a:bodyPr wrap="square" lIns="0" tIns="0" rIns="0" bIns="0" rtlCol="0" anchor="ctr"/>
          <a:lstStyle/>
          <a:p>
            <a:pPr marL="0" indent="0" algn="ctr">
              <a:buNone/>
            </a:pPr>
            <a:r>
              <a:rPr lang="en-US" sz="1100" b="1" dirty="0">
                <a:solidFill>
                  <a:schemeClr val="bg1"/>
                </a:solidFill>
              </a:rPr>
              <a:t>2</a:t>
            </a:r>
            <a:endParaRPr lang="en-US" sz="1100" dirty="0"/>
          </a:p>
        </p:txBody>
      </p:sp>
      <p:sp>
        <p:nvSpPr>
          <p:cNvPr id="17" name="Text 14"/>
          <p:cNvSpPr txBox="1"/>
          <p:nvPr/>
        </p:nvSpPr>
        <p:spPr>
          <a:xfrm>
            <a:off x="2221992" y="4892040"/>
            <a:ext cx="1325880" cy="457200"/>
          </a:xfrm>
          <a:prstGeom prst="rect">
            <a:avLst/>
          </a:prstGeom>
          <a:noFill/>
          <a:ln/>
        </p:spPr>
        <p:txBody>
          <a:bodyPr wrap="square" lIns="0" tIns="0" rIns="0" bIns="0" rtlCol="0" anchor="ctr"/>
          <a:lstStyle/>
          <a:p>
            <a:pPr marL="0" indent="0">
              <a:buNone/>
            </a:pPr>
            <a:r>
              <a:rPr lang="en-US" sz="1100" b="1" dirty="0">
                <a:solidFill>
                  <a:schemeClr val="tx2"/>
                </a:solidFill>
              </a:rPr>
              <a:t>Skill Demand Intelligence</a:t>
            </a:r>
            <a:endParaRPr lang="en-US" sz="1100" dirty="0"/>
          </a:p>
        </p:txBody>
      </p:sp>
      <p:sp>
        <p:nvSpPr>
          <p:cNvPr id="18" name="Page chip"/>
          <p:cNvSpPr/>
          <p:nvPr/>
        </p:nvSpPr>
        <p:spPr>
          <a:xfrm>
            <a:off x="3749040" y="4526280"/>
            <a:ext cx="1463040" cy="868680"/>
          </a:xfrm>
          <a:prstGeom prst="roundRect">
            <a:avLst>
              <a:gd name="adj" fmla="val 8421"/>
            </a:avLst>
          </a:prstGeom>
          <a:solidFill>
            <a:schemeClr val="bg2"/>
          </a:solidFill>
          <a:ln/>
        </p:spPr>
      </p:sp>
      <p:sp>
        <p:nvSpPr>
          <p:cNvPr id="19" name="Shape 16"/>
          <p:cNvSpPr/>
          <p:nvPr/>
        </p:nvSpPr>
        <p:spPr>
          <a:xfrm>
            <a:off x="3840480" y="4590288"/>
            <a:ext cx="292608" cy="292608"/>
          </a:xfrm>
          <a:prstGeom prst="ellipse">
            <a:avLst/>
          </a:prstGeom>
          <a:solidFill>
            <a:schemeClr val="accent2"/>
          </a:solidFill>
          <a:ln/>
        </p:spPr>
      </p:sp>
      <p:sp>
        <p:nvSpPr>
          <p:cNvPr id="20" name="Text 17"/>
          <p:cNvSpPr txBox="1"/>
          <p:nvPr/>
        </p:nvSpPr>
        <p:spPr>
          <a:xfrm>
            <a:off x="3840480" y="4590288"/>
            <a:ext cx="292608" cy="292608"/>
          </a:xfrm>
          <a:prstGeom prst="rect">
            <a:avLst/>
          </a:prstGeom>
          <a:noFill/>
          <a:ln/>
        </p:spPr>
        <p:txBody>
          <a:bodyPr wrap="square" lIns="0" tIns="0" rIns="0" bIns="0" rtlCol="0" anchor="ctr"/>
          <a:lstStyle/>
          <a:p>
            <a:pPr marL="0" indent="0" algn="ctr">
              <a:buNone/>
            </a:pPr>
            <a:r>
              <a:rPr lang="en-US" sz="1100" b="1" dirty="0">
                <a:solidFill>
                  <a:schemeClr val="bg1"/>
                </a:solidFill>
              </a:rPr>
              <a:t>3</a:t>
            </a:r>
            <a:endParaRPr lang="en-US" sz="1100" dirty="0"/>
          </a:p>
        </p:txBody>
      </p:sp>
      <p:sp>
        <p:nvSpPr>
          <p:cNvPr id="21" name="Text 18"/>
          <p:cNvSpPr txBox="1"/>
          <p:nvPr/>
        </p:nvSpPr>
        <p:spPr>
          <a:xfrm>
            <a:off x="3822192" y="4892040"/>
            <a:ext cx="1325880" cy="457200"/>
          </a:xfrm>
          <a:prstGeom prst="rect">
            <a:avLst/>
          </a:prstGeom>
          <a:noFill/>
          <a:ln/>
        </p:spPr>
        <p:txBody>
          <a:bodyPr wrap="square" lIns="0" tIns="0" rIns="0" bIns="0" rtlCol="0" anchor="ctr"/>
          <a:lstStyle/>
          <a:p>
            <a:pPr marL="0" indent="0">
              <a:buNone/>
            </a:pPr>
            <a:r>
              <a:rPr lang="en-US" sz="1100" b="1" dirty="0">
                <a:solidFill>
                  <a:schemeClr val="tx2"/>
                </a:solidFill>
              </a:rPr>
              <a:t>Salary Analytics</a:t>
            </a:r>
            <a:endParaRPr lang="en-US" sz="1100" dirty="0"/>
          </a:p>
        </p:txBody>
      </p:sp>
      <p:sp>
        <p:nvSpPr>
          <p:cNvPr id="22" name="Page chip"/>
          <p:cNvSpPr/>
          <p:nvPr/>
        </p:nvSpPr>
        <p:spPr>
          <a:xfrm>
            <a:off x="5349240" y="4526280"/>
            <a:ext cx="1463040" cy="868680"/>
          </a:xfrm>
          <a:prstGeom prst="roundRect">
            <a:avLst>
              <a:gd name="adj" fmla="val 8421"/>
            </a:avLst>
          </a:prstGeom>
          <a:solidFill>
            <a:schemeClr val="bg2"/>
          </a:solidFill>
          <a:ln/>
        </p:spPr>
      </p:sp>
      <p:sp>
        <p:nvSpPr>
          <p:cNvPr id="23" name="Shape 20"/>
          <p:cNvSpPr/>
          <p:nvPr/>
        </p:nvSpPr>
        <p:spPr>
          <a:xfrm>
            <a:off x="5440680" y="4590288"/>
            <a:ext cx="292608" cy="292608"/>
          </a:xfrm>
          <a:prstGeom prst="ellipse">
            <a:avLst/>
          </a:prstGeom>
          <a:solidFill>
            <a:schemeClr val="accent2"/>
          </a:solidFill>
          <a:ln/>
        </p:spPr>
      </p:sp>
      <p:sp>
        <p:nvSpPr>
          <p:cNvPr id="24" name="Text 21"/>
          <p:cNvSpPr txBox="1"/>
          <p:nvPr/>
        </p:nvSpPr>
        <p:spPr>
          <a:xfrm>
            <a:off x="5440680" y="4590288"/>
            <a:ext cx="292608" cy="292608"/>
          </a:xfrm>
          <a:prstGeom prst="rect">
            <a:avLst/>
          </a:prstGeom>
          <a:noFill/>
          <a:ln/>
        </p:spPr>
        <p:txBody>
          <a:bodyPr wrap="square" lIns="0" tIns="0" rIns="0" bIns="0" rtlCol="0" anchor="ctr"/>
          <a:lstStyle/>
          <a:p>
            <a:pPr marL="0" indent="0" algn="ctr">
              <a:buNone/>
            </a:pPr>
            <a:r>
              <a:rPr lang="en-US" sz="1100" b="1" dirty="0">
                <a:solidFill>
                  <a:schemeClr val="bg1"/>
                </a:solidFill>
              </a:rPr>
              <a:t>4</a:t>
            </a:r>
            <a:endParaRPr lang="en-US" sz="1100" dirty="0"/>
          </a:p>
        </p:txBody>
      </p:sp>
      <p:sp>
        <p:nvSpPr>
          <p:cNvPr id="25" name="Text 22"/>
          <p:cNvSpPr txBox="1"/>
          <p:nvPr/>
        </p:nvSpPr>
        <p:spPr>
          <a:xfrm>
            <a:off x="5422392" y="4892040"/>
            <a:ext cx="1325880" cy="457200"/>
          </a:xfrm>
          <a:prstGeom prst="rect">
            <a:avLst/>
          </a:prstGeom>
          <a:noFill/>
          <a:ln/>
        </p:spPr>
        <p:txBody>
          <a:bodyPr wrap="square" lIns="0" tIns="0" rIns="0" bIns="0" rtlCol="0" anchor="ctr"/>
          <a:lstStyle/>
          <a:p>
            <a:pPr marL="0" indent="0">
              <a:buNone/>
            </a:pPr>
            <a:r>
              <a:rPr lang="en-US" sz="1100" b="1" dirty="0">
                <a:solidFill>
                  <a:schemeClr val="tx2"/>
                </a:solidFill>
              </a:rPr>
              <a:t>Location &amp; Hiring</a:t>
            </a:r>
            <a:endParaRPr lang="en-US" sz="1100" dirty="0"/>
          </a:p>
        </p:txBody>
      </p:sp>
      <p:sp>
        <p:nvSpPr>
          <p:cNvPr id="26" name="Page chip"/>
          <p:cNvSpPr/>
          <p:nvPr/>
        </p:nvSpPr>
        <p:spPr>
          <a:xfrm>
            <a:off x="6949440" y="4526280"/>
            <a:ext cx="1463040" cy="868680"/>
          </a:xfrm>
          <a:prstGeom prst="roundRect">
            <a:avLst>
              <a:gd name="adj" fmla="val 8421"/>
            </a:avLst>
          </a:prstGeom>
          <a:solidFill>
            <a:schemeClr val="bg2"/>
          </a:solidFill>
          <a:ln/>
        </p:spPr>
      </p:sp>
      <p:sp>
        <p:nvSpPr>
          <p:cNvPr id="27" name="Shape 24"/>
          <p:cNvSpPr/>
          <p:nvPr/>
        </p:nvSpPr>
        <p:spPr>
          <a:xfrm>
            <a:off x="7040880" y="4590288"/>
            <a:ext cx="292608" cy="292608"/>
          </a:xfrm>
          <a:prstGeom prst="ellipse">
            <a:avLst/>
          </a:prstGeom>
          <a:solidFill>
            <a:schemeClr val="accent2"/>
          </a:solidFill>
          <a:ln/>
        </p:spPr>
      </p:sp>
      <p:sp>
        <p:nvSpPr>
          <p:cNvPr id="28" name="Text 25"/>
          <p:cNvSpPr txBox="1"/>
          <p:nvPr/>
        </p:nvSpPr>
        <p:spPr>
          <a:xfrm>
            <a:off x="7040880" y="4590288"/>
            <a:ext cx="292608" cy="292608"/>
          </a:xfrm>
          <a:prstGeom prst="rect">
            <a:avLst/>
          </a:prstGeom>
          <a:noFill/>
          <a:ln/>
        </p:spPr>
        <p:txBody>
          <a:bodyPr wrap="square" lIns="0" tIns="0" rIns="0" bIns="0" rtlCol="0" anchor="ctr"/>
          <a:lstStyle/>
          <a:p>
            <a:pPr marL="0" indent="0" algn="ctr">
              <a:buNone/>
            </a:pPr>
            <a:r>
              <a:rPr lang="en-US" sz="1100" b="1" dirty="0">
                <a:solidFill>
                  <a:schemeClr val="bg1"/>
                </a:solidFill>
              </a:rPr>
              <a:t>5</a:t>
            </a:r>
            <a:endParaRPr lang="en-US" sz="1100" dirty="0"/>
          </a:p>
        </p:txBody>
      </p:sp>
      <p:sp>
        <p:nvSpPr>
          <p:cNvPr id="29" name="Text 26"/>
          <p:cNvSpPr txBox="1"/>
          <p:nvPr/>
        </p:nvSpPr>
        <p:spPr>
          <a:xfrm>
            <a:off x="7022592" y="4892040"/>
            <a:ext cx="1325880" cy="457200"/>
          </a:xfrm>
          <a:prstGeom prst="rect">
            <a:avLst/>
          </a:prstGeom>
          <a:noFill/>
          <a:ln/>
        </p:spPr>
        <p:txBody>
          <a:bodyPr wrap="square" lIns="0" tIns="0" rIns="0" bIns="0" rtlCol="0" anchor="ctr"/>
          <a:lstStyle/>
          <a:p>
            <a:pPr marL="0" indent="0">
              <a:buNone/>
            </a:pPr>
            <a:r>
              <a:rPr lang="en-US" sz="1100" b="1" dirty="0">
                <a:solidFill>
                  <a:schemeClr val="tx2"/>
                </a:solidFill>
              </a:rPr>
              <a:t>Experience &amp; Job Roles</a:t>
            </a:r>
            <a:endParaRPr lang="en-US" sz="1100" dirty="0"/>
          </a:p>
        </p:txBody>
      </p:sp>
      <p:sp>
        <p:nvSpPr>
          <p:cNvPr id="30" name="Page chip"/>
          <p:cNvSpPr/>
          <p:nvPr/>
        </p:nvSpPr>
        <p:spPr>
          <a:xfrm>
            <a:off x="8549640" y="4526280"/>
            <a:ext cx="1463040" cy="868680"/>
          </a:xfrm>
          <a:prstGeom prst="roundRect">
            <a:avLst>
              <a:gd name="adj" fmla="val 8421"/>
            </a:avLst>
          </a:prstGeom>
          <a:solidFill>
            <a:schemeClr val="bg2"/>
          </a:solidFill>
          <a:ln/>
        </p:spPr>
      </p:sp>
      <p:sp>
        <p:nvSpPr>
          <p:cNvPr id="31" name="Shape 28"/>
          <p:cNvSpPr/>
          <p:nvPr/>
        </p:nvSpPr>
        <p:spPr>
          <a:xfrm>
            <a:off x="8641080" y="4590288"/>
            <a:ext cx="292608" cy="292608"/>
          </a:xfrm>
          <a:prstGeom prst="ellipse">
            <a:avLst/>
          </a:prstGeom>
          <a:solidFill>
            <a:schemeClr val="accent2"/>
          </a:solidFill>
          <a:ln/>
        </p:spPr>
      </p:sp>
      <p:sp>
        <p:nvSpPr>
          <p:cNvPr id="32" name="Text 29"/>
          <p:cNvSpPr txBox="1"/>
          <p:nvPr/>
        </p:nvSpPr>
        <p:spPr>
          <a:xfrm>
            <a:off x="8641080" y="4590288"/>
            <a:ext cx="292608" cy="292608"/>
          </a:xfrm>
          <a:prstGeom prst="rect">
            <a:avLst/>
          </a:prstGeom>
          <a:noFill/>
          <a:ln/>
        </p:spPr>
        <p:txBody>
          <a:bodyPr wrap="square" lIns="0" tIns="0" rIns="0" bIns="0" rtlCol="0" anchor="ctr"/>
          <a:lstStyle/>
          <a:p>
            <a:pPr marL="0" indent="0" algn="ctr">
              <a:buNone/>
            </a:pPr>
            <a:r>
              <a:rPr lang="en-US" sz="1100" b="1" dirty="0">
                <a:solidFill>
                  <a:schemeClr val="bg1"/>
                </a:solidFill>
              </a:rPr>
              <a:t>6</a:t>
            </a:r>
            <a:endParaRPr lang="en-US" sz="1100" dirty="0"/>
          </a:p>
        </p:txBody>
      </p:sp>
      <p:sp>
        <p:nvSpPr>
          <p:cNvPr id="33" name="Text 30"/>
          <p:cNvSpPr txBox="1"/>
          <p:nvPr/>
        </p:nvSpPr>
        <p:spPr>
          <a:xfrm>
            <a:off x="8622792" y="4892040"/>
            <a:ext cx="1325880" cy="457200"/>
          </a:xfrm>
          <a:prstGeom prst="rect">
            <a:avLst/>
          </a:prstGeom>
          <a:noFill/>
          <a:ln/>
        </p:spPr>
        <p:txBody>
          <a:bodyPr wrap="square" lIns="0" tIns="0" rIns="0" bIns="0" rtlCol="0" anchor="ctr"/>
          <a:lstStyle/>
          <a:p>
            <a:pPr marL="0" indent="0">
              <a:buNone/>
            </a:pPr>
            <a:r>
              <a:rPr lang="en-US" sz="1100" b="1" dirty="0">
                <a:solidFill>
                  <a:schemeClr val="tx2"/>
                </a:solidFill>
              </a:rPr>
              <a:t>Emerging Skill Trends</a:t>
            </a:r>
            <a:endParaRPr lang="en-US" sz="1100" dirty="0"/>
          </a:p>
        </p:txBody>
      </p:sp>
      <p:sp>
        <p:nvSpPr>
          <p:cNvPr id="34" name="Page chip"/>
          <p:cNvSpPr/>
          <p:nvPr/>
        </p:nvSpPr>
        <p:spPr>
          <a:xfrm>
            <a:off x="10149840" y="4526280"/>
            <a:ext cx="1463040" cy="868680"/>
          </a:xfrm>
          <a:prstGeom prst="roundRect">
            <a:avLst>
              <a:gd name="adj" fmla="val 8421"/>
            </a:avLst>
          </a:prstGeom>
          <a:solidFill>
            <a:schemeClr val="bg2"/>
          </a:solidFill>
          <a:ln/>
        </p:spPr>
      </p:sp>
      <p:sp>
        <p:nvSpPr>
          <p:cNvPr id="35" name="Shape 32"/>
          <p:cNvSpPr/>
          <p:nvPr/>
        </p:nvSpPr>
        <p:spPr>
          <a:xfrm>
            <a:off x="10241280" y="4590288"/>
            <a:ext cx="292608" cy="292608"/>
          </a:xfrm>
          <a:prstGeom prst="ellipse">
            <a:avLst/>
          </a:prstGeom>
          <a:solidFill>
            <a:schemeClr val="accent2"/>
          </a:solidFill>
          <a:ln/>
        </p:spPr>
      </p:sp>
      <p:sp>
        <p:nvSpPr>
          <p:cNvPr id="36" name="Text 33"/>
          <p:cNvSpPr txBox="1"/>
          <p:nvPr/>
        </p:nvSpPr>
        <p:spPr>
          <a:xfrm>
            <a:off x="10241280" y="4590288"/>
            <a:ext cx="292608" cy="292608"/>
          </a:xfrm>
          <a:prstGeom prst="rect">
            <a:avLst/>
          </a:prstGeom>
          <a:noFill/>
          <a:ln/>
        </p:spPr>
        <p:txBody>
          <a:bodyPr wrap="square" lIns="0" tIns="0" rIns="0" bIns="0" rtlCol="0" anchor="ctr"/>
          <a:lstStyle/>
          <a:p>
            <a:pPr marL="0" indent="0" algn="ctr">
              <a:buNone/>
            </a:pPr>
            <a:r>
              <a:rPr lang="en-US" sz="1100" b="1" dirty="0">
                <a:solidFill>
                  <a:schemeClr val="bg1"/>
                </a:solidFill>
              </a:rPr>
              <a:t>7</a:t>
            </a:r>
            <a:endParaRPr lang="en-US" sz="1100" dirty="0"/>
          </a:p>
        </p:txBody>
      </p:sp>
      <p:sp>
        <p:nvSpPr>
          <p:cNvPr id="37" name="Text 34"/>
          <p:cNvSpPr txBox="1"/>
          <p:nvPr/>
        </p:nvSpPr>
        <p:spPr>
          <a:xfrm>
            <a:off x="10222992" y="4892040"/>
            <a:ext cx="1325880" cy="457200"/>
          </a:xfrm>
          <a:prstGeom prst="rect">
            <a:avLst/>
          </a:prstGeom>
          <a:noFill/>
          <a:ln/>
        </p:spPr>
        <p:txBody>
          <a:bodyPr wrap="square" lIns="0" tIns="0" rIns="0" bIns="0" rtlCol="0" anchor="ctr"/>
          <a:lstStyle/>
          <a:p>
            <a:pPr marL="0" indent="0">
              <a:buNone/>
            </a:pPr>
            <a:r>
              <a:rPr lang="en-US" sz="1100" b="1" dirty="0">
                <a:solidFill>
                  <a:schemeClr val="tx2"/>
                </a:solidFill>
              </a:rPr>
              <a:t>Data Explorer</a:t>
            </a:r>
            <a:endParaRPr lang="en-US" sz="1100" dirty="0"/>
          </a:p>
        </p:txBody>
      </p:sp>
      <p:sp>
        <p:nvSpPr>
          <p:cNvPr id="38" name="Text 35"/>
          <p:cNvSpPr txBox="1"/>
          <p:nvPr/>
        </p:nvSpPr>
        <p:spPr>
          <a:xfrm>
            <a:off x="548640" y="5623560"/>
            <a:ext cx="11109960" cy="457200"/>
          </a:xfrm>
          <a:prstGeom prst="rect">
            <a:avLst/>
          </a:prstGeom>
          <a:noFill/>
          <a:ln/>
        </p:spPr>
        <p:txBody>
          <a:bodyPr wrap="square" lIns="0" tIns="0" rIns="0" bIns="0" rtlCol="0" anchor="ctr"/>
          <a:lstStyle/>
          <a:p>
            <a:pPr marL="0" indent="0">
              <a:buNone/>
            </a:pPr>
            <a:r>
              <a:rPr lang="en-US" sz="1400" b="1" dirty="0">
                <a:solidFill>
                  <a:schemeClr val="accent1"/>
                </a:solidFill>
              </a:rPr>
              <a:t>Global filters (location, role, experience, salary)   |   KPI cards   |   Interactive Plotly charts   |   CSV export in Data Explorer</a:t>
            </a:r>
            <a:endParaRPr lang="en-US" sz="1400" dirty="0"/>
          </a:p>
        </p:txBody>
      </p:sp>
      <p:sp>
        <p:nvSpPr>
          <p:cNvPr id="39" name="Slide Number Placeholder 0"/>
          <p:cNvSpPr>
            <a:spLocks noGrp="1"/>
          </p:cNvSpPr>
          <p:nvPr>
            <p:ph type="sldNum" sz="quarter" idx="4294967295"/>
          </p:nvPr>
        </p:nvSpPr>
        <p:spPr>
          <a:xfrm>
            <a:off x="10972800" y="6446520"/>
            <a:ext cx="64008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24</a:t>
            </a:fld>
            <a:endParaRPr lang="en-US"/>
          </a:p>
        </p:txBody>
      </p:sp>
      <p:pic>
        <p:nvPicPr>
          <p:cNvPr id="41" name="Picture 40">
            <a:extLst>
              <a:ext uri="{FF2B5EF4-FFF2-40B4-BE49-F238E27FC236}">
                <a16:creationId xmlns:a16="http://schemas.microsoft.com/office/drawing/2014/main" id="{DFA7C904-BE14-40DF-A1EB-B2BC03E99025}"/>
              </a:ext>
            </a:extLst>
          </p:cNvPr>
          <p:cNvPicPr>
            <a:picLocks noChangeAspect="1"/>
          </p:cNvPicPr>
          <p:nvPr/>
        </p:nvPicPr>
        <p:blipFill>
          <a:blip r:embed="rId4"/>
          <a:stretch>
            <a:fillRect/>
          </a:stretch>
        </p:blipFill>
        <p:spPr>
          <a:xfrm>
            <a:off x="6035040" y="1430121"/>
            <a:ext cx="5457907" cy="262798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INTEGRITY AND NEXT STEPS</a:t>
            </a:r>
            <a:endParaRPr lang="en-US" sz="1200" dirty="0"/>
          </a:p>
        </p:txBody>
      </p:sp>
      <p:sp>
        <p:nvSpPr>
          <p:cNvPr id="3" name="Text 0"/>
          <p:cNvSpPr>
            <a:spLocks noGrp="1"/>
          </p:cNvSpPr>
          <p:nvPr>
            <p:ph type="title" idx="100" hasCustomPrompt="1"/>
          </p:nvPr>
        </p:nvSpPr>
        <p:spPr>
          <a:xfrm>
            <a:off x="548640" y="566928"/>
            <a:ext cx="9418320" cy="685800"/>
          </a:xfrm>
          <a:prstGeom prst="rect">
            <a:avLst/>
          </a:prstGeom>
          <a:noFill/>
          <a:ln/>
        </p:spPr>
        <p:txBody>
          <a:bodyPr wrap="square" lIns="0" tIns="0" rIns="0" bIns="0" rtlCol="0" anchor="ctr"/>
          <a:lstStyle/>
          <a:p>
            <a:pPr marL="0" indent="0" algn="l">
              <a:buNone/>
            </a:pPr>
            <a:r>
              <a:rPr lang="en-US" sz="3200" b="1" dirty="0">
                <a:solidFill>
                  <a:schemeClr val="tx2"/>
                </a:solidFill>
              </a:rPr>
              <a:t>Integrity, Limitations, Future Work</a:t>
            </a:r>
            <a:endParaRPr lang="en-US" sz="3200" dirty="0"/>
          </a:p>
        </p:txBody>
      </p:sp>
      <p:sp>
        <p:nvSpPr>
          <p:cNvPr id="11" name="Shape 11"/>
          <p:cNvSpPr/>
          <p:nvPr/>
        </p:nvSpPr>
        <p:spPr>
          <a:xfrm>
            <a:off x="548640" y="1371600"/>
            <a:ext cx="3593592" cy="4526280"/>
          </a:xfrm>
          <a:prstGeom prst="roundRect">
            <a:avLst>
              <a:gd name="adj" fmla="val 3000"/>
            </a:avLst>
          </a:prstGeom>
          <a:solidFill>
            <a:schemeClr val="bg2"/>
          </a:solidFill>
          <a:ln/>
        </p:spPr>
      </p:sp>
      <p:sp>
        <p:nvSpPr>
          <p:cNvPr id="12" name="Shape 12"/>
          <p:cNvSpPr/>
          <p:nvPr/>
        </p:nvSpPr>
        <p:spPr>
          <a:xfrm>
            <a:off x="731520" y="1536192"/>
            <a:ext cx="3227832" cy="384048"/>
          </a:xfrm>
          <a:prstGeom prst="roundRect">
            <a:avLst>
              <a:gd name="adj" fmla="val 50000"/>
            </a:avLst>
          </a:prstGeom>
          <a:solidFill>
            <a:schemeClr val="accent6"/>
          </a:solidFill>
          <a:ln/>
        </p:spPr>
      </p:sp>
      <p:sp>
        <p:nvSpPr>
          <p:cNvPr id="13" name="Text 13"/>
          <p:cNvSpPr txBox="1"/>
          <p:nvPr/>
        </p:nvSpPr>
        <p:spPr>
          <a:xfrm>
            <a:off x="777240" y="1536192"/>
            <a:ext cx="3136392" cy="384048"/>
          </a:xfrm>
          <a:prstGeom prst="rect">
            <a:avLst/>
          </a:prstGeom>
          <a:noFill/>
          <a:ln/>
        </p:spPr>
        <p:txBody>
          <a:bodyPr wrap="square" lIns="0" tIns="0" rIns="0" bIns="0" rtlCol="0" anchor="ctr"/>
          <a:lstStyle/>
          <a:p>
            <a:pPr marL="0" indent="0" algn="ctr">
              <a:buNone/>
            </a:pPr>
            <a:r>
              <a:rPr lang="en-US" sz="1250" b="1" dirty="0">
                <a:solidFill>
                  <a:srgbClr val="FFFFFF"/>
                </a:solidFill>
              </a:rPr>
              <a:t>Implemented: data integrity</a:t>
            </a:r>
            <a:endParaRPr lang="en-US" sz="1200" dirty="0"/>
          </a:p>
        </p:txBody>
      </p:sp>
      <p:sp>
        <p:nvSpPr>
          <p:cNvPr id="14" name="Text 14"/>
          <p:cNvSpPr txBox="1"/>
          <p:nvPr/>
        </p:nvSpPr>
        <p:spPr>
          <a:xfrm>
            <a:off x="749808" y="2103120"/>
            <a:ext cx="3200400" cy="3703320"/>
          </a:xfrm>
          <a:prstGeom prst="rect">
            <a:avLst/>
          </a:prstGeom>
          <a:noFill/>
          <a:ln/>
        </p:spPr>
        <p:txBody>
          <a:bodyPr wrap="square" lIns="0" tIns="0" rIns="0" bIns="0" rtlCol="0" anchor="t"/>
          <a:lstStyle/>
          <a:p>
            <a:pPr marL="228600" indent="-228600" algn="l">
              <a:spcAft>
                <a:spcPts val="500"/>
              </a:spcAft>
              <a:buFont typeface="Arial"/>
              <a:buChar char="•"/>
            </a:pPr>
            <a:r>
              <a:rPr lang="en-US" sz="1400" dirty="0">
                <a:solidFill>
                  <a:schemeClr val="tx1"/>
                </a:solidFill>
              </a:rPr>
              <a:t>No fabricated statistics: every figure traces to a Hive result</a:t>
            </a:r>
            <a:endParaRPr lang="en-US" sz="1400" dirty="0"/>
          </a:p>
          <a:p>
            <a:pPr marL="228600" indent="-228600" algn="l">
              <a:spcAft>
                <a:spcPts val="500"/>
              </a:spcAft>
              <a:buFont typeface="Arial"/>
              <a:buChar char="•"/>
            </a:pPr>
            <a:r>
              <a:rPr lang="en-US" sz="1400" dirty="0">
                <a:solidFill>
                  <a:schemeClr val="tx1"/>
                </a:solidFill>
              </a:rPr>
              <a:t>Salary only when disclosed and valid; INR and USD kept separate</a:t>
            </a:r>
            <a:endParaRPr lang="en-US" sz="1400" dirty="0"/>
          </a:p>
          <a:p>
            <a:pPr marL="228600" indent="-228600" algn="l">
              <a:spcAft>
                <a:spcPts val="500"/>
              </a:spcAft>
              <a:buFont typeface="Arial"/>
              <a:buChar char="•"/>
            </a:pPr>
            <a:r>
              <a:rPr lang="en-US" sz="1400" dirty="0">
                <a:solidFill>
                  <a:schemeClr val="tx1"/>
                </a:solidFill>
              </a:rPr>
              <a:t>Each skill counted once per posting (COUNT DISTINCT)</a:t>
            </a:r>
            <a:endParaRPr lang="en-US" sz="1400" dirty="0"/>
          </a:p>
          <a:p>
            <a:pPr marL="228600" indent="-228600" algn="l">
              <a:spcAft>
                <a:spcPts val="500"/>
              </a:spcAft>
              <a:buFont typeface="Arial"/>
              <a:buChar char="•"/>
            </a:pPr>
            <a:r>
              <a:rPr lang="en-US" sz="1400" dirty="0">
                <a:solidFill>
                  <a:schemeClr val="tx1"/>
                </a:solidFill>
              </a:rPr>
              <a:t>Salary averages need at least 5 postings per role</a:t>
            </a:r>
            <a:endParaRPr lang="en-US" sz="1400" dirty="0"/>
          </a:p>
          <a:p>
            <a:pPr marL="228600" indent="-228600" algn="l">
              <a:spcAft>
                <a:spcPts val="500"/>
              </a:spcAft>
              <a:buFont typeface="Arial"/>
              <a:buChar char="•"/>
            </a:pPr>
            <a:r>
              <a:rPr lang="en-US" sz="1400" dirty="0">
                <a:solidFill>
                  <a:schemeClr val="tx1"/>
                </a:solidFill>
              </a:rPr>
              <a:t>Outlier-driven averages called out, e.g. deputy manager</a:t>
            </a:r>
            <a:endParaRPr lang="en-US" sz="1400" dirty="0"/>
          </a:p>
          <a:p>
            <a:pPr marL="228600" indent="-228600" algn="l">
              <a:spcAft>
                <a:spcPts val="500"/>
              </a:spcAft>
              <a:buFont typeface="Arial"/>
              <a:buChar char="•"/>
            </a:pPr>
            <a:r>
              <a:rPr lang="en-US" sz="1400" dirty="0">
                <a:solidFill>
                  <a:schemeClr val="tx1"/>
                </a:solidFill>
              </a:rPr>
              <a:t>Thin SDVI signals flagged low-confidence (3 to 6 mentions)</a:t>
            </a:r>
            <a:endParaRPr lang="en-US" sz="1400" dirty="0"/>
          </a:p>
          <a:p>
            <a:pPr marL="228600" indent="-228600" algn="l">
              <a:spcAft>
                <a:spcPts val="500"/>
              </a:spcAft>
              <a:buFont typeface="Arial"/>
              <a:buChar char="•"/>
            </a:pPr>
            <a:r>
              <a:rPr lang="en-US" sz="1400" dirty="0">
                <a:solidFill>
                  <a:schemeClr val="tx1"/>
                </a:solidFill>
              </a:rPr>
              <a:t>Reproducible run: run_full_pipeline.sh</a:t>
            </a:r>
            <a:endParaRPr lang="en-US" sz="1400" dirty="0"/>
          </a:p>
        </p:txBody>
      </p:sp>
      <p:sp>
        <p:nvSpPr>
          <p:cNvPr id="15" name="Shape 15"/>
          <p:cNvSpPr/>
          <p:nvPr/>
        </p:nvSpPr>
        <p:spPr>
          <a:xfrm>
            <a:off x="4297680" y="1371600"/>
            <a:ext cx="3593592" cy="4526280"/>
          </a:xfrm>
          <a:prstGeom prst="roundRect">
            <a:avLst>
              <a:gd name="adj" fmla="val 3000"/>
            </a:avLst>
          </a:prstGeom>
          <a:solidFill>
            <a:schemeClr val="bg2"/>
          </a:solidFill>
          <a:ln/>
        </p:spPr>
      </p:sp>
      <p:sp>
        <p:nvSpPr>
          <p:cNvPr id="16" name="Shape 16"/>
          <p:cNvSpPr/>
          <p:nvPr/>
        </p:nvSpPr>
        <p:spPr>
          <a:xfrm>
            <a:off x="4480560" y="1536192"/>
            <a:ext cx="3227832" cy="384048"/>
          </a:xfrm>
          <a:prstGeom prst="roundRect">
            <a:avLst>
              <a:gd name="adj" fmla="val 50000"/>
            </a:avLst>
          </a:prstGeom>
          <a:solidFill>
            <a:schemeClr val="accent5"/>
          </a:solidFill>
          <a:ln/>
        </p:spPr>
      </p:sp>
      <p:sp>
        <p:nvSpPr>
          <p:cNvPr id="17" name="Text 17"/>
          <p:cNvSpPr txBox="1"/>
          <p:nvPr/>
        </p:nvSpPr>
        <p:spPr>
          <a:xfrm>
            <a:off x="4526280" y="1536192"/>
            <a:ext cx="3136392" cy="384048"/>
          </a:xfrm>
          <a:prstGeom prst="rect">
            <a:avLst/>
          </a:prstGeom>
          <a:noFill/>
          <a:ln/>
        </p:spPr>
        <p:txBody>
          <a:bodyPr wrap="square" lIns="0" tIns="0" rIns="0" bIns="0" rtlCol="0" anchor="ctr"/>
          <a:lstStyle/>
          <a:p>
            <a:pPr marL="0" indent="0" algn="ctr">
              <a:buNone/>
            </a:pPr>
            <a:r>
              <a:rPr lang="en-US" sz="1250" b="1" dirty="0">
                <a:solidFill>
                  <a:srgbClr val="FFFFFF"/>
                </a:solidFill>
              </a:rPr>
              <a:t>Limitations</a:t>
            </a:r>
            <a:endParaRPr lang="en-US" sz="1200" dirty="0"/>
          </a:p>
        </p:txBody>
      </p:sp>
      <p:sp>
        <p:nvSpPr>
          <p:cNvPr id="18" name="Text 18"/>
          <p:cNvSpPr txBox="1"/>
          <p:nvPr/>
        </p:nvSpPr>
        <p:spPr>
          <a:xfrm>
            <a:off x="4498848" y="2103120"/>
            <a:ext cx="3200400" cy="3703320"/>
          </a:xfrm>
          <a:prstGeom prst="rect">
            <a:avLst/>
          </a:prstGeom>
          <a:noFill/>
          <a:ln/>
        </p:spPr>
        <p:txBody>
          <a:bodyPr wrap="square" lIns="0" tIns="0" rIns="0" bIns="0" rtlCol="0" anchor="t"/>
          <a:lstStyle/>
          <a:p>
            <a:pPr marL="228600" indent="-228600" algn="l">
              <a:spcAft>
                <a:spcPts val="500"/>
              </a:spcAft>
              <a:buFont typeface="Arial"/>
              <a:buChar char="•"/>
            </a:pPr>
            <a:r>
              <a:rPr lang="en-US" sz="1400" dirty="0">
                <a:solidFill>
                  <a:schemeClr val="tx1"/>
                </a:solidFill>
              </a:rPr>
              <a:t>Phase I recency is relative: skill_trends has period = unknown on all 44,021 rows</a:t>
            </a:r>
            <a:endParaRPr lang="en-US" sz="1400" dirty="0"/>
          </a:p>
          <a:p>
            <a:pPr marL="228600" indent="-228600" algn="l">
              <a:spcAft>
                <a:spcPts val="500"/>
              </a:spcAft>
              <a:buFont typeface="Arial"/>
              <a:buChar char="•"/>
            </a:pPr>
            <a:r>
              <a:rPr lang="en-US" sz="1400" dirty="0">
                <a:solidFill>
                  <a:schemeClr val="tx1"/>
                </a:solidFill>
              </a:rPr>
              <a:t>No year-over-year growth for the Indian dataset</a:t>
            </a:r>
            <a:endParaRPr lang="en-US" sz="1400" dirty="0"/>
          </a:p>
          <a:p>
            <a:pPr marL="228600" indent="-228600" algn="l">
              <a:spcAft>
                <a:spcPts val="500"/>
              </a:spcAft>
              <a:buFont typeface="Arial"/>
              <a:buChar char="•"/>
            </a:pPr>
            <a:r>
              <a:rPr lang="en-US" sz="1400" dirty="0">
                <a:solidFill>
                  <a:schemeClr val="tx1"/>
                </a:solidFill>
              </a:rPr>
              <a:t>Trends come from a separate LinkedIn set: 10,000 postings, Jan-Jun 2024</a:t>
            </a:r>
            <a:endParaRPr lang="en-US" sz="1400" dirty="0"/>
          </a:p>
          <a:p>
            <a:pPr marL="228600" indent="-228600" algn="l">
              <a:spcAft>
                <a:spcPts val="500"/>
              </a:spcAft>
              <a:buFont typeface="Arial"/>
              <a:buChar char="•"/>
            </a:pPr>
            <a:r>
              <a:rPr lang="en-US" sz="1400" dirty="0">
                <a:solidFill>
                  <a:schemeClr val="tx1"/>
                </a:solidFill>
              </a:rPr>
              <a:t>SDVI on very small counts is noisy</a:t>
            </a:r>
            <a:endParaRPr lang="en-US" sz="1400" dirty="0"/>
          </a:p>
          <a:p>
            <a:pPr marL="228600" indent="-228600" algn="l">
              <a:spcAft>
                <a:spcPts val="500"/>
              </a:spcAft>
              <a:buFont typeface="Arial"/>
              <a:buChar char="•"/>
            </a:pPr>
            <a:r>
              <a:rPr lang="en-US" sz="1400" dirty="0">
                <a:solidFill>
                  <a:schemeClr val="tx1"/>
                </a:solidFill>
              </a:rPr>
              <a:t>Local WSL setup, not a live distributed cluster</a:t>
            </a:r>
            <a:endParaRPr lang="en-US" sz="1400" dirty="0"/>
          </a:p>
          <a:p>
            <a:pPr marL="228600" indent="-228600" algn="l">
              <a:spcAft>
                <a:spcPts val="500"/>
              </a:spcAft>
              <a:buFont typeface="Arial"/>
              <a:buChar char="•"/>
            </a:pPr>
            <a:r>
              <a:rPr lang="en-US" sz="1400" dirty="0">
                <a:solidFill>
                  <a:schemeClr val="tx1"/>
                </a:solidFill>
              </a:rPr>
              <a:t>Case and whitespace only: no alias mapping</a:t>
            </a:r>
            <a:endParaRPr lang="en-US" sz="1400" dirty="0"/>
          </a:p>
        </p:txBody>
      </p:sp>
      <p:sp>
        <p:nvSpPr>
          <p:cNvPr id="19" name="Shape 19"/>
          <p:cNvSpPr/>
          <p:nvPr/>
        </p:nvSpPr>
        <p:spPr>
          <a:xfrm>
            <a:off x="8046720" y="1371600"/>
            <a:ext cx="3593592" cy="4526280"/>
          </a:xfrm>
          <a:prstGeom prst="roundRect">
            <a:avLst>
              <a:gd name="adj" fmla="val 3000"/>
            </a:avLst>
          </a:prstGeom>
          <a:solidFill>
            <a:schemeClr val="bg2"/>
          </a:solidFill>
          <a:ln/>
        </p:spPr>
      </p:sp>
      <p:sp>
        <p:nvSpPr>
          <p:cNvPr id="20" name="Shape 20"/>
          <p:cNvSpPr/>
          <p:nvPr/>
        </p:nvSpPr>
        <p:spPr>
          <a:xfrm>
            <a:off x="8229600" y="1536192"/>
            <a:ext cx="3227832" cy="384048"/>
          </a:xfrm>
          <a:prstGeom prst="roundRect">
            <a:avLst>
              <a:gd name="adj" fmla="val 50000"/>
            </a:avLst>
          </a:prstGeom>
          <a:solidFill>
            <a:schemeClr val="accent2"/>
          </a:solidFill>
          <a:ln/>
        </p:spPr>
      </p:sp>
      <p:sp>
        <p:nvSpPr>
          <p:cNvPr id="21" name="Text 21"/>
          <p:cNvSpPr txBox="1"/>
          <p:nvPr/>
        </p:nvSpPr>
        <p:spPr>
          <a:xfrm>
            <a:off x="8275320" y="1536192"/>
            <a:ext cx="3136392" cy="384048"/>
          </a:xfrm>
          <a:prstGeom prst="rect">
            <a:avLst/>
          </a:prstGeom>
          <a:noFill/>
          <a:ln/>
        </p:spPr>
        <p:txBody>
          <a:bodyPr wrap="square" lIns="0" tIns="0" rIns="0" bIns="0" rtlCol="0" anchor="ctr"/>
          <a:lstStyle/>
          <a:p>
            <a:pPr marL="0" indent="0" algn="ctr">
              <a:buNone/>
            </a:pPr>
            <a:r>
              <a:rPr lang="en-US" sz="1250" b="1" dirty="0">
                <a:solidFill>
                  <a:srgbClr val="FFFFFF"/>
                </a:solidFill>
              </a:rPr>
              <a:t>Future work (not implemented)</a:t>
            </a:r>
            <a:endParaRPr lang="en-US" sz="1200" dirty="0"/>
          </a:p>
        </p:txBody>
      </p:sp>
      <p:sp>
        <p:nvSpPr>
          <p:cNvPr id="22" name="Text 22"/>
          <p:cNvSpPr txBox="1"/>
          <p:nvPr/>
        </p:nvSpPr>
        <p:spPr>
          <a:xfrm>
            <a:off x="8247888" y="2103120"/>
            <a:ext cx="3200400" cy="3703320"/>
          </a:xfrm>
          <a:prstGeom prst="rect">
            <a:avLst/>
          </a:prstGeom>
          <a:noFill/>
          <a:ln/>
        </p:spPr>
        <p:txBody>
          <a:bodyPr wrap="square" lIns="0" tIns="0" rIns="0" bIns="0" rtlCol="0" anchor="t"/>
          <a:lstStyle/>
          <a:p>
            <a:pPr marL="228600" indent="-228600" algn="l">
              <a:spcAft>
                <a:spcPts val="500"/>
              </a:spcAft>
              <a:buFont typeface="Arial"/>
              <a:buChar char="•"/>
            </a:pPr>
            <a:r>
              <a:rPr lang="en-US" sz="1400" dirty="0">
                <a:solidFill>
                  <a:schemeClr val="tx1"/>
                </a:solidFill>
              </a:rPr>
              <a:t>Acquire a dated corpus covering 12+ months</a:t>
            </a:r>
            <a:endParaRPr lang="en-US" sz="1400" dirty="0"/>
          </a:p>
          <a:p>
            <a:pPr marL="228600" indent="-228600" algn="l">
              <a:spcAft>
                <a:spcPts val="500"/>
              </a:spcAft>
              <a:buFont typeface="Arial"/>
              <a:buChar char="•"/>
            </a:pPr>
            <a:r>
              <a:rPr lang="en-US" sz="1400" dirty="0">
                <a:solidFill>
                  <a:schemeClr val="tx1"/>
                </a:solidFill>
              </a:rPr>
              <a:t>Stamp every scrape with scrape_date; derive posting_date in Pig</a:t>
            </a:r>
            <a:endParaRPr lang="en-US" sz="1400" dirty="0"/>
          </a:p>
          <a:p>
            <a:pPr marL="228600" indent="-228600" algn="l">
              <a:spcAft>
                <a:spcPts val="500"/>
              </a:spcAft>
              <a:buFont typeface="Arial"/>
              <a:buChar char="•"/>
            </a:pPr>
            <a:r>
              <a:rPr lang="en-US" sz="1400" dirty="0">
                <a:solidFill>
                  <a:schemeClr val="tx1"/>
                </a:solidFill>
              </a:rPr>
              <a:t>Collect weekly into dated HDFS directories</a:t>
            </a:r>
            <a:endParaRPr lang="en-US" sz="1400" dirty="0"/>
          </a:p>
          <a:p>
            <a:pPr marL="228600" indent="-228600" algn="l">
              <a:spcAft>
                <a:spcPts val="500"/>
              </a:spcAft>
              <a:buFont typeface="Arial"/>
              <a:buChar char="•"/>
            </a:pPr>
            <a:r>
              <a:rPr lang="en-US" sz="1400" dirty="0">
                <a:solidFill>
                  <a:schemeClr val="tx1"/>
                </a:solidFill>
              </a:rPr>
              <a:t>Partition the Hive warehouse by month (MSCK REPAIR TABLE)</a:t>
            </a:r>
            <a:endParaRPr lang="en-US" sz="1400" dirty="0"/>
          </a:p>
          <a:p>
            <a:pPr marL="228600" indent="-228600" algn="l">
              <a:spcAft>
                <a:spcPts val="500"/>
              </a:spcAft>
              <a:buFont typeface="Arial"/>
              <a:buChar char="•"/>
            </a:pPr>
            <a:r>
              <a:rPr lang="en-US" sz="1400" dirty="0">
                <a:solidFill>
                  <a:schemeClr val="tx1"/>
                </a:solidFill>
              </a:rPr>
              <a:t>Rebuild skill_trends with LAG, then apply SDVI</a:t>
            </a:r>
            <a:endParaRPr lang="en-US" sz="1400" dirty="0"/>
          </a:p>
          <a:p>
            <a:pPr marL="228600" indent="-228600" algn="l">
              <a:spcAft>
                <a:spcPts val="500"/>
              </a:spcAft>
              <a:buFont typeface="Arial"/>
              <a:buChar char="•"/>
            </a:pPr>
            <a:r>
              <a:rPr lang="en-US" sz="1400" dirty="0">
                <a:solidFill>
                  <a:schemeClr val="tx1"/>
                </a:solidFill>
              </a:rPr>
              <a:t>Add a minimum-mention gate; report median beside mean</a:t>
            </a:r>
            <a:endParaRPr lang="en-US" sz="1400" dirty="0"/>
          </a:p>
          <a:p>
            <a:pPr marL="228600" indent="-228600" algn="l">
              <a:spcAft>
                <a:spcPts val="500"/>
              </a:spcAft>
              <a:buFont typeface="Arial"/>
              <a:buChar char="•"/>
            </a:pPr>
            <a:r>
              <a:rPr lang="en-US" sz="1400" dirty="0">
                <a:solidFill>
                  <a:schemeClr val="tx1"/>
                </a:solidFill>
              </a:rPr>
              <a:t>Canonicalize locations and titles</a:t>
            </a:r>
            <a:endParaRPr lang="en-US" sz="1400" dirty="0"/>
          </a:p>
        </p:txBody>
      </p:sp>
      <p:sp>
        <p:nvSpPr>
          <p:cNvPr id="990" name="Slide Number Placeholder 0"/>
          <p:cNvSpPr>
            <a:spLocks noGrp="1"/>
          </p:cNvSpPr>
          <p:nvPr>
            <p:ph type="sldNum" sz="quarter" idx="4294967295"/>
          </p:nvPr>
        </p:nvSpPr>
        <p:spPr>
          <a:xfrm>
            <a:off x="10972800" y="6446520"/>
            <a:ext cx="640080" cy="256032"/>
          </a:xfrm>
          <a:prstGeom prst="rect">
            <a:avLst/>
          </a:prstGeom>
        </p:spPr>
        <p:txBody>
          <a:bodyPr/>
          <a:lstStyle>
            <a:lvl1pPr>
              <a:defRPr sz="1000">
                <a:solidFill>
                  <a:schemeClr val="accent4"/>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640080" y="640080"/>
            <a:ext cx="4572000" cy="274320"/>
          </a:xfrm>
          <a:prstGeom prst="rect">
            <a:avLst/>
          </a:prstGeom>
          <a:noFill/>
          <a:ln/>
        </p:spPr>
        <p:txBody>
          <a:bodyPr wrap="square" lIns="0" tIns="0" rIns="0" bIns="0" rtlCol="0" anchor="t"/>
          <a:lstStyle/>
          <a:p>
            <a:pPr marL="0" indent="0">
              <a:buNone/>
            </a:pPr>
            <a:r>
              <a:rPr lang="en-US" sz="1300" b="1" kern="0" spc="300" dirty="0">
                <a:solidFill>
                  <a:srgbClr val="0E9AA7"/>
                </a:solidFill>
              </a:rPr>
              <a:t>CONCLUSION</a:t>
            </a:r>
            <a:endParaRPr lang="en-US" sz="1300" dirty="0"/>
          </a:p>
        </p:txBody>
      </p:sp>
      <p:sp>
        <p:nvSpPr>
          <p:cNvPr id="3" name="Shape 1"/>
          <p:cNvSpPr/>
          <p:nvPr/>
        </p:nvSpPr>
        <p:spPr>
          <a:xfrm>
            <a:off x="640080" y="1097280"/>
            <a:ext cx="2606040" cy="1417320"/>
          </a:xfrm>
          <a:prstGeom prst="roundRect">
            <a:avLst>
              <a:gd name="adj" fmla="val 7742"/>
            </a:avLst>
          </a:prstGeom>
          <a:solidFill>
            <a:schemeClr val="accent1">
              <a:alpha val="85000"/>
            </a:schemeClr>
          </a:solidFill>
          <a:ln/>
        </p:spPr>
      </p:sp>
      <p:sp>
        <p:nvSpPr>
          <p:cNvPr id="4" name="Text 2"/>
          <p:cNvSpPr txBox="1"/>
          <p:nvPr/>
        </p:nvSpPr>
        <p:spPr>
          <a:xfrm>
            <a:off x="822960" y="1097280"/>
            <a:ext cx="2286000" cy="1417320"/>
          </a:xfrm>
          <a:prstGeom prst="rect">
            <a:avLst/>
          </a:prstGeom>
          <a:noFill/>
          <a:ln/>
        </p:spPr>
        <p:txBody>
          <a:bodyPr wrap="square" lIns="0" tIns="0" rIns="0" bIns="0" rtlCol="0" anchor="ctr"/>
          <a:lstStyle/>
          <a:p>
            <a:pPr marL="0" indent="0">
              <a:buNone/>
            </a:pPr>
            <a:r>
              <a:rPr lang="en-US" sz="2200" b="1" dirty="0">
                <a:solidFill>
                  <a:srgbClr val="FFFFFF"/>
                </a:solidFill>
              </a:rPr>
              <a:t>HDFS</a:t>
            </a:r>
            <a:endParaRPr lang="en-US" sz="1400" dirty="0"/>
          </a:p>
          <a:p>
            <a:pPr marL="0" indent="0">
              <a:buNone/>
            </a:pPr>
            <a:r>
              <a:rPr lang="en-US" sz="1400" dirty="0">
                <a:solidFill>
                  <a:srgbClr val="FFFFFF"/>
                </a:solidFill>
              </a:rPr>
              <a:t>stores the cleaned dataset</a:t>
            </a:r>
            <a:endParaRPr lang="en-US" sz="1400" dirty="0"/>
          </a:p>
        </p:txBody>
      </p:sp>
      <p:sp>
        <p:nvSpPr>
          <p:cNvPr id="5" name="Shape 3"/>
          <p:cNvSpPr/>
          <p:nvPr/>
        </p:nvSpPr>
        <p:spPr>
          <a:xfrm>
            <a:off x="3246120" y="1810512"/>
            <a:ext cx="182880" cy="0"/>
          </a:xfrm>
          <a:prstGeom prst="line">
            <a:avLst/>
          </a:prstGeom>
          <a:noFill/>
          <a:ln w="25400">
            <a:solidFill>
              <a:srgbClr val="9FB3C8"/>
            </a:solidFill>
            <a:prstDash val="solid"/>
            <a:tailEnd type="triangle"/>
          </a:ln>
        </p:spPr>
      </p:sp>
      <p:sp>
        <p:nvSpPr>
          <p:cNvPr id="6" name="Shape 4"/>
          <p:cNvSpPr/>
          <p:nvPr/>
        </p:nvSpPr>
        <p:spPr>
          <a:xfrm>
            <a:off x="3429000" y="1097280"/>
            <a:ext cx="2606040" cy="1417320"/>
          </a:xfrm>
          <a:prstGeom prst="roundRect">
            <a:avLst>
              <a:gd name="adj" fmla="val 7742"/>
            </a:avLst>
          </a:prstGeom>
          <a:solidFill>
            <a:schemeClr val="accent2">
              <a:alpha val="85000"/>
            </a:schemeClr>
          </a:solidFill>
          <a:ln/>
        </p:spPr>
      </p:sp>
      <p:sp>
        <p:nvSpPr>
          <p:cNvPr id="7" name="Text 5"/>
          <p:cNvSpPr txBox="1"/>
          <p:nvPr/>
        </p:nvSpPr>
        <p:spPr>
          <a:xfrm>
            <a:off x="3611880" y="1097280"/>
            <a:ext cx="2286000" cy="1417320"/>
          </a:xfrm>
          <a:prstGeom prst="rect">
            <a:avLst/>
          </a:prstGeom>
          <a:noFill/>
          <a:ln/>
        </p:spPr>
        <p:txBody>
          <a:bodyPr wrap="square" lIns="0" tIns="0" rIns="0" bIns="0" rtlCol="0" anchor="ctr"/>
          <a:lstStyle/>
          <a:p>
            <a:pPr marL="0" indent="0">
              <a:buNone/>
            </a:pPr>
            <a:r>
              <a:rPr lang="en-US" sz="2200" b="1" dirty="0">
                <a:solidFill>
                  <a:srgbClr val="FFFFFF"/>
                </a:solidFill>
              </a:rPr>
              <a:t>Pig</a:t>
            </a:r>
            <a:endParaRPr lang="en-US" sz="1400" dirty="0"/>
          </a:p>
          <a:p>
            <a:pPr marL="0" indent="0">
              <a:buNone/>
            </a:pPr>
            <a:r>
              <a:rPr lang="en-US" sz="1400" dirty="0">
                <a:solidFill>
                  <a:srgbClr val="FFFFFF"/>
                </a:solidFill>
              </a:rPr>
              <a:t>normalizes and aggregates</a:t>
            </a:r>
            <a:endParaRPr lang="en-US" sz="1400" dirty="0"/>
          </a:p>
        </p:txBody>
      </p:sp>
      <p:sp>
        <p:nvSpPr>
          <p:cNvPr id="8" name="Shape 6"/>
          <p:cNvSpPr/>
          <p:nvPr/>
        </p:nvSpPr>
        <p:spPr>
          <a:xfrm>
            <a:off x="6035040" y="1810512"/>
            <a:ext cx="182880" cy="0"/>
          </a:xfrm>
          <a:prstGeom prst="line">
            <a:avLst/>
          </a:prstGeom>
          <a:noFill/>
          <a:ln w="25400">
            <a:solidFill>
              <a:srgbClr val="9FB3C8"/>
            </a:solidFill>
            <a:prstDash val="solid"/>
            <a:tailEnd type="triangle"/>
          </a:ln>
        </p:spPr>
      </p:sp>
      <p:sp>
        <p:nvSpPr>
          <p:cNvPr id="9" name="Shape 7"/>
          <p:cNvSpPr/>
          <p:nvPr/>
        </p:nvSpPr>
        <p:spPr>
          <a:xfrm>
            <a:off x="6217920" y="1097280"/>
            <a:ext cx="2606040" cy="1417320"/>
          </a:xfrm>
          <a:prstGeom prst="roundRect">
            <a:avLst>
              <a:gd name="adj" fmla="val 7742"/>
            </a:avLst>
          </a:prstGeom>
          <a:solidFill>
            <a:schemeClr val="accent3"/>
          </a:solidFill>
          <a:ln/>
        </p:spPr>
      </p:sp>
      <p:sp>
        <p:nvSpPr>
          <p:cNvPr id="10" name="Text 8"/>
          <p:cNvSpPr txBox="1"/>
          <p:nvPr/>
        </p:nvSpPr>
        <p:spPr>
          <a:xfrm>
            <a:off x="6400800" y="1097280"/>
            <a:ext cx="2286000" cy="1417320"/>
          </a:xfrm>
          <a:prstGeom prst="rect">
            <a:avLst/>
          </a:prstGeom>
          <a:noFill/>
          <a:ln/>
        </p:spPr>
        <p:txBody>
          <a:bodyPr wrap="square" lIns="0" tIns="0" rIns="0" bIns="0" rtlCol="0" anchor="ctr"/>
          <a:lstStyle/>
          <a:p>
            <a:pPr marL="0" indent="0">
              <a:buNone/>
            </a:pPr>
            <a:r>
              <a:rPr lang="en-US" sz="2200" b="1" dirty="0">
                <a:solidFill>
                  <a:srgbClr val="0B1F3A"/>
                </a:solidFill>
              </a:rPr>
              <a:t>Hive</a:t>
            </a:r>
            <a:endParaRPr lang="en-US" sz="1400" dirty="0"/>
          </a:p>
          <a:p>
            <a:pPr marL="0" indent="0">
              <a:buNone/>
            </a:pPr>
            <a:r>
              <a:rPr lang="en-US" sz="1400" dirty="0">
                <a:solidFill>
                  <a:srgbClr val="0B1F3A"/>
                </a:solidFill>
              </a:rPr>
              <a:t>structured analytical queries</a:t>
            </a:r>
            <a:endParaRPr lang="en-US" sz="1400" dirty="0"/>
          </a:p>
        </p:txBody>
      </p:sp>
      <p:sp>
        <p:nvSpPr>
          <p:cNvPr id="11" name="Shape 9"/>
          <p:cNvSpPr/>
          <p:nvPr/>
        </p:nvSpPr>
        <p:spPr>
          <a:xfrm>
            <a:off x="8823960" y="1810512"/>
            <a:ext cx="182880" cy="0"/>
          </a:xfrm>
          <a:prstGeom prst="line">
            <a:avLst/>
          </a:prstGeom>
          <a:noFill/>
          <a:ln w="25400">
            <a:solidFill>
              <a:srgbClr val="9FB3C8"/>
            </a:solidFill>
            <a:prstDash val="solid"/>
            <a:tailEnd type="triangle"/>
          </a:ln>
        </p:spPr>
      </p:sp>
      <p:sp>
        <p:nvSpPr>
          <p:cNvPr id="12" name="Shape 10"/>
          <p:cNvSpPr/>
          <p:nvPr/>
        </p:nvSpPr>
        <p:spPr>
          <a:xfrm>
            <a:off x="9006840" y="1097280"/>
            <a:ext cx="2606040" cy="1417320"/>
          </a:xfrm>
          <a:prstGeom prst="roundRect">
            <a:avLst>
              <a:gd name="adj" fmla="val 7742"/>
            </a:avLst>
          </a:prstGeom>
          <a:solidFill>
            <a:schemeClr val="accent6">
              <a:alpha val="85000"/>
            </a:schemeClr>
          </a:solidFill>
          <a:ln/>
        </p:spPr>
      </p:sp>
      <p:sp>
        <p:nvSpPr>
          <p:cNvPr id="13" name="Text 11"/>
          <p:cNvSpPr txBox="1"/>
          <p:nvPr/>
        </p:nvSpPr>
        <p:spPr>
          <a:xfrm>
            <a:off x="9189720" y="1097280"/>
            <a:ext cx="2286000" cy="1417320"/>
          </a:xfrm>
          <a:prstGeom prst="rect">
            <a:avLst/>
          </a:prstGeom>
          <a:noFill/>
          <a:ln/>
        </p:spPr>
        <p:txBody>
          <a:bodyPr wrap="square" lIns="0" tIns="0" rIns="0" bIns="0" rtlCol="0" anchor="ctr"/>
          <a:lstStyle/>
          <a:p>
            <a:pPr marL="0" indent="0">
              <a:buNone/>
            </a:pPr>
            <a:r>
              <a:rPr lang="en-US" sz="2200" b="1" dirty="0">
                <a:solidFill>
                  <a:srgbClr val="FFFFFF"/>
                </a:solidFill>
              </a:rPr>
              <a:t>Streamlit</a:t>
            </a:r>
            <a:endParaRPr lang="en-US" sz="1400" dirty="0"/>
          </a:p>
          <a:p>
            <a:pPr marL="0" indent="0">
              <a:buNone/>
            </a:pPr>
            <a:r>
              <a:rPr lang="en-US" sz="1400" dirty="0">
                <a:solidFill>
                  <a:srgbClr val="FFFFFF"/>
                </a:solidFill>
              </a:rPr>
              <a:t>interactive insights</a:t>
            </a:r>
            <a:endParaRPr lang="en-US" sz="1400" dirty="0"/>
          </a:p>
        </p:txBody>
      </p:sp>
      <p:sp>
        <p:nvSpPr>
          <p:cNvPr id="14" name="Text 12"/>
          <p:cNvSpPr txBox="1"/>
          <p:nvPr/>
        </p:nvSpPr>
        <p:spPr>
          <a:xfrm>
            <a:off x="640080" y="2971800"/>
            <a:ext cx="10881360" cy="1188720"/>
          </a:xfrm>
          <a:prstGeom prst="rect">
            <a:avLst/>
          </a:prstGeom>
          <a:noFill/>
          <a:ln/>
        </p:spPr>
        <p:txBody>
          <a:bodyPr wrap="square" lIns="0" tIns="0" rIns="0" bIns="0" rtlCol="0" anchor="ctr"/>
          <a:lstStyle/>
          <a:p>
            <a:pPr marL="0" indent="0">
              <a:buNone/>
            </a:pPr>
            <a:r>
              <a:rPr lang="en-US" sz="3200" b="1" i="1" dirty="0">
                <a:solidFill>
                  <a:srgbClr val="FFFFFF"/>
                </a:solidFill>
                <a:latin typeface="Cambria" pitchFamily="34" charset="0"/>
                <a:ea typeface="Cambria" pitchFamily="34" charset="-122"/>
                <a:cs typeface="Cambria" pitchFamily="34" charset="-120"/>
              </a:rPr>
              <a:t>"From raw job postings to actionable job-market intelligence."</a:t>
            </a:r>
            <a:endParaRPr lang="en-US" sz="3200" dirty="0"/>
          </a:p>
        </p:txBody>
      </p:sp>
      <p:sp>
        <p:nvSpPr>
          <p:cNvPr id="15" name="Text 13"/>
          <p:cNvSpPr txBox="1"/>
          <p:nvPr/>
        </p:nvSpPr>
        <p:spPr>
          <a:xfrm>
            <a:off x="640080" y="4389120"/>
            <a:ext cx="6400800" cy="640080"/>
          </a:xfrm>
          <a:prstGeom prst="rect">
            <a:avLst/>
          </a:prstGeom>
          <a:noFill/>
          <a:ln/>
        </p:spPr>
        <p:txBody>
          <a:bodyPr wrap="square" lIns="0" tIns="0" rIns="0" bIns="0" rtlCol="0" anchor="t"/>
          <a:lstStyle/>
          <a:p>
            <a:pPr marL="0" indent="0">
              <a:buNone/>
            </a:pPr>
            <a:r>
              <a:rPr lang="en-US" sz="2800" b="1" dirty="0">
                <a:solidFill>
                  <a:srgbClr val="F2A93B"/>
                </a:solidFill>
              </a:rPr>
              <a:t>Thank you  </a:t>
            </a:r>
            <a:endParaRPr lang="en-US" sz="28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3C8"/>
                </a:solidFill>
              </a:defRPr>
            </a:lvl1pPr>
          </a:lstStyle>
          <a:p>
            <a:pPr algn="r"/>
            <a:fld id="{F7021451-1387-4CA6-816F-3879F97B5CBC}" type="slidenum">
              <a:rPr lang="en-US" b="0"/>
              <a:t>26</a:t>
            </a:fld>
            <a:endParaRPr lang="en-US"/>
          </a:p>
        </p:txBody>
      </p:sp>
    </p:spTree>
  </p:cSld>
  <p:clrMapOvr>
    <a:masterClrMapping/>
  </p:clrMapOvr>
</p:sld>
</file>

<file path=ppt/theme/theme1.xml><?xml version="1.0" encoding="utf-8"?>
<a:theme xmlns:a="http://schemas.openxmlformats.org/drawingml/2006/main" name="Job Market Intelligence">
  <a:themeElements>
    <a:clrScheme name="Job Market Intelligence">
      <a:dk1>
        <a:srgbClr val="1B2535"/>
      </a:dk1>
      <a:lt1>
        <a:srgbClr val="FFFFFF"/>
      </a:lt1>
      <a:dk2>
        <a:srgbClr val="0B1F3A"/>
      </a:dk2>
      <a:lt2>
        <a:srgbClr val="EDF2F7"/>
      </a:lt2>
      <a:accent1>
        <a:srgbClr val="0E9AA7"/>
      </a:accent1>
      <a:accent2>
        <a:srgbClr val="2F6FDE"/>
      </a:accent2>
      <a:accent3>
        <a:srgbClr val="F2A93B"/>
      </a:accent3>
      <a:accent4>
        <a:srgbClr val="5B6B7F"/>
      </a:accent4>
      <a:accent5>
        <a:srgbClr val="D64545"/>
      </a:accent5>
      <a:accent6>
        <a:srgbClr val="2FA37A"/>
      </a:accent6>
      <a:hlink>
        <a:srgbClr val="2F6FDE"/>
      </a:hlink>
      <a:folHlink>
        <a:srgbClr val="5B6B7F"/>
      </a:folHlink>
    </a:clrScheme>
    <a:fontScheme name="Job Market Intellig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TotalTime>
  <Words>10539</Words>
  <Application>Microsoft Office PowerPoint</Application>
  <PresentationFormat>Widescreen</PresentationFormat>
  <Paragraphs>781</Paragraphs>
  <Slides>26</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Cambria</vt:lpstr>
      <vt:lpstr>Courier New</vt:lpstr>
      <vt:lpstr>Job Market Intelligence</vt:lpstr>
      <vt:lpstr>PowerPoint Presentation</vt:lpstr>
      <vt:lpstr>Why Raw Job Data Is Hard to Analyze</vt:lpstr>
      <vt:lpstr>Objectives and Scope</vt:lpstr>
      <vt:lpstr>Dataset Overview and Schema</vt:lpstr>
      <vt:lpstr>End-to-End System Architecture</vt:lpstr>
      <vt:lpstr>Data Ingestion and Cleaning</vt:lpstr>
      <vt:lpstr>HDFS Storage and Distributed Processing</vt:lpstr>
      <vt:lpstr>PowerPoint Presentation</vt:lpstr>
      <vt:lpstr>Why Apache Pig?</vt:lpstr>
      <vt:lpstr>Loading Data and Defining the Schema</vt:lpstr>
      <vt:lpstr>Normalizing Job Titles and Locations</vt:lpstr>
      <vt:lpstr>Skill Extraction and Deduplication</vt:lpstr>
      <vt:lpstr>Grouping: Skill and Location Demand</vt:lpstr>
      <vt:lpstr>Salary Aggregation and Recency</vt:lpstr>
      <vt:lpstr>Pig Outputs and Handoff to Hive</vt:lpstr>
      <vt:lpstr>PowerPoint Presentation</vt:lpstr>
      <vt:lpstr>Hive Table Design</vt:lpstr>
      <vt:lpstr>Hive Queries and Analytical Workflow</vt:lpstr>
      <vt:lpstr>Query Results: Skills, Roles, Locations</vt:lpstr>
      <vt:lpstr>Salary Benchmarks by Role</vt:lpstr>
      <vt:lpstr>Recency, Scarcity and the SDVI Remedy</vt:lpstr>
      <vt:lpstr>Hive Results in the SDVI Dashboard</vt:lpstr>
      <vt:lpstr>Streamlit Dashboard Architecture</vt:lpstr>
      <vt:lpstr>Dashboard Pages and Interaction</vt:lpstr>
      <vt:lpstr>Integrity, Limitations, Future Work</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Job Market Intelligence &amp; Emerging Skill Demand Analysis</dc:title>
  <dc:subject>PptxGenJS Presentation</dc:subject>
  <dc:creator>Project Team</dc:creator>
  <cp:lastModifiedBy>ASHMI SN</cp:lastModifiedBy>
  <cp:revision>4</cp:revision>
  <dcterms:created xsi:type="dcterms:W3CDTF">2026-10-17T07:09:32Z</dcterms:created>
  <dcterms:modified xsi:type="dcterms:W3CDTF">2026-10-17T09:35:28Z</dcterms:modified>
</cp:coreProperties>
</file>