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A3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A3A"/>
                </a:solidFill>
                <a:latin typeface="Arial"/>
              </a:rPr>
              <a:t>Avg salary, INR M (excl. deputy mgr)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salary (INR 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medical oncologist consultant</c:v>
                  </c:pt>
                  <c:pt idx="1">
                    <c:v>radiologist consultant</c:v>
                  </c:pt>
                  <c:pt idx="2">
                    <c:v>radiologist</c:v>
                  </c:pt>
                  <c:pt idx="3">
                    <c:v>lead data engineer</c:v>
                  </c:pt>
                  <c:pt idx="4">
                    <c:v>servicenow architect</c:v>
                  </c:pt>
                  <c:pt idx="5">
                    <c:v>data architect</c:v>
                  </c:pt>
                  <c:pt idx="6">
                    <c:v>ophthalmologist</c:v>
                  </c:pt>
                  <c:pt idx="7">
                    <c:v>data science manager</c:v>
                  </c:pt>
                  <c:pt idx="8">
                    <c:v>chief financial officer</c:v>
                  </c:pt>
                  <c:pt idx="9">
                    <c:v>data solution architect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7.85</c:v>
                </c:pt>
                <c:pt idx="1">
                  <c:v>5.29</c:v>
                </c:pt>
                <c:pt idx="2">
                  <c:v>4.21</c:v>
                </c:pt>
                <c:pt idx="3">
                  <c:v>3.38</c:v>
                </c:pt>
                <c:pt idx="4">
                  <c:v>2.85</c:v>
                </c:pt>
                <c:pt idx="5">
                  <c:v>2.78</c:v>
                </c:pt>
                <c:pt idx="6">
                  <c:v>2.74</c:v>
                </c:pt>
                <c:pt idx="7">
                  <c:v>2.68</c:v>
                </c:pt>
                <c:pt idx="8">
                  <c:v>2.6</c:v>
                </c:pt>
                <c:pt idx="9">
                  <c:v>2.5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incumbent inertia and the 1-to-3 mentions example, then lead into the two-phase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query live and show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MapReduce stages in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 manager is outlier-driven: one posting at INR 82.5M against a minimum of INR 85,000.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 of the data, not the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term damps low-volume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Intelligence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query analysis, data pipeline and skill velocity (SDVI)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Ashmi S N  |  2023BCS0196  |  CSE412 Big Data Lab  |  Hadoop 3.3.6, Hive 3.1.3, Pig 0.17.0  |  04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Hive schema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six Hive queries, run live (roles, skills, locations, salary, skill-role pairs, recency)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Skill-trend data scarcity and remedy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II: HDFS &gt; Pig &gt; Hive pipeline and SDVI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dashboard and 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11480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9875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inertia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6878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skills (SQL, Python, Java) dominate raw counts; counts cannot show acceleration or decline.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114800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9875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distortion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66878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3 mentions is +200% yet negligible demand; 200 to 300 is +50% yet far larger.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6517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97,679 Indian postings, single snapshot: reliable current-market rankings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II: 10,000 dated LinkedIn postings (Jan-Jun 2024): skill velocity via SDVI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separate genuinely emerging skills from merely dominant ones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Hive Schema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LAPTOP-BR113UF8 (bigdata-lab), WSL 2 Ubuntu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Hive 3.1.3 on MapReduce, Hadoop 3.3.6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 -S -e "USE jobmarket; ..."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1440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cleaned posting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job_skills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(job, skill)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job_locations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Postings per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Postings per recency 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skill_trends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Period-level skill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97,679 cleaned postings, each with a unique job_id.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200" dirty="0"/>
          </a:p>
        </p:txBody>
      </p:sp>
      <p:pic>
        <p:nvPicPr>
          <p:cNvPr id="4" name="Image 0" descr="img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80467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raw zone &gt; Pig (MapReduce) cleaning &gt; partitioned HDFS &gt; Hive warehouse and SDVI window query &gt; JSON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Top Job Roles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65760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9144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job_title,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job_count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job_title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job_count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100" dirty="0"/>
          </a:p>
        </p:txBody>
      </p:sp>
      <p:pic>
        <p:nvPicPr>
          <p:cNvPr id="7" name="Image 0" descr="img/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68680"/>
            <a:ext cx="4617720" cy="153194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developer (2,033) and application lead (1,346) lead, then sales executive (583) and software development engineer (497).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Top Demanded Skills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65760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LOWER(TRIM(skill)) AS skill,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job_id) AS job_count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job_skills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skill IS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TRIM(skill) &lt;&gt; ''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job_id IS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LOWER(TRIM(skill))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job_count DESC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1000" dirty="0"/>
          </a:p>
        </p:txBody>
      </p:sp>
      <p:pic>
        <p:nvPicPr>
          <p:cNvPr id="6" name="Image 0" descr="img/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5396" y="868680"/>
            <a:ext cx="3727969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9,178; python 5,846; project management 5,544; customer service 5,122; SAP 5,043. Each skill counted once per posting.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Job Demand by Location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65760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location, job_count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job_locations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location IS NOT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TRIM(location) &lt;&gt; ''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CAST(job_count AS INT)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100" dirty="0"/>
          </a:p>
        </p:txBody>
      </p:sp>
      <p:pic>
        <p:nvPicPr>
          <p:cNvPr id="6" name="Image 0" descr="img/lo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68680"/>
            <a:ext cx="4617720" cy="2945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18,320; Hyderabad 10,899; Pune 8,405; Mumbai 6,478; Chennai 6,099. Top three cities hold 37,624 postings.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4: Average Salary by Role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65760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9144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job_title, currency,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job_count,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ROUND(AVG(CAST(avg_salary AS DOUBLE)),2) AS average_salary,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ROUND(MIN(CAST(avg_salary AS DOUBLE)),2) AS minimum_salary,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ROUND(MAX(CAST(avg_salary AS DOUBLE)),2) AS maximum_salary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avg_salary IS NOT NULL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CAST(avg_salary AS DOUBLE) &gt;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currency IS NOT NULL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job_title, currency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&gt;= 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average_salary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800" dirty="0"/>
          </a:p>
        </p:txBody>
      </p:sp>
      <p:pic>
        <p:nvPicPr>
          <p:cNvPr id="7" name="Image 0" descr="img/sal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68680"/>
            <a:ext cx="4617720" cy="19404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2-job MapReduce plan (54.8 s, 20 rows). Minimum 5 postings per role keeps each average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Results: Top 10 Roles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"/>
                <a:gridCol w="960120"/>
                <a:gridCol w="91440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(INR)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(INR)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(INR)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deputy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9,749,777.78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82,500,000.00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oncologist consultant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radiologist consultant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5,291,666.67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radiologist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4,205,937.50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data engineer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architect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architect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2,775,000.00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1,125,000.00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ophthalmologist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2,742,500.00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212,500.00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2,675,833.33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financial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2,598,888.89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7,250,000.00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943600" y="868680"/>
          <a:ext cx="2926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specialisations lead; data and architecture roles form the second cluster. Deputy manager (INR 9.75M avg) is an outlier; data solution architect is a uniform INR 2.5M.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5: Skill and Job-Role Relationships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65760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job_title, skill,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job_id) AS job_count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job_skills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job_title,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job_count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20;</a:t>
            </a:r>
            <a:endParaRPr lang="en-US" sz="1100" dirty="0"/>
          </a:p>
        </p:txBody>
      </p:sp>
      <p:pic>
        <p:nvPicPr>
          <p:cNvPr id="6" name="Image 0" descr="img/skill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68680"/>
            <a:ext cx="4617720" cy="18063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developer: CSS 1,316, SAP 611, C# 562, REST 550, Python 537. Trust and safety associate forms its own cluster (moderation, content writing).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6: Posting Recency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65760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recency_bucket, job_count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time_based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job_count DESC;</a:t>
            </a:r>
            <a:endParaRPr lang="en-US" sz="1200" dirty="0"/>
          </a:p>
        </p:txBody>
      </p:sp>
      <p:pic>
        <p:nvPicPr>
          <p:cNvPr id="6" name="Image 0" descr="img/rec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68680"/>
            <a:ext cx="4617720" cy="8534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 of postings are 1-7 days old, 8.5% unknown, 2.8% under a day, 0.6% over 30 days: a live snapshot of the active market.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Skill-Trend Data Scarcity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a trend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posting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relative age buckets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time periods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collection snapshot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Previous-period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derivable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 and SDVI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computable (period = unknown)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skill_trends has 44,021 rows, all with period = unknown. Trend analysis needs dated postings across several months.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Remedy: Time-Stamped Dataset Strategy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dated 6-month LinkedIn dataset (Phase II) supplies period and growth values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12+ months of dated postings for the Indian data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every scrape with scrape_date; derive posting_date in the Pig ETL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collection into dated HDFS folders (/raw/scrape_date=YYYY-MM-DD)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external table partitioned by month; MSCK REPAIR TABLE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skill_trends with LAG(); gate low-volume skills as low-confidence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II: SDVI Formulation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SDVI = growth_rate x ln(1 + Mentions[t])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growth_rate = (Mentions[t] - Mentions[t-1]) / Mentions[t-1]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1031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4 mentions (+100%): SDVI = 1.61 (dampened)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 150 mentions (+50%): SDVI = 2.51 (boosted)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mentions, 0% growth: SDVI = 0.00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growth gives negative SDVI (obsolescence velocity)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HDFS Setup and Raw Landing</a:t>
            </a:r>
            <a:endParaRPr lang="en-US" sz="2200" dirty="0"/>
          </a:p>
        </p:txBody>
      </p:sp>
      <p:pic>
        <p:nvPicPr>
          <p:cNvPr id="4" name="Image 0" descr="img/st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120640" cy="25137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9144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3.3.6 on WSL 2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 GB DFS capacity remaining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linkedin_postings.csv: 4.8 MB, 15,484 raw rows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tech records and 100 skills landed in /raw/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Pig Cleaning and Jython Regex</a:t>
            </a:r>
            <a:endParaRPr lang="en-US" sz="2200" dirty="0"/>
          </a:p>
        </p:txBody>
      </p:sp>
      <p:pic>
        <p:nvPicPr>
          <p:cNvPr id="4" name="Image 0" descr="img/st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120640" cy="26999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9144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and null-title filtering over MapReduce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Jython UDF with \b word boundaries avoids "Java" in "JavaScript"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cleaned jobs, 43,180 skill mentions, 0 malformed rows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monthly HDFS partitions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Hive Warehouse and Partitions</a:t>
            </a:r>
            <a:endParaRPr lang="en-US" sz="2200" dirty="0"/>
          </a:p>
        </p:txBody>
      </p:sp>
      <p:pic>
        <p:nvPicPr>
          <p:cNvPr id="4" name="Image 0" descr="img/st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120640" cy="25137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9144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partitioned tables over HDFS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MSCK REPAIR TABLE recovered all six partitions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1,666-1,667 jobs per partition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distinct skills validated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HiveQL Windowed SDVI</a:t>
            </a:r>
            <a:endParaRPr lang="en-US" sz="2200" dirty="0"/>
          </a:p>
        </p:txBody>
      </p:sp>
      <p:pic>
        <p:nvPicPr>
          <p:cNvPr id="4" name="Image 0" descr="img/st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120640" cy="25137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9144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LAG(mentions,1) OVER (PARTITION BY skill ORDER BY month)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skill-month assigned to a quadrant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 records exported to sdvi_results.json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 Distribution (June 2024)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7432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&gt; 0, SDVI &gt;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+62.5%, Bash, AngularJS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&gt; 0, SDVI &lt;=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+30.2%, DevOps,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&lt;= 0, SDVI &gt;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SQL, Linux, Docker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&lt;= 0, SDVI &lt;=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-26.8%, Kubernetes -19.5%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93 skills classified in the June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Quadrant Scatter and Leaderboard</a:t>
            </a:r>
            <a:endParaRPr lang="en-US" sz="2200" dirty="0"/>
          </a:p>
        </p:txBody>
      </p:sp>
      <p:pic>
        <p:nvPicPr>
          <p:cNvPr id="4" name="Image 0" descr="img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297680" cy="2793492"/>
          </a:xfrm>
          <a:prstGeom prst="rect">
            <a:avLst/>
          </a:prstGeom>
        </p:spPr>
      </p:pic>
      <p:pic>
        <p:nvPicPr>
          <p:cNvPr id="5" name="Image 1" descr="img/leader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68680"/>
            <a:ext cx="4206240" cy="24351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Basic and AngularJS lead on only 6 and 3 mentions: low-confidence signals. Oracle combines volume with momentum.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Multi-Month Trajectories</a:t>
            </a:r>
            <a:endParaRPr lang="en-US" sz="2200" dirty="0"/>
          </a:p>
        </p:txBody>
      </p:sp>
      <p:pic>
        <p:nvPicPr>
          <p:cNvPr id="4" name="Image 0" descr="img/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222" y="868680"/>
            <a:ext cx="6633556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is the most volatile trajectory; Python and AWS stay near zero, consistent with the Stable Core.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vs Phase II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I: Indian market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II: LinkedIn time series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97,679 postings, one snapshot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postings, 6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Volume, location, salary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acceleration (SDVI)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BY, HAVING, CAST, DISTINCT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window 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Current-market rankings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vs declining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python lead skills; Bengaluru, Hyderabad, Pune lead hiring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and data/architecture roles lead salary (min 5 postings)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removes the trend limit via dated data and SDVI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dated Indian data, weekly scrape_date collection, SDVI minimum-mention gate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median alongside mean for outlier-prone salaries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Intelligence - Detailed Demo</dc:title>
  <dc:subject>PptxGenJS Presentation</dc:subject>
  <dc:creator>PptxGenJS</dc:creator>
  <cp:lastModifiedBy>PptxGenJS</cp:lastModifiedBy>
  <cp:revision>1</cp:revision>
  <dcterms:created xsi:type="dcterms:W3CDTF">2026-10-05T07:29:22Z</dcterms:created>
  <dcterms:modified xsi:type="dcterms:W3CDTF">2026-10-05T07:29:22Z</dcterms:modified>
</cp:coreProperties>
</file>